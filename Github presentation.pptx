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56"/>
        <p:guide pos="383" orient="horz"/>
        <p:guide pos="1452" orient="horz"/>
        <p:guide pos="740" orient="horz"/>
        <p:guide pos="3458"/>
        <p:guide pos="2807" orient="horz"/>
        <p:guide pos="283"/>
        <p:guide pos="2839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315435" name="Google Shape;3;n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2357897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012772" name="Google Shape;132;g110c578fab6_0_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118772" name="Google Shape;133;g110c578fab6_0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9920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1180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9631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1B1F87-8567-C2B0-F63E-E71668AF3E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387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3233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51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11A89B-4112-93C2-11C0-B4DAEC8218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2387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160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1319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E85ED-19DA-D978-A6C2-A1E247811A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274264" name="Google Shape;141;g11262b15b87_0_18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8055342" name="Google Shape;142;g11262b15b87_0_1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078704" name="Google Shape;149;g124ec1c6ead_0_2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521723" name="Google Shape;150;g124ec1c6ead_0_2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1512978" name="Google Shape;157;g124f7ac5d67_0_14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200070" name="Google Shape;158;g124f7ac5d67_0_1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777029" name="Google Shape;165;g124ec1c6ead_0_5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515217" name="Google Shape;166;g124ec1c6ead_0_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640911" name="Google Shape;195;g287182eb427_1_17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53846" name="Google Shape;196;g287182eb427_1_1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34013" name="Google Shape;203;g287182eb427_1_35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679757" name="Google Shape;204;g287182eb427_1_3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935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1422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559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836D1E-05BB-8DF1-C56C-A71B1BC7CC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51052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8756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67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5F11A-C6E2-9A05-071F-07089F29EB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C938CD-3C9E-384F-7623-755D25EE8D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331290" name="Google Shape;223;g287182eb427_1_6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481822" name="Google Shape;224;g287182eb427_1_6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180011" name="Google Shape;231;g287182eb427_1_69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591573" name="Google Shape;232;g287182eb427_1_6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764079" name="Google Shape;239;g287182eb427_1_78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034519" name="Google Shape;240;g287182eb427_1_7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359243" name="Google Shape;248;g287ecc99806_0_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716520" name="Google Shape;249;g287ecc99806_0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882660" name="Google Shape;257;g287ecc99806_0_17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769225" name="Google Shape;258;g287ecc99806_0_1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021694" name="Google Shape;265;g287182eb427_1_89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109830" name="Google Shape;266;g287182eb427_1_8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853946" name="Google Shape;273;g287ecc99806_0_27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677650" name="Google Shape;274;g287ecc99806_0_2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5.pn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5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White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White / Logo" preserve="0" showMasterPhAnim="0" showMasterSp="1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9071546" name="Google Shape;8;p3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8046554" y="246475"/>
            <a:ext cx="776246" cy="31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Gray / Grid + Logo" preserve="0" showMasterPhAnim="0" showMasterSp="1" type="blank" userDrawn="1">
  <p:cSld name="BLANK"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4105168" name="Google Shape;10;p4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152400" y="0"/>
            <a:ext cx="88391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084241" name="Google Shape;11;p4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8046554" y="246475"/>
            <a:ext cx="776246" cy="31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Gray / Grid + Logo University" preserve="0" showMasterPhAnim="0" showMasterSp="1" userDrawn="1">
  <p:cSld name="BLANK_7"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95873152" name="Google Shape;13;p5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8017078" y="246475"/>
            <a:ext cx="835195" cy="31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Gray / Clients" preserve="0" showMasterPhAnim="0" showMasterSp="1" userDrawn="1">
  <p:cSld name="BLANK_6"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85852" name="Google Shape;15;p6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152400" y="0"/>
            <a:ext cx="88391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8941377" name="Google Shape;16;p6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8046554" y="246475"/>
            <a:ext cx="776246" cy="315675"/>
          </a:xfrm>
          <a:prstGeom prst="rect">
            <a:avLst/>
          </a:prstGeom>
          <a:noFill/>
          <a:ln>
            <a:noFill/>
          </a:ln>
        </p:spPr>
      </p:pic>
      <p:sp>
        <p:nvSpPr>
          <p:cNvPr id="786985730" name="Google Shape;17;p6"/>
          <p:cNvSpPr txBox="1"/>
          <p:nvPr/>
        </p:nvSpPr>
        <p:spPr bwMode="auto">
          <a:xfrm>
            <a:off x="650400" y="1009525"/>
            <a:ext cx="7843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100">
                <a:solidFill>
                  <a:schemeClr val="dk2"/>
                </a:solidFill>
              </a:rPr>
              <a:t>Банки и финансовые организации   </a:t>
            </a:r>
            <a:r>
              <a:rPr lang="ru" sz="1100">
                <a:solidFill>
                  <a:srgbClr val="0AB8B6"/>
                </a:solidFill>
              </a:rPr>
              <a:t>•</a:t>
            </a:r>
            <a:r>
              <a:rPr lang="ru" sz="1100">
                <a:solidFill>
                  <a:schemeClr val="dk2"/>
                </a:solidFill>
              </a:rPr>
              <a:t>   Государственный сектор   </a:t>
            </a:r>
            <a:r>
              <a:rPr lang="ru" sz="1100">
                <a:solidFill>
                  <a:srgbClr val="0AB8B6"/>
                </a:solidFill>
              </a:rPr>
              <a:t>•</a:t>
            </a:r>
            <a:r>
              <a:rPr lang="ru" sz="1100">
                <a:solidFill>
                  <a:schemeClr val="dk2"/>
                </a:solidFill>
              </a:rPr>
              <a:t>   IT–компании   </a:t>
            </a:r>
            <a:r>
              <a:rPr lang="ru" sz="1100">
                <a:solidFill>
                  <a:srgbClr val="0AB8B6"/>
                </a:solidFill>
              </a:rPr>
              <a:t>•</a:t>
            </a:r>
            <a:r>
              <a:rPr lang="ru" sz="1100">
                <a:solidFill>
                  <a:schemeClr val="dk2"/>
                </a:solidFill>
              </a:rPr>
              <a:t>    Страховые компании</a:t>
            </a:r>
            <a:endParaRPr sz="1100">
              <a:solidFill>
                <a:schemeClr val="dk2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100">
                <a:solidFill>
                  <a:schemeClr val="dk2"/>
                </a:solidFill>
              </a:rPr>
              <a:t>E–commerce   </a:t>
            </a:r>
            <a:r>
              <a:rPr lang="ru" sz="1100">
                <a:solidFill>
                  <a:srgbClr val="0AB8B6"/>
                </a:solidFill>
              </a:rPr>
              <a:t>•</a:t>
            </a:r>
            <a:r>
              <a:rPr lang="ru" sz="1100">
                <a:solidFill>
                  <a:schemeClr val="dk2"/>
                </a:solidFill>
              </a:rPr>
              <a:t>   Промышленность и производство   </a:t>
            </a:r>
            <a:r>
              <a:rPr lang="ru" sz="1100">
                <a:solidFill>
                  <a:srgbClr val="0AB8B6"/>
                </a:solidFill>
              </a:rPr>
              <a:t>•</a:t>
            </a:r>
            <a:r>
              <a:rPr lang="ru" sz="1100">
                <a:solidFill>
                  <a:schemeClr val="dk2"/>
                </a:solidFill>
              </a:rPr>
              <a:t>   Гостинично–ресторанный бизнес   </a:t>
            </a:r>
            <a:r>
              <a:rPr lang="ru" sz="1100">
                <a:solidFill>
                  <a:srgbClr val="0AB8B6"/>
                </a:solidFill>
              </a:rPr>
              <a:t>•</a:t>
            </a:r>
            <a:r>
              <a:rPr lang="ru" sz="1100">
                <a:solidFill>
                  <a:schemeClr val="dk2"/>
                </a:solidFill>
              </a:rPr>
              <a:t>   Digital–агентства Транспорт и туризм   </a:t>
            </a:r>
            <a:r>
              <a:rPr lang="ru" sz="1100">
                <a:solidFill>
                  <a:srgbClr val="0AB8B6"/>
                </a:solidFill>
              </a:rPr>
              <a:t>•</a:t>
            </a:r>
            <a:r>
              <a:rPr lang="ru" sz="1100">
                <a:solidFill>
                  <a:schemeClr val="dk2"/>
                </a:solidFill>
              </a:rPr>
              <a:t>   Недвижимость и строительство   </a:t>
            </a:r>
            <a:r>
              <a:rPr lang="ru" sz="1100">
                <a:solidFill>
                  <a:srgbClr val="0AB8B6"/>
                </a:solidFill>
              </a:rPr>
              <a:t>•</a:t>
            </a:r>
            <a:r>
              <a:rPr lang="ru" sz="1100">
                <a:solidFill>
                  <a:schemeClr val="dk2"/>
                </a:solidFill>
              </a:rPr>
              <a:t>   Ритейл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133302611" name="Google Shape;18;p6"/>
          <p:cNvSpPr txBox="1"/>
          <p:nvPr/>
        </p:nvSpPr>
        <p:spPr bwMode="auto">
          <a:xfrm>
            <a:off x="2658750" y="4372600"/>
            <a:ext cx="382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200">
                <a:solidFill>
                  <a:srgbClr val="1A2028"/>
                </a:solidFill>
                <a:latin typeface="Montserrat Alternates Medium"/>
                <a:ea typeface="Montserrat Alternates Medium"/>
                <a:cs typeface="Montserrat Alternates Medium"/>
              </a:rPr>
              <a:t>из разных отраслей</a:t>
            </a:r>
            <a:endParaRPr sz="1200">
              <a:solidFill>
                <a:srgbClr val="1A2028"/>
              </a:solidFill>
              <a:latin typeface="Montserrat Alternates Medium"/>
              <a:ea typeface="Montserrat Alternates Medium"/>
              <a:cs typeface="Montserrat Alternates Medium"/>
            </a:endParaRPr>
          </a:p>
        </p:txBody>
      </p:sp>
      <p:sp>
        <p:nvSpPr>
          <p:cNvPr id="1669623054" name="Google Shape;19;p6"/>
          <p:cNvSpPr txBox="1"/>
          <p:nvPr/>
        </p:nvSpPr>
        <p:spPr bwMode="auto">
          <a:xfrm>
            <a:off x="2658750" y="3893300"/>
            <a:ext cx="3826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2200">
                <a:solidFill>
                  <a:srgbClr val="1A2028"/>
                </a:solidFill>
                <a:latin typeface="Montserrat Alternates SemiBold"/>
                <a:ea typeface="Montserrat Alternates SemiBold"/>
                <a:cs typeface="Montserrat Alternates SemiBold"/>
              </a:rPr>
              <a:t>и еще 80+ клиентов</a:t>
            </a:r>
            <a:endParaRPr sz="2200">
              <a:solidFill>
                <a:srgbClr val="1A2028"/>
              </a:solidFill>
              <a:latin typeface="Montserrat Alternates SemiBold"/>
              <a:ea typeface="Montserrat Alternates SemiBold"/>
              <a:cs typeface="Montserrat Alternates SemiBold"/>
            </a:endParaRPr>
          </a:p>
        </p:txBody>
      </p:sp>
      <p:sp>
        <p:nvSpPr>
          <p:cNvPr id="920974030" name="Google Shape;20;p6"/>
          <p:cNvSpPr txBox="1"/>
          <p:nvPr/>
        </p:nvSpPr>
        <p:spPr bwMode="auto">
          <a:xfrm>
            <a:off x="225100" y="155020"/>
            <a:ext cx="5490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  <a:t>Наши клиенты</a:t>
            </a:r>
            <a:endParaRPr sz="3000" b="1">
              <a:solidFill>
                <a:srgbClr val="1A2028"/>
              </a:solidFill>
              <a:latin typeface="Montserrat Alternates"/>
              <a:ea typeface="Montserrat Alternates"/>
              <a:cs typeface="Montserrat Alternate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Gray / List 2" preserve="0" showMasterPhAnim="0" showMasterSp="1" userDrawn="1">
  <p:cSld name="BLANK_5"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9252768" name="Google Shape;22;p7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152400" y="0"/>
            <a:ext cx="88391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011288" name="Google Shape;23;p7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8046554" y="246475"/>
            <a:ext cx="776246" cy="31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243469" name="Google Shape;24;p7"/>
          <p:cNvSpPr txBox="1"/>
          <p:nvPr/>
        </p:nvSpPr>
        <p:spPr bwMode="auto">
          <a:xfrm>
            <a:off x="225100" y="155020"/>
            <a:ext cx="5490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  <a:t>Компетенции</a:t>
            </a:r>
            <a:endParaRPr sz="3000" b="1">
              <a:solidFill>
                <a:srgbClr val="1A2028"/>
              </a:solidFill>
              <a:latin typeface="Montserrat Alternates"/>
              <a:ea typeface="Montserrat Alternates"/>
              <a:cs typeface="Montserrat Alternates"/>
            </a:endParaRPr>
          </a:p>
        </p:txBody>
      </p:sp>
      <p:grpSp>
        <p:nvGrpSpPr>
          <p:cNvPr id="381590729" name="Google Shape;25;p7"/>
          <p:cNvGrpSpPr/>
          <p:nvPr/>
        </p:nvGrpSpPr>
        <p:grpSpPr bwMode="auto">
          <a:xfrm>
            <a:off x="4365149" y="919063"/>
            <a:ext cx="4868730" cy="3932997"/>
            <a:chOff x="4365149" y="919063"/>
            <a:chExt cx="4868730" cy="3932997"/>
          </a:xfrm>
        </p:grpSpPr>
        <p:sp>
          <p:nvSpPr>
            <p:cNvPr id="26" name="Google Shape;26;p7"/>
            <p:cNvSpPr txBox="1"/>
            <p:nvPr/>
          </p:nvSpPr>
          <p:spPr bwMode="auto">
            <a:xfrm>
              <a:off x="4800179" y="941600"/>
              <a:ext cx="44337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4999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ru" sz="1300" b="1">
                  <a:solidFill>
                    <a:srgbClr val="1A2028"/>
                  </a:solidFill>
                </a:rPr>
                <a:t>Опыт работы в индустриях </a:t>
              </a:r>
              <a:endParaRPr sz="1300" b="1">
                <a:solidFill>
                  <a:srgbClr val="1A2028"/>
                </a:solidFill>
              </a:endParaRPr>
            </a:p>
          </p:txBody>
        </p:sp>
        <p:sp>
          <p:nvSpPr>
            <p:cNvPr id="27" name="Google Shape;27;p7"/>
            <p:cNvSpPr txBox="1"/>
            <p:nvPr/>
          </p:nvSpPr>
          <p:spPr bwMode="auto">
            <a:xfrm>
              <a:off x="4365149" y="1399061"/>
              <a:ext cx="3885300" cy="34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298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Цифровая трансформация ритейла</a:t>
              </a:r>
              <a:endParaRPr sz="1100">
                <a:solidFill>
                  <a:srgbClr val="1A2028"/>
                </a:solidFill>
              </a:endParaRPr>
            </a:p>
            <a:p>
              <a:pPr marL="457200" lvl="0" indent="-298450" algn="l" rtl="0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Платежные системы и банкинг. Финтек интеграции и управление цифровыми активами</a:t>
              </a:r>
              <a:endParaRPr sz="1100">
                <a:solidFill>
                  <a:srgbClr val="1A2028"/>
                </a:solidFill>
              </a:endParaRPr>
            </a:p>
            <a:p>
              <a:pPr marL="457200" lvl="0" indent="-298450" algn="l" rtl="0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Платформы для управления и сбором данных на производстве</a:t>
              </a:r>
              <a:endParaRPr sz="1100">
                <a:solidFill>
                  <a:srgbClr val="1A2028"/>
                </a:solidFill>
              </a:endParaRPr>
            </a:p>
            <a:p>
              <a:pPr marL="457200" lvl="0" indent="-298450" algn="l" rtl="0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Логистика. Системы планирования фрахта, дислокации, состоянием транспортных средств</a:t>
              </a:r>
              <a:endParaRPr sz="1100">
                <a:solidFill>
                  <a:srgbClr val="1A2028"/>
                </a:solidFill>
              </a:endParaRPr>
            </a:p>
            <a:p>
              <a:pPr marL="457200" lvl="0" indent="-298450" algn="l" rtl="0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ЭДО и EDI, создание высоконагруженных систем обмена документами</a:t>
              </a:r>
              <a:endParaRPr sz="1100">
                <a:solidFill>
                  <a:srgbClr val="1A2028"/>
                </a:solidFill>
              </a:endParaRPr>
            </a:p>
            <a:p>
              <a:pPr marL="457200" lvl="0" indent="-298450" algn="l" rtl="0">
                <a:spcBef>
                  <a:spcPts val="100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Инеграция с Гос. органами для предоставления и забора сведений</a:t>
              </a:r>
              <a:endParaRPr sz="1100">
                <a:solidFill>
                  <a:srgbClr val="1A2028"/>
                </a:solidFill>
              </a:endParaRPr>
            </a:p>
            <a:p>
              <a:pPr marL="457200" lvl="0" indent="-298450" algn="l" rtl="0">
                <a:spcBef>
                  <a:spcPts val="100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Системы управления персоналом и поиском кандидиатов</a:t>
              </a:r>
              <a:endParaRPr sz="1100">
                <a:solidFill>
                  <a:srgbClr val="1A2028"/>
                </a:solidFill>
              </a:endParaRPr>
            </a:p>
            <a:p>
              <a:pPr marL="457200" lvl="0" indent="-298450" algn="l" rtl="0">
                <a:spcBef>
                  <a:spcPts val="1000"/>
                </a:spcBef>
                <a:spcAft>
                  <a:spcPts val="100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Системы для онлайн образования LMS</a:t>
              </a:r>
              <a:endParaRPr sz="1100">
                <a:solidFill>
                  <a:srgbClr val="1A2028"/>
                </a:solidFill>
              </a:endParaRPr>
            </a:p>
          </p:txBody>
        </p:sp>
        <p:pic>
          <p:nvPicPr>
            <p:cNvPr id="28" name="Google Shape;28;p7"/>
            <p:cNvPicPr/>
            <p:nvPr/>
          </p:nvPicPr>
          <p:blipFill rotWithShape="1">
            <a:blip r:embed="rId4">
              <a:alphaModFix/>
            </a:blip>
            <a:stretch/>
          </p:blipFill>
          <p:spPr bwMode="auto">
            <a:xfrm>
              <a:off x="4438364" y="919063"/>
              <a:ext cx="420250" cy="42022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6349531" name="Google Shape;29;p7"/>
          <p:cNvGrpSpPr/>
          <p:nvPr/>
        </p:nvGrpSpPr>
        <p:grpSpPr bwMode="auto">
          <a:xfrm>
            <a:off x="225100" y="3123018"/>
            <a:ext cx="4433700" cy="1724288"/>
            <a:chOff x="225100" y="3123018"/>
            <a:chExt cx="4433700" cy="1724288"/>
          </a:xfrm>
        </p:grpSpPr>
        <p:sp>
          <p:nvSpPr>
            <p:cNvPr id="30" name="Google Shape;30;p7"/>
            <p:cNvSpPr txBox="1"/>
            <p:nvPr/>
          </p:nvSpPr>
          <p:spPr bwMode="auto">
            <a:xfrm>
              <a:off x="694881" y="3123018"/>
              <a:ext cx="28299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4999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ru" sz="1300" b="1">
                  <a:solidFill>
                    <a:srgbClr val="1A2028"/>
                  </a:solidFill>
                </a:rPr>
                <a:t>Дизайн и UX-проектирование</a:t>
              </a:r>
              <a:endParaRPr sz="1300" b="1">
                <a:solidFill>
                  <a:srgbClr val="1A2028"/>
                </a:solidFill>
              </a:endParaRPr>
            </a:p>
          </p:txBody>
        </p:sp>
        <p:sp>
          <p:nvSpPr>
            <p:cNvPr id="31" name="Google Shape;31;p7"/>
            <p:cNvSpPr txBox="1"/>
            <p:nvPr/>
          </p:nvSpPr>
          <p:spPr bwMode="auto">
            <a:xfrm>
              <a:off x="225100" y="3508106"/>
              <a:ext cx="4433700" cy="13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chemeClr val="dk1"/>
                  </a:solidFill>
                </a:rPr>
                <a:t>Разработка UX концепции для вашего продукта</a:t>
              </a:r>
              <a:endParaRPr sz="1100">
                <a:solidFill>
                  <a:schemeClr val="dk1"/>
                </a:solidFill>
              </a:endParaRPr>
            </a:p>
            <a:p>
              <a:pPr marL="457200" lvl="0" indent="-298450" algn="l" rtl="0">
                <a:spcBef>
                  <a:spcPts val="80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chemeClr val="dk1"/>
                  </a:solidFill>
                </a:rPr>
                <a:t>Создание кликабельных прототипов для отработки концепции решений</a:t>
              </a:r>
              <a:endParaRPr sz="1100">
                <a:solidFill>
                  <a:schemeClr val="dk1"/>
                </a:solidFill>
              </a:endParaRPr>
            </a:p>
            <a:p>
              <a:pPr marL="457200" lvl="0" indent="-298450" algn="l" rtl="0">
                <a:spcBef>
                  <a:spcPts val="80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chemeClr val="dk1"/>
                  </a:solidFill>
                </a:rPr>
                <a:t>Комплексная разработка дизайна ИТ-проекта</a:t>
              </a:r>
              <a:endParaRPr sz="1100">
                <a:solidFill>
                  <a:schemeClr val="dk1"/>
                </a:solidFill>
              </a:endParaRPr>
            </a:p>
            <a:p>
              <a:pPr marL="457200" lvl="0" indent="-298450" algn="l" rtl="0">
                <a:spcBef>
                  <a:spcPts val="800"/>
                </a:spcBef>
                <a:spcAft>
                  <a:spcPts val="80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chemeClr val="dk1"/>
                  </a:solidFill>
                </a:rPr>
                <a:t>Проектирование и подготовка дизайн-систем</a:t>
              </a:r>
              <a:endParaRPr sz="1100">
                <a:solidFill>
                  <a:srgbClr val="1A2028"/>
                </a:solidFill>
              </a:endParaRPr>
            </a:p>
          </p:txBody>
        </p:sp>
        <p:pic>
          <p:nvPicPr>
            <p:cNvPr id="32" name="Google Shape;32;p7"/>
            <p:cNvPicPr/>
            <p:nvPr/>
          </p:nvPicPr>
          <p:blipFill rotWithShape="1">
            <a:blip r:embed="rId5">
              <a:alphaModFix/>
            </a:blip>
            <a:stretch/>
          </p:blipFill>
          <p:spPr bwMode="auto">
            <a:xfrm>
              <a:off x="328225" y="3136056"/>
              <a:ext cx="358850" cy="3588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2486227" name="Google Shape;33;p7"/>
          <p:cNvGrpSpPr/>
          <p:nvPr/>
        </p:nvGrpSpPr>
        <p:grpSpPr bwMode="auto">
          <a:xfrm>
            <a:off x="225100" y="941611"/>
            <a:ext cx="4203567" cy="2046764"/>
            <a:chOff x="225100" y="941611"/>
            <a:chExt cx="4203567" cy="2046764"/>
          </a:xfrm>
        </p:grpSpPr>
        <p:sp>
          <p:nvSpPr>
            <p:cNvPr id="34" name="Google Shape;34;p7"/>
            <p:cNvSpPr txBox="1"/>
            <p:nvPr/>
          </p:nvSpPr>
          <p:spPr bwMode="auto">
            <a:xfrm>
              <a:off x="687067" y="941611"/>
              <a:ext cx="37416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4999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ru" sz="1300" b="1">
                  <a:solidFill>
                    <a:srgbClr val="1A2028"/>
                  </a:solidFill>
                </a:rPr>
                <a:t>Аутстафф ИТ-команд и специалистов</a:t>
              </a:r>
              <a:endParaRPr sz="1300" b="1">
                <a:solidFill>
                  <a:srgbClr val="1A2028"/>
                </a:solidFill>
              </a:endParaRPr>
            </a:p>
          </p:txBody>
        </p:sp>
        <p:sp>
          <p:nvSpPr>
            <p:cNvPr id="35" name="Google Shape;35;p7"/>
            <p:cNvSpPr txBox="1"/>
            <p:nvPr/>
          </p:nvSpPr>
          <p:spPr bwMode="auto">
            <a:xfrm>
              <a:off x="225100" y="1402875"/>
              <a:ext cx="3885300" cy="158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298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Оперативное масштабирование команды</a:t>
              </a:r>
              <a:endParaRPr sz="1100">
                <a:solidFill>
                  <a:srgbClr val="1A2028"/>
                </a:solidFill>
              </a:endParaRPr>
            </a:p>
            <a:p>
              <a:pPr marL="457200" lvl="0" indent="-298450" algn="l" rtl="0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Планирование проектной нагрузки и совместное планирование емкости команды</a:t>
              </a:r>
              <a:endParaRPr sz="1100">
                <a:solidFill>
                  <a:srgbClr val="1A2028"/>
                </a:solidFill>
              </a:endParaRPr>
            </a:p>
            <a:p>
              <a:pPr marL="457200" lvl="0" indent="-298450" algn="l" rtl="0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Управление компетенциями, своевременная аттестация и оценка уровня специалистов</a:t>
              </a:r>
              <a:endParaRPr sz="1100">
                <a:solidFill>
                  <a:srgbClr val="1A2028"/>
                </a:solidFill>
              </a:endParaRPr>
            </a:p>
            <a:p>
              <a:pPr marL="457200" lvl="0" indent="-298450" algn="l" rtl="0">
                <a:lnSpc>
                  <a:spcPct val="100000"/>
                </a:lnSpc>
                <a:spcBef>
                  <a:spcPts val="1000"/>
                </a:spcBef>
                <a:spcAft>
                  <a:spcPts val="100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Горячая замена специалиста </a:t>
              </a:r>
              <a:endParaRPr sz="1100">
                <a:solidFill>
                  <a:srgbClr val="1A2028"/>
                </a:solidFill>
              </a:endParaRPr>
            </a:p>
          </p:txBody>
        </p:sp>
        <p:pic>
          <p:nvPicPr>
            <p:cNvPr id="36" name="Google Shape;36;p7"/>
            <p:cNvPicPr/>
            <p:nvPr/>
          </p:nvPicPr>
          <p:blipFill rotWithShape="1">
            <a:blip r:embed="rId6">
              <a:alphaModFix/>
            </a:blip>
            <a:stretch/>
          </p:blipFill>
          <p:spPr bwMode="auto">
            <a:xfrm>
              <a:off x="318525" y="951665"/>
              <a:ext cx="358850" cy="3588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17780363" name="Google Shape;37;p7"/>
          <p:cNvPicPr/>
          <p:nvPr/>
        </p:nvPicPr>
        <p:blipFill rotWithShape="1">
          <a:blip r:embed="rId7">
            <a:alphaModFix/>
          </a:blip>
          <a:srcRect l="-849" t="-51" r="9533" b="57488"/>
          <a:stretch/>
        </p:blipFill>
        <p:spPr bwMode="auto">
          <a:xfrm>
            <a:off x="5467425" y="3429900"/>
            <a:ext cx="3676575" cy="171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Gray / List 1" preserve="0" showMasterPhAnim="0" showMasterSp="1" userDrawn="1">
  <p:cSld name="BLANK_4"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2745838" name="Google Shape;39;p8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152400" y="0"/>
            <a:ext cx="88391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200293" name="Google Shape;40;p8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8046554" y="246475"/>
            <a:ext cx="776246" cy="31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4858664" name="Google Shape;41;p8"/>
          <p:cNvPicPr/>
          <p:nvPr/>
        </p:nvPicPr>
        <p:blipFill rotWithShape="1">
          <a:blip r:embed="rId4">
            <a:alphaModFix/>
          </a:blip>
          <a:srcRect l="0" t="0" r="49210" b="20748"/>
          <a:stretch/>
        </p:blipFill>
        <p:spPr bwMode="auto">
          <a:xfrm>
            <a:off x="7292500" y="2254425"/>
            <a:ext cx="1851500" cy="288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8018284" name="Google Shape;42;p8"/>
          <p:cNvSpPr txBox="1"/>
          <p:nvPr/>
        </p:nvSpPr>
        <p:spPr bwMode="auto">
          <a:xfrm>
            <a:off x="225100" y="155020"/>
            <a:ext cx="5490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  <a:t>Компетенции</a:t>
            </a:r>
            <a:endParaRPr sz="3000" b="1">
              <a:solidFill>
                <a:srgbClr val="1A2028"/>
              </a:solidFill>
              <a:latin typeface="Montserrat Alternates"/>
              <a:ea typeface="Montserrat Alternates"/>
              <a:cs typeface="Montserrat Alternates"/>
            </a:endParaRPr>
          </a:p>
        </p:txBody>
      </p:sp>
      <p:grpSp>
        <p:nvGrpSpPr>
          <p:cNvPr id="1019015020" name="Google Shape;43;p8"/>
          <p:cNvGrpSpPr/>
          <p:nvPr/>
        </p:nvGrpSpPr>
        <p:grpSpPr bwMode="auto">
          <a:xfrm>
            <a:off x="4345225" y="941600"/>
            <a:ext cx="4529700" cy="1324075"/>
            <a:chOff x="4345225" y="941600"/>
            <a:chExt cx="4529700" cy="1324075"/>
          </a:xfrm>
        </p:grpSpPr>
        <p:sp>
          <p:nvSpPr>
            <p:cNvPr id="44" name="Google Shape;44;p8"/>
            <p:cNvSpPr txBox="1"/>
            <p:nvPr/>
          </p:nvSpPr>
          <p:spPr bwMode="auto">
            <a:xfrm>
              <a:off x="4825175" y="941600"/>
              <a:ext cx="32877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4999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ru" sz="1300" b="1">
                  <a:solidFill>
                    <a:srgbClr val="1A2028"/>
                  </a:solidFill>
                </a:rPr>
                <a:t>Готовые решения и наработки</a:t>
              </a:r>
              <a:endParaRPr sz="1300" b="1">
                <a:solidFill>
                  <a:srgbClr val="1A2028"/>
                </a:solidFill>
              </a:endParaRPr>
            </a:p>
          </p:txBody>
        </p:sp>
        <p:sp>
          <p:nvSpPr>
            <p:cNvPr id="45" name="Google Shape;45;p8"/>
            <p:cNvSpPr txBox="1"/>
            <p:nvPr/>
          </p:nvSpPr>
          <p:spPr bwMode="auto">
            <a:xfrm>
              <a:off x="4345225" y="1326675"/>
              <a:ext cx="4529700" cy="93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298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10 лет работы в разных индустриях, понимание рабочих подходов в реализации проектов</a:t>
              </a:r>
              <a:endParaRPr sz="1100">
                <a:solidFill>
                  <a:srgbClr val="1A2028"/>
                </a:solidFill>
              </a:endParaRPr>
            </a:p>
            <a:p>
              <a:pPr marL="457200" lvl="0" indent="-298450" algn="l" rtl="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Использование Адаптация текущих систем под новые бизнес-задачи</a:t>
              </a:r>
              <a:endParaRPr sz="1100">
                <a:solidFill>
                  <a:srgbClr val="1A2028"/>
                </a:solidFill>
              </a:endParaRPr>
            </a:p>
          </p:txBody>
        </p:sp>
        <p:pic>
          <p:nvPicPr>
            <p:cNvPr id="46" name="Google Shape;46;p8"/>
            <p:cNvPicPr/>
            <p:nvPr/>
          </p:nvPicPr>
          <p:blipFill rotWithShape="1">
            <a:blip r:embed="rId5">
              <a:alphaModFix/>
            </a:blip>
            <a:stretch/>
          </p:blipFill>
          <p:spPr bwMode="auto">
            <a:xfrm>
              <a:off x="4453245" y="941674"/>
              <a:ext cx="384900" cy="384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1959086" name="Google Shape;47;p8"/>
          <p:cNvGrpSpPr/>
          <p:nvPr/>
        </p:nvGrpSpPr>
        <p:grpSpPr bwMode="auto">
          <a:xfrm>
            <a:off x="225100" y="941600"/>
            <a:ext cx="3885300" cy="3773680"/>
            <a:chOff x="225100" y="941600"/>
            <a:chExt cx="3885300" cy="3773680"/>
          </a:xfrm>
        </p:grpSpPr>
        <p:sp>
          <p:nvSpPr>
            <p:cNvPr id="48" name="Google Shape;48;p8"/>
            <p:cNvSpPr txBox="1"/>
            <p:nvPr/>
          </p:nvSpPr>
          <p:spPr bwMode="auto">
            <a:xfrm>
              <a:off x="669462" y="941600"/>
              <a:ext cx="3363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4999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ru" sz="1300" b="1">
                  <a:solidFill>
                    <a:srgbClr val="1A2028"/>
                  </a:solidFill>
                </a:rPr>
                <a:t>Разработка и внедрение</a:t>
              </a:r>
              <a:endParaRPr sz="1300" b="1">
                <a:solidFill>
                  <a:srgbClr val="1A2028"/>
                </a:solidFill>
              </a:endParaRPr>
            </a:p>
          </p:txBody>
        </p:sp>
        <p:sp>
          <p:nvSpPr>
            <p:cNvPr id="49" name="Google Shape;49;p8"/>
            <p:cNvSpPr txBox="1"/>
            <p:nvPr/>
          </p:nvSpPr>
          <p:spPr bwMode="auto">
            <a:xfrm>
              <a:off x="225100" y="1421280"/>
              <a:ext cx="3885300" cy="329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298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Разработка платформенных решений и микросервисов</a:t>
              </a:r>
              <a:endParaRPr sz="1100">
                <a:solidFill>
                  <a:srgbClr val="1A2028"/>
                </a:solidFill>
              </a:endParaRPr>
            </a:p>
            <a:p>
              <a:pPr marL="457200" lvl="0" indent="-29845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Создание ETL и интеграционных адаптеров</a:t>
              </a:r>
              <a:endParaRPr sz="1100">
                <a:solidFill>
                  <a:srgbClr val="1A2028"/>
                </a:solidFill>
              </a:endParaRPr>
            </a:p>
            <a:p>
              <a:pPr marL="457200" lvl="0" indent="-29845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Специфичная разработка для финтеха: платежные шлюзы, шифрование, перс. данные</a:t>
              </a:r>
              <a:endParaRPr sz="1100">
                <a:solidFill>
                  <a:srgbClr val="1A2028"/>
                </a:solidFill>
              </a:endParaRPr>
            </a:p>
            <a:p>
              <a:pPr marL="457200" lvl="0" indent="-29845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Разработка хранилищ данных и систем информационного обмена высокой нагрузки</a:t>
              </a:r>
              <a:endParaRPr sz="1100">
                <a:solidFill>
                  <a:srgbClr val="1A2028"/>
                </a:solidFill>
              </a:endParaRPr>
            </a:p>
            <a:p>
              <a:pPr marL="457200" lvl="0" indent="-29845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BPM системы и проектирование бизнес-процессов</a:t>
              </a:r>
              <a:endParaRPr sz="1100">
                <a:solidFill>
                  <a:srgbClr val="1A2028"/>
                </a:solidFill>
              </a:endParaRPr>
            </a:p>
            <a:p>
              <a:pPr marL="457200" lvl="0" indent="-29845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Разработка мобильных приложений</a:t>
              </a:r>
              <a:endParaRPr sz="1100">
                <a:solidFill>
                  <a:srgbClr val="1A2028"/>
                </a:solidFill>
              </a:endParaRPr>
            </a:p>
            <a:p>
              <a:pPr marL="457200" lvl="0" indent="-29845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Разработка 1С-Битрикс </a:t>
              </a:r>
              <a:endParaRPr sz="1100">
                <a:solidFill>
                  <a:srgbClr val="1A2028"/>
                </a:solidFill>
              </a:endParaRPr>
            </a:p>
            <a:p>
              <a:pPr marL="457200" lvl="0" indent="-298450" algn="l" rtl="0">
                <a:lnSpc>
                  <a:spcPct val="10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Заказная front-end разработка</a:t>
              </a:r>
              <a:endParaRPr sz="1100">
                <a:solidFill>
                  <a:srgbClr val="1A2028"/>
                </a:solidFill>
              </a:endParaRPr>
            </a:p>
          </p:txBody>
        </p:sp>
        <p:pic>
          <p:nvPicPr>
            <p:cNvPr id="50" name="Google Shape;50;p8"/>
            <p:cNvPicPr/>
            <p:nvPr/>
          </p:nvPicPr>
          <p:blipFill rotWithShape="1">
            <a:blip r:embed="rId6">
              <a:alphaModFix/>
            </a:blip>
            <a:stretch/>
          </p:blipFill>
          <p:spPr bwMode="auto">
            <a:xfrm>
              <a:off x="284575" y="941683"/>
              <a:ext cx="384900" cy="384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7631574" name="Google Shape;51;p8"/>
          <p:cNvGrpSpPr/>
          <p:nvPr/>
        </p:nvGrpSpPr>
        <p:grpSpPr bwMode="auto">
          <a:xfrm>
            <a:off x="4345225" y="3480347"/>
            <a:ext cx="4433700" cy="1231688"/>
            <a:chOff x="4345225" y="3480347"/>
            <a:chExt cx="4433700" cy="1231688"/>
          </a:xfrm>
        </p:grpSpPr>
        <p:sp>
          <p:nvSpPr>
            <p:cNvPr id="52" name="Google Shape;52;p8"/>
            <p:cNvSpPr txBox="1"/>
            <p:nvPr/>
          </p:nvSpPr>
          <p:spPr bwMode="auto">
            <a:xfrm>
              <a:off x="4825175" y="3480347"/>
              <a:ext cx="28299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4999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ru" sz="1300" b="1">
                  <a:solidFill>
                    <a:srgbClr val="1A2028"/>
                  </a:solidFill>
                </a:rPr>
                <a:t>Консалтинг</a:t>
              </a:r>
              <a:endParaRPr sz="1300" b="1">
                <a:solidFill>
                  <a:srgbClr val="1A2028"/>
                </a:solidFill>
              </a:endParaRPr>
            </a:p>
          </p:txBody>
        </p:sp>
        <p:sp>
          <p:nvSpPr>
            <p:cNvPr id="53" name="Google Shape;53;p8"/>
            <p:cNvSpPr txBox="1"/>
            <p:nvPr/>
          </p:nvSpPr>
          <p:spPr bwMode="auto">
            <a:xfrm>
              <a:off x="4345225" y="3865435"/>
              <a:ext cx="4433700" cy="84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298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Разработка технического задания и сбор требований</a:t>
              </a:r>
              <a:endParaRPr sz="1100">
                <a:solidFill>
                  <a:srgbClr val="1A2028"/>
                </a:solidFill>
              </a:endParaRPr>
            </a:p>
            <a:p>
              <a:pPr marL="457200" lvl="0" indent="-29845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Аудит текущих систем и ИТ инфраструктуры</a:t>
              </a:r>
              <a:endParaRPr sz="1100">
                <a:solidFill>
                  <a:srgbClr val="1A2028"/>
                </a:solidFill>
              </a:endParaRPr>
            </a:p>
            <a:p>
              <a:pPr marL="457200" lvl="0" indent="-298450" algn="l" rtl="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Сопровождение развития продукта</a:t>
              </a:r>
              <a:endParaRPr sz="1100">
                <a:solidFill>
                  <a:srgbClr val="1A2028"/>
                </a:solidFill>
              </a:endParaRPr>
            </a:p>
          </p:txBody>
        </p:sp>
        <p:pic>
          <p:nvPicPr>
            <p:cNvPr id="54" name="Google Shape;54;p8"/>
            <p:cNvPicPr/>
            <p:nvPr/>
          </p:nvPicPr>
          <p:blipFill rotWithShape="1">
            <a:blip r:embed="rId7">
              <a:alphaModFix/>
            </a:blip>
            <a:stretch/>
          </p:blipFill>
          <p:spPr bwMode="auto">
            <a:xfrm>
              <a:off x="4418566" y="3480360"/>
              <a:ext cx="384900" cy="384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8401819" name="Google Shape;55;p8"/>
          <p:cNvGrpSpPr/>
          <p:nvPr/>
        </p:nvGrpSpPr>
        <p:grpSpPr bwMode="auto">
          <a:xfrm>
            <a:off x="4345225" y="2299986"/>
            <a:ext cx="4575000" cy="1113401"/>
            <a:chOff x="4345225" y="2299986"/>
            <a:chExt cx="4575000" cy="1113401"/>
          </a:xfrm>
        </p:grpSpPr>
        <p:sp>
          <p:nvSpPr>
            <p:cNvPr id="56" name="Google Shape;56;p8"/>
            <p:cNvSpPr txBox="1"/>
            <p:nvPr/>
          </p:nvSpPr>
          <p:spPr bwMode="auto">
            <a:xfrm>
              <a:off x="4825175" y="2299986"/>
              <a:ext cx="28299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4999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ru" sz="1300" b="1">
                  <a:solidFill>
                    <a:srgbClr val="1A2028"/>
                  </a:solidFill>
                </a:rPr>
                <a:t>Тестирование и сопровождение</a:t>
              </a:r>
              <a:endParaRPr sz="1300" b="1">
                <a:solidFill>
                  <a:srgbClr val="1A2028"/>
                </a:solidFill>
              </a:endParaRPr>
            </a:p>
          </p:txBody>
        </p:sp>
        <p:sp>
          <p:nvSpPr>
            <p:cNvPr id="57" name="Google Shape;57;p8"/>
            <p:cNvSpPr txBox="1"/>
            <p:nvPr/>
          </p:nvSpPr>
          <p:spPr bwMode="auto">
            <a:xfrm>
              <a:off x="4345225" y="2643887"/>
              <a:ext cx="45750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298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Автоматизированное, нагрузочное, регрессионное и прочие виды тестирования</a:t>
              </a:r>
              <a:endParaRPr sz="1100">
                <a:solidFill>
                  <a:srgbClr val="1A2028"/>
                </a:solidFill>
              </a:endParaRPr>
            </a:p>
            <a:p>
              <a:pPr marL="457200" lvl="0" indent="-298450" algn="l" rtl="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1A2028"/>
                </a:buClr>
                <a:buSzPts val="1100"/>
                <a:buChar char="➔"/>
                <a:defRPr/>
              </a:pPr>
              <a:r>
                <a:rPr lang="ru" sz="1100">
                  <a:solidFill>
                    <a:srgbClr val="1A2028"/>
                  </a:solidFill>
                </a:rPr>
                <a:t>Участие в пилотах решений и техническая поддержка</a:t>
              </a:r>
              <a:endParaRPr sz="1100">
                <a:solidFill>
                  <a:srgbClr val="1A2028"/>
                </a:solidFill>
              </a:endParaRPr>
            </a:p>
          </p:txBody>
        </p:sp>
        <p:pic>
          <p:nvPicPr>
            <p:cNvPr id="58" name="Google Shape;58;p8"/>
            <p:cNvPicPr/>
            <p:nvPr/>
          </p:nvPicPr>
          <p:blipFill rotWithShape="1">
            <a:blip r:embed="rId8">
              <a:alphaModFix/>
            </a:blip>
            <a:stretch/>
          </p:blipFill>
          <p:spPr bwMode="auto">
            <a:xfrm>
              <a:off x="4418566" y="2299991"/>
              <a:ext cx="384900" cy="3849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Gray / Tech" preserve="0" showMasterPhAnim="0" showMasterSp="1" userDrawn="1">
  <p:cSld name="BLANK_3"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6868250" name="Google Shape;60;p9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152400" y="0"/>
            <a:ext cx="88391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653936" name="Google Shape;61;p9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8046554" y="246475"/>
            <a:ext cx="776246" cy="31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8257263" name="Google Shape;62;p9"/>
          <p:cNvSpPr txBox="1"/>
          <p:nvPr/>
        </p:nvSpPr>
        <p:spPr bwMode="auto">
          <a:xfrm>
            <a:off x="225100" y="155020"/>
            <a:ext cx="5490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  <a:t>Языки и технологии</a:t>
            </a:r>
            <a:endParaRPr sz="3000" b="1">
              <a:solidFill>
                <a:srgbClr val="1A2028"/>
              </a:solidFill>
              <a:latin typeface="Montserrat Alternates"/>
              <a:ea typeface="Montserrat Alternates"/>
              <a:cs typeface="Montserrat Alternates"/>
            </a:endParaRPr>
          </a:p>
        </p:txBody>
      </p:sp>
      <p:sp>
        <p:nvSpPr>
          <p:cNvPr id="1856219261" name="Google Shape;63;p9"/>
          <p:cNvSpPr txBox="1"/>
          <p:nvPr/>
        </p:nvSpPr>
        <p:spPr bwMode="auto">
          <a:xfrm>
            <a:off x="230524" y="728625"/>
            <a:ext cx="8525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100">
                <a:solidFill>
                  <a:srgbClr val="1A2028"/>
                </a:solidFill>
              </a:rPr>
              <a:t>Используем в разработке любой нужный язык программирования или фреймворк.</a:t>
            </a:r>
            <a:endParaRPr sz="1100">
              <a:solidFill>
                <a:srgbClr val="1A2028"/>
              </a:solidFill>
            </a:endParaRPr>
          </a:p>
        </p:txBody>
      </p:sp>
      <p:sp>
        <p:nvSpPr>
          <p:cNvPr id="946968190" name="Google Shape;64;p9"/>
          <p:cNvSpPr txBox="1"/>
          <p:nvPr/>
        </p:nvSpPr>
        <p:spPr bwMode="auto">
          <a:xfrm>
            <a:off x="514519" y="2225274"/>
            <a:ext cx="115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200" b="1">
                <a:solidFill>
                  <a:schemeClr val="dk1"/>
                </a:solidFill>
              </a:rPr>
              <a:t>C++</a:t>
            </a:r>
            <a:endParaRPr sz="1200" b="1">
              <a:solidFill>
                <a:schemeClr val="dk1"/>
              </a:solidFill>
            </a:endParaRPr>
          </a:p>
        </p:txBody>
      </p:sp>
      <p:sp>
        <p:nvSpPr>
          <p:cNvPr id="1932772461" name="Google Shape;65;p9"/>
          <p:cNvSpPr txBox="1"/>
          <p:nvPr/>
        </p:nvSpPr>
        <p:spPr bwMode="auto">
          <a:xfrm>
            <a:off x="2035038" y="2225274"/>
            <a:ext cx="148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200" b="1">
                <a:solidFill>
                  <a:schemeClr val="dk1"/>
                </a:solidFill>
              </a:rPr>
              <a:t>Python</a:t>
            </a:r>
            <a:endParaRPr sz="1200" b="1">
              <a:solidFill>
                <a:schemeClr val="dk1"/>
              </a:solidFill>
            </a:endParaRPr>
          </a:p>
        </p:txBody>
      </p:sp>
      <p:sp>
        <p:nvSpPr>
          <p:cNvPr id="2126607304" name="Google Shape;66;p9"/>
          <p:cNvSpPr txBox="1"/>
          <p:nvPr/>
        </p:nvSpPr>
        <p:spPr bwMode="auto">
          <a:xfrm>
            <a:off x="3880450" y="2225274"/>
            <a:ext cx="115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200" b="1">
                <a:solidFill>
                  <a:schemeClr val="dk1"/>
                </a:solidFill>
              </a:rPr>
              <a:t>Java</a:t>
            </a:r>
            <a:endParaRPr sz="1200" b="1">
              <a:solidFill>
                <a:schemeClr val="dk1"/>
              </a:solidFill>
            </a:endParaRPr>
          </a:p>
        </p:txBody>
      </p:sp>
      <p:sp>
        <p:nvSpPr>
          <p:cNvPr id="1235110569" name="Google Shape;67;p9"/>
          <p:cNvSpPr txBox="1"/>
          <p:nvPr/>
        </p:nvSpPr>
        <p:spPr bwMode="auto">
          <a:xfrm>
            <a:off x="5414102" y="2225274"/>
            <a:ext cx="148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200" b="1">
                <a:solidFill>
                  <a:schemeClr val="dk1"/>
                </a:solidFill>
              </a:rPr>
              <a:t>JavaScript</a:t>
            </a:r>
            <a:endParaRPr sz="1200" b="1">
              <a:solidFill>
                <a:schemeClr val="dk1"/>
              </a:solidFill>
            </a:endParaRPr>
          </a:p>
        </p:txBody>
      </p:sp>
      <p:sp>
        <p:nvSpPr>
          <p:cNvPr id="1342139385" name="Google Shape;68;p9"/>
          <p:cNvSpPr txBox="1"/>
          <p:nvPr/>
        </p:nvSpPr>
        <p:spPr bwMode="auto">
          <a:xfrm>
            <a:off x="7148975" y="2225274"/>
            <a:ext cx="148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200" b="1">
                <a:solidFill>
                  <a:schemeClr val="dk1"/>
                </a:solidFill>
              </a:rPr>
              <a:t>PHP</a:t>
            </a:r>
            <a:endParaRPr sz="1200" b="1">
              <a:solidFill>
                <a:schemeClr val="dk1"/>
              </a:solidFill>
            </a:endParaRPr>
          </a:p>
        </p:txBody>
      </p:sp>
      <p:sp>
        <p:nvSpPr>
          <p:cNvPr id="1406102778" name="Google Shape;69;p9"/>
          <p:cNvSpPr txBox="1"/>
          <p:nvPr/>
        </p:nvSpPr>
        <p:spPr bwMode="auto">
          <a:xfrm>
            <a:off x="514519" y="3593574"/>
            <a:ext cx="115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200" b="1">
                <a:solidFill>
                  <a:schemeClr val="dk1"/>
                </a:solidFill>
              </a:rPr>
              <a:t>Oracle</a:t>
            </a:r>
            <a:endParaRPr sz="1200" b="1">
              <a:solidFill>
                <a:schemeClr val="dk1"/>
              </a:solidFill>
            </a:endParaRPr>
          </a:p>
        </p:txBody>
      </p:sp>
      <p:sp>
        <p:nvSpPr>
          <p:cNvPr id="1088336261" name="Google Shape;70;p9"/>
          <p:cNvSpPr txBox="1"/>
          <p:nvPr/>
        </p:nvSpPr>
        <p:spPr bwMode="auto">
          <a:xfrm>
            <a:off x="2035038" y="3593574"/>
            <a:ext cx="148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200" b="1">
                <a:solidFill>
                  <a:schemeClr val="dk1"/>
                </a:solidFill>
              </a:rPr>
              <a:t>1C-Bitrix</a:t>
            </a:r>
            <a:endParaRPr sz="1200" b="1">
              <a:solidFill>
                <a:schemeClr val="dk1"/>
              </a:solidFill>
            </a:endParaRPr>
          </a:p>
        </p:txBody>
      </p:sp>
      <p:sp>
        <p:nvSpPr>
          <p:cNvPr id="107886824" name="Google Shape;71;p9"/>
          <p:cNvSpPr txBox="1"/>
          <p:nvPr/>
        </p:nvSpPr>
        <p:spPr bwMode="auto">
          <a:xfrm>
            <a:off x="3775300" y="3593574"/>
            <a:ext cx="136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200" b="1">
                <a:solidFill>
                  <a:schemeClr val="dk1"/>
                </a:solidFill>
              </a:rPr>
              <a:t>HTML5 / CSS3</a:t>
            </a:r>
            <a:endParaRPr sz="1200" b="1">
              <a:solidFill>
                <a:schemeClr val="dk1"/>
              </a:solidFill>
            </a:endParaRPr>
          </a:p>
        </p:txBody>
      </p:sp>
      <p:sp>
        <p:nvSpPr>
          <p:cNvPr id="1732703392" name="Google Shape;72;p9"/>
          <p:cNvSpPr txBox="1"/>
          <p:nvPr/>
        </p:nvSpPr>
        <p:spPr bwMode="auto">
          <a:xfrm>
            <a:off x="5414102" y="3593574"/>
            <a:ext cx="148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200" b="1">
                <a:solidFill>
                  <a:schemeClr val="dk1"/>
                </a:solidFill>
              </a:rPr>
              <a:t>JS React</a:t>
            </a:r>
            <a:endParaRPr sz="1200" b="1">
              <a:solidFill>
                <a:schemeClr val="dk1"/>
              </a:solidFill>
            </a:endParaRPr>
          </a:p>
        </p:txBody>
      </p:sp>
      <p:sp>
        <p:nvSpPr>
          <p:cNvPr id="1811037638" name="Google Shape;73;p9"/>
          <p:cNvSpPr txBox="1"/>
          <p:nvPr/>
        </p:nvSpPr>
        <p:spPr bwMode="auto">
          <a:xfrm>
            <a:off x="7148975" y="3593574"/>
            <a:ext cx="148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200" b="1">
                <a:solidFill>
                  <a:schemeClr val="dk1"/>
                </a:solidFill>
              </a:rPr>
              <a:t>Golang/Go</a:t>
            </a:r>
            <a:endParaRPr sz="1200" b="1">
              <a:solidFill>
                <a:schemeClr val="dk1"/>
              </a:solidFill>
            </a:endParaRPr>
          </a:p>
        </p:txBody>
      </p:sp>
      <p:grpSp>
        <p:nvGrpSpPr>
          <p:cNvPr id="1011904314" name="Google Shape;74;p9"/>
          <p:cNvGrpSpPr/>
          <p:nvPr/>
        </p:nvGrpSpPr>
        <p:grpSpPr bwMode="auto">
          <a:xfrm>
            <a:off x="-15275" y="4384125"/>
            <a:ext cx="9159300" cy="807600"/>
            <a:chOff x="-15275" y="4384125"/>
            <a:chExt cx="9159300" cy="807600"/>
          </a:xfrm>
        </p:grpSpPr>
        <p:sp>
          <p:nvSpPr>
            <p:cNvPr id="75" name="Google Shape;75;p9"/>
            <p:cNvSpPr/>
            <p:nvPr/>
          </p:nvSpPr>
          <p:spPr bwMode="auto">
            <a:xfrm>
              <a:off x="-15275" y="4384125"/>
              <a:ext cx="9159300" cy="807600"/>
            </a:xfrm>
            <a:prstGeom prst="rect">
              <a:avLst/>
            </a:prstGeom>
            <a:solidFill>
              <a:srgbClr val="1A20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6" name="Google Shape;76;p9"/>
            <p:cNvSpPr txBox="1"/>
            <p:nvPr/>
          </p:nvSpPr>
          <p:spPr bwMode="auto">
            <a:xfrm>
              <a:off x="766500" y="4510875"/>
              <a:ext cx="7675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ru" sz="1100">
                  <a:solidFill>
                    <a:schemeClr val="lt1"/>
                  </a:solidFill>
                </a:rPr>
                <a:t>Наши разработчики соблюдают стандарты написания кода, что позволяет гарантировать </a:t>
              </a:r>
              <a:r>
                <a:rPr lang="ru" sz="1100" b="1">
                  <a:solidFill>
                    <a:srgbClr val="0AB8B6"/>
                  </a:solidFill>
                </a:rPr>
                <a:t>читаемость</a:t>
              </a:r>
              <a:r>
                <a:rPr lang="ru" sz="1100">
                  <a:solidFill>
                    <a:schemeClr val="lt1"/>
                  </a:solidFill>
                </a:rPr>
                <a:t>,</a:t>
              </a:r>
              <a:r>
                <a:rPr lang="ru" sz="1100">
                  <a:solidFill>
                    <a:srgbClr val="1A2028"/>
                  </a:solidFill>
                </a:rPr>
                <a:t> </a:t>
              </a:r>
              <a:r>
                <a:rPr lang="ru" sz="1100" b="1">
                  <a:solidFill>
                    <a:srgbClr val="0AB8B6"/>
                  </a:solidFill>
                </a:rPr>
                <a:t>корректность работы</a:t>
              </a:r>
              <a:r>
                <a:rPr lang="ru" sz="1100">
                  <a:solidFill>
                    <a:schemeClr val="lt1"/>
                  </a:solidFill>
                </a:rPr>
                <a:t> проекта и </a:t>
              </a:r>
              <a:r>
                <a:rPr lang="ru" sz="1100" b="1">
                  <a:solidFill>
                    <a:srgbClr val="0AB8B6"/>
                  </a:solidFill>
                </a:rPr>
                <a:t>легкость передачи</a:t>
              </a:r>
              <a:r>
                <a:rPr lang="ru" sz="1100">
                  <a:solidFill>
                    <a:schemeClr val="lt1"/>
                  </a:solidFill>
                </a:rPr>
                <a:t> кода другим разработчикам.</a:t>
              </a:r>
              <a:endParaRPr sz="1100">
                <a:solidFill>
                  <a:schemeClr val="lt1"/>
                </a:solidFill>
              </a:endParaRPr>
            </a:p>
          </p:txBody>
        </p:sp>
        <p:pic>
          <p:nvPicPr>
            <p:cNvPr id="77" name="Google Shape;77;p9"/>
            <p:cNvPicPr/>
            <p:nvPr/>
          </p:nvPicPr>
          <p:blipFill rotWithShape="1">
            <a:blip r:embed="rId4">
              <a:alphaModFix/>
            </a:blip>
            <a:stretch/>
          </p:blipFill>
          <p:spPr bwMode="auto">
            <a:xfrm>
              <a:off x="334600" y="4610922"/>
              <a:ext cx="354000" cy="354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94273438" name="Google Shape;78;p9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642319" y="134976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634441" name="Google Shape;79;p9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2325288" y="134976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851004" name="Google Shape;80;p9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7439225" y="134976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869497" name="Google Shape;81;p9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5704352" y="2706313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471129" name="Google Shape;82;p9"/>
          <p:cNvPicPr/>
          <p:nvPr/>
        </p:nvPicPr>
        <p:blipFill rotWithShape="1">
          <a:blip r:embed="rId9">
            <a:alphaModFix/>
          </a:blip>
          <a:stretch/>
        </p:blipFill>
        <p:spPr bwMode="auto">
          <a:xfrm>
            <a:off x="642319" y="2706313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68094" name="Google Shape;83;p9"/>
          <p:cNvPicPr/>
          <p:nvPr/>
        </p:nvPicPr>
        <p:blipFill rotWithShape="1">
          <a:blip r:embed="rId10">
            <a:alphaModFix/>
          </a:blip>
          <a:stretch/>
        </p:blipFill>
        <p:spPr bwMode="auto">
          <a:xfrm>
            <a:off x="7439225" y="2708204"/>
            <a:ext cx="900000" cy="896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5741334" name="Google Shape;84;p9"/>
          <p:cNvPicPr/>
          <p:nvPr/>
        </p:nvPicPr>
        <p:blipFill rotWithShape="1">
          <a:blip r:embed="rId11">
            <a:alphaModFix/>
          </a:blip>
          <a:stretch/>
        </p:blipFill>
        <p:spPr bwMode="auto">
          <a:xfrm>
            <a:off x="5704352" y="134976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29854" name="Google Shape;85;p9"/>
          <p:cNvPicPr/>
          <p:nvPr/>
        </p:nvPicPr>
        <p:blipFill rotWithShape="1">
          <a:blip r:embed="rId12">
            <a:alphaModFix/>
          </a:blip>
          <a:stretch/>
        </p:blipFill>
        <p:spPr bwMode="auto">
          <a:xfrm>
            <a:off x="4008250" y="134976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87917" name="Google Shape;86;p9"/>
          <p:cNvPicPr/>
          <p:nvPr/>
        </p:nvPicPr>
        <p:blipFill rotWithShape="1">
          <a:blip r:embed="rId13">
            <a:alphaModFix/>
          </a:blip>
          <a:stretch/>
        </p:blipFill>
        <p:spPr bwMode="auto">
          <a:xfrm>
            <a:off x="4008250" y="2706313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1198215" name="Google Shape;87;p9"/>
          <p:cNvPicPr/>
          <p:nvPr/>
        </p:nvPicPr>
        <p:blipFill rotWithShape="1">
          <a:blip r:embed="rId14">
            <a:alphaModFix/>
          </a:blip>
          <a:stretch/>
        </p:blipFill>
        <p:spPr bwMode="auto">
          <a:xfrm>
            <a:off x="2325275" y="2706313"/>
            <a:ext cx="900000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Gray / About" preserve="0" showMasterPhAnim="0" showMasterSp="1" userDrawn="1">
  <p:cSld name="BLANK_2"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07128" name="Google Shape;89;p10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152400" y="0"/>
            <a:ext cx="88391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915532" name="Google Shape;90;p10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8046554" y="246475"/>
            <a:ext cx="776246" cy="31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593737" name="Google Shape;91;p10"/>
          <p:cNvSpPr/>
          <p:nvPr/>
        </p:nvSpPr>
        <p:spPr bwMode="auto">
          <a:xfrm>
            <a:off x="6041990" y="800"/>
            <a:ext cx="3102000" cy="5143500"/>
          </a:xfrm>
          <a:prstGeom prst="rect">
            <a:avLst/>
          </a:prstGeom>
          <a:solidFill>
            <a:srgbClr val="1A2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087152094" name="Google Shape;92;p10"/>
          <p:cNvPicPr/>
          <p:nvPr/>
        </p:nvPicPr>
        <p:blipFill rotWithShape="1">
          <a:blip r:embed="rId4">
            <a:alphaModFix/>
          </a:blip>
          <a:srcRect l="57184" t="0" r="0" b="0"/>
          <a:stretch/>
        </p:blipFill>
        <p:spPr bwMode="auto">
          <a:xfrm flipH="1">
            <a:off x="7784550" y="1045613"/>
            <a:ext cx="1359450" cy="3175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7590740" name="Google Shape;93;p10"/>
          <p:cNvGrpSpPr/>
          <p:nvPr/>
        </p:nvGrpSpPr>
        <p:grpSpPr bwMode="auto">
          <a:xfrm>
            <a:off x="4052825" y="607275"/>
            <a:ext cx="5410709" cy="4051880"/>
            <a:chOff x="4052825" y="607275"/>
            <a:chExt cx="5410709" cy="4051880"/>
          </a:xfrm>
        </p:grpSpPr>
        <p:grpSp>
          <p:nvGrpSpPr>
            <p:cNvPr id="94" name="Google Shape;94;p10"/>
            <p:cNvGrpSpPr/>
            <p:nvPr/>
          </p:nvGrpSpPr>
          <p:grpSpPr bwMode="auto">
            <a:xfrm>
              <a:off x="7405833" y="1258375"/>
              <a:ext cx="2057700" cy="2906418"/>
              <a:chOff x="7405833" y="1258375"/>
              <a:chExt cx="2057700" cy="2906418"/>
            </a:xfrm>
          </p:grpSpPr>
          <p:sp>
            <p:nvSpPr>
              <p:cNvPr id="95" name="Google Shape;95;p10"/>
              <p:cNvSpPr txBox="1"/>
              <p:nvPr/>
            </p:nvSpPr>
            <p:spPr bwMode="auto">
              <a:xfrm>
                <a:off x="7405833" y="3392438"/>
                <a:ext cx="1957500" cy="61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ru" sz="2800" b="1">
                    <a:solidFill>
                      <a:schemeClr val="lt1"/>
                    </a:solidFill>
                  </a:rPr>
                  <a:t>9+ лет</a:t>
                </a:r>
                <a:endParaRPr sz="2800" b="1">
                  <a:solidFill>
                    <a:schemeClr val="lt1"/>
                  </a:solidFill>
                </a:endParaRPr>
              </a:p>
            </p:txBody>
          </p:sp>
          <p:sp>
            <p:nvSpPr>
              <p:cNvPr id="96" name="Google Shape;96;p10"/>
              <p:cNvSpPr txBox="1"/>
              <p:nvPr/>
            </p:nvSpPr>
            <p:spPr bwMode="auto">
              <a:xfrm>
                <a:off x="7405833" y="3810793"/>
                <a:ext cx="20577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ru" sz="1100">
                    <a:solidFill>
                      <a:schemeClr val="lt1"/>
                    </a:solidFill>
                  </a:rPr>
                  <a:t>разработки</a:t>
                </a:r>
                <a:endParaRPr sz="1100">
                  <a:solidFill>
                    <a:schemeClr val="lt1"/>
                  </a:solidFill>
                </a:endParaRPr>
              </a:p>
            </p:txBody>
          </p:sp>
          <p:sp>
            <p:nvSpPr>
              <p:cNvPr id="97" name="Google Shape;97;p10"/>
              <p:cNvSpPr txBox="1"/>
              <p:nvPr/>
            </p:nvSpPr>
            <p:spPr bwMode="auto">
              <a:xfrm>
                <a:off x="7405833" y="1258375"/>
                <a:ext cx="1497900" cy="61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ru" sz="2800" b="1">
                    <a:solidFill>
                      <a:schemeClr val="lt1"/>
                    </a:solidFill>
                  </a:rPr>
                  <a:t>250+</a:t>
                </a:r>
                <a:endParaRPr sz="2800" b="1">
                  <a:solidFill>
                    <a:schemeClr val="lt1"/>
                  </a:solidFill>
                </a:endParaRPr>
              </a:p>
            </p:txBody>
          </p:sp>
          <p:sp>
            <p:nvSpPr>
              <p:cNvPr id="98" name="Google Shape;98;p10"/>
              <p:cNvSpPr txBox="1"/>
              <p:nvPr/>
            </p:nvSpPr>
            <p:spPr bwMode="auto">
              <a:xfrm>
                <a:off x="7405833" y="1676731"/>
                <a:ext cx="18789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ru" sz="1100">
                    <a:solidFill>
                      <a:schemeClr val="lt1"/>
                    </a:solidFill>
                  </a:rPr>
                  <a:t>проектов</a:t>
                </a:r>
                <a:endParaRPr sz="1100">
                  <a:solidFill>
                    <a:schemeClr val="lt1"/>
                  </a:solidFill>
                </a:endParaRPr>
              </a:p>
            </p:txBody>
          </p:sp>
          <p:sp>
            <p:nvSpPr>
              <p:cNvPr id="99" name="Google Shape;99;p10"/>
              <p:cNvSpPr txBox="1"/>
              <p:nvPr/>
            </p:nvSpPr>
            <p:spPr bwMode="auto">
              <a:xfrm>
                <a:off x="7405833" y="2325401"/>
                <a:ext cx="1497900" cy="61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ru" sz="2800" b="1">
                    <a:solidFill>
                      <a:schemeClr val="lt1"/>
                    </a:solidFill>
                  </a:rPr>
                  <a:t>120+</a:t>
                </a:r>
                <a:endParaRPr sz="2800" b="1">
                  <a:solidFill>
                    <a:schemeClr val="lt1"/>
                  </a:solidFill>
                </a:endParaRPr>
              </a:p>
            </p:txBody>
          </p:sp>
          <p:sp>
            <p:nvSpPr>
              <p:cNvPr id="100" name="Google Shape;100;p10"/>
              <p:cNvSpPr txBox="1"/>
              <p:nvPr/>
            </p:nvSpPr>
            <p:spPr bwMode="auto">
              <a:xfrm>
                <a:off x="7405833" y="2743766"/>
                <a:ext cx="14979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ru" sz="1100">
                    <a:solidFill>
                      <a:schemeClr val="lt1"/>
                    </a:solidFill>
                  </a:rPr>
                  <a:t>сотрудников</a:t>
                </a:r>
                <a:endParaRPr sz="1100">
                  <a:solidFill>
                    <a:schemeClr val="lt1"/>
                  </a:solidFill>
                </a:endParaRPr>
              </a:p>
            </p:txBody>
          </p:sp>
        </p:grpSp>
        <p:pic>
          <p:nvPicPr>
            <p:cNvPr id="101" name="Google Shape;101;p10"/>
            <p:cNvPicPr/>
            <p:nvPr/>
          </p:nvPicPr>
          <p:blipFill rotWithShape="1">
            <a:blip r:embed="rId5">
              <a:alphaModFix/>
            </a:blip>
            <a:stretch/>
          </p:blipFill>
          <p:spPr bwMode="auto">
            <a:xfrm>
              <a:off x="4052825" y="607275"/>
              <a:ext cx="3353000" cy="40518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79472609" name="Google Shape;102;p10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046554" y="246475"/>
            <a:ext cx="776246" cy="31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ck / Grid " preserve="0" showMasterPhAnim="0" showMasterSp="1" userDrawn="1">
  <p:cSld name="BLANK_1">
    <p:bg>
      <p:bgPr shadeToTitle="0">
        <a:solidFill>
          <a:srgbClr val="1A20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10561980" name="Google Shape;104;p11"/>
          <p:cNvPicPr/>
          <p:nvPr/>
        </p:nvPicPr>
        <p:blipFill rotWithShape="1">
          <a:blip r:embed="rId2">
            <a:alphaModFix amt="6000"/>
          </a:blip>
          <a:stretch/>
        </p:blipFill>
        <p:spPr bwMode="auto">
          <a:xfrm>
            <a:off x="152400" y="0"/>
            <a:ext cx="88391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ck " preserve="0" showMasterPhAnim="0" showMasterSp="1" userDrawn="1">
  <p:cSld name="BLANK_1_3">
    <p:bg>
      <p:bgPr shadeToTitle="0">
        <a:solidFill>
          <a:srgbClr val="1A20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ck / Cover" preserve="0" showMasterPhAnim="0" showMasterSp="1" userDrawn="1">
  <p:cSld name="BLANK_1_2">
    <p:bg>
      <p:bgPr shadeToTitle="0">
        <a:solidFill>
          <a:srgbClr val="1A20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5414323" name="Google Shape;107;p13"/>
          <p:cNvPicPr/>
          <p:nvPr/>
        </p:nvPicPr>
        <p:blipFill rotWithShape="1">
          <a:blip r:embed="rId2">
            <a:alphaModFix amt="6000"/>
          </a:blip>
          <a:stretch/>
        </p:blipFill>
        <p:spPr bwMode="auto">
          <a:xfrm>
            <a:off x="152400" y="0"/>
            <a:ext cx="88391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788941" name="Google Shape;108;p13"/>
          <p:cNvPicPr/>
          <p:nvPr/>
        </p:nvPicPr>
        <p:blipFill rotWithShape="1">
          <a:blip r:embed="rId3">
            <a:alphaModFix/>
          </a:blip>
          <a:srcRect l="0" t="6608" r="25595" b="8233"/>
          <a:stretch/>
        </p:blipFill>
        <p:spPr bwMode="auto">
          <a:xfrm>
            <a:off x="3097000" y="0"/>
            <a:ext cx="6047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5964661" name="Google Shape;109;p13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35925" y="628925"/>
            <a:ext cx="2081275" cy="84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ck / Grid + Logo" preserve="0" showMasterPhAnim="0" showMasterSp="1" userDrawn="1">
  <p:cSld name="BLANK_1_1">
    <p:bg>
      <p:bgPr shadeToTitle="0">
        <a:solidFill>
          <a:srgbClr val="1A20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7584314" name="Google Shape;111;p14"/>
          <p:cNvPicPr/>
          <p:nvPr/>
        </p:nvPicPr>
        <p:blipFill rotWithShape="1">
          <a:blip r:embed="rId2">
            <a:alphaModFix amt="6000"/>
          </a:blip>
          <a:stretch/>
        </p:blipFill>
        <p:spPr bwMode="auto">
          <a:xfrm>
            <a:off x="152400" y="0"/>
            <a:ext cx="88391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419187" name="Google Shape;112;p14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8046554" y="246475"/>
            <a:ext cx="776246" cy="31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ck / Chapter" preserve="0" showMasterPhAnim="0" showMasterSp="1" userDrawn="1">
  <p:cSld name="BLANK_1_1_2">
    <p:bg>
      <p:bgPr shadeToTitle="0">
        <a:solidFill>
          <a:srgbClr val="1A20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5948945" name="Google Shape;114;p15"/>
          <p:cNvPicPr/>
          <p:nvPr/>
        </p:nvPicPr>
        <p:blipFill rotWithShape="1">
          <a:blip r:embed="rId2">
            <a:alphaModFix amt="6000"/>
          </a:blip>
          <a:stretch/>
        </p:blipFill>
        <p:spPr bwMode="auto">
          <a:xfrm>
            <a:off x="152400" y="0"/>
            <a:ext cx="88391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753893" name="Google Shape;115;p15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8046554" y="246475"/>
            <a:ext cx="776246" cy="31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2630483" name="Google Shape;116;p15"/>
          <p:cNvPicPr/>
          <p:nvPr/>
        </p:nvPicPr>
        <p:blipFill rotWithShape="1">
          <a:blip r:embed="rId4">
            <a:alphaModFix/>
          </a:blip>
          <a:srcRect l="57184" t="0" r="0" b="0"/>
          <a:stretch/>
        </p:blipFill>
        <p:spPr bwMode="auto">
          <a:xfrm>
            <a:off x="-5" y="177649"/>
            <a:ext cx="2050050" cy="4788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ck / Services" preserve="0" showMasterPhAnim="0" showMasterSp="1" userDrawn="1">
  <p:cSld name="BLANK_1_1_1">
    <p:bg>
      <p:bgPr shadeToTitle="0">
        <a:solidFill>
          <a:srgbClr val="1A20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234324" name="Google Shape;118;p16"/>
          <p:cNvPicPr/>
          <p:nvPr/>
        </p:nvPicPr>
        <p:blipFill rotWithShape="1">
          <a:blip r:embed="rId2">
            <a:alphaModFix amt="6000"/>
          </a:blip>
          <a:stretch/>
        </p:blipFill>
        <p:spPr bwMode="auto">
          <a:xfrm>
            <a:off x="152400" y="0"/>
            <a:ext cx="88391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4711899" name="Google Shape;119;p16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8046554" y="246475"/>
            <a:ext cx="776246" cy="315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9779549" name="Google Shape;120;p16"/>
          <p:cNvGrpSpPr/>
          <p:nvPr/>
        </p:nvGrpSpPr>
        <p:grpSpPr bwMode="auto">
          <a:xfrm>
            <a:off x="195075" y="827145"/>
            <a:ext cx="8753850" cy="3762261"/>
            <a:chOff x="195075" y="827145"/>
            <a:chExt cx="8753850" cy="3762261"/>
          </a:xfrm>
        </p:grpSpPr>
        <p:pic>
          <p:nvPicPr>
            <p:cNvPr id="121" name="Google Shape;121;p16"/>
            <p:cNvPicPr/>
            <p:nvPr/>
          </p:nvPicPr>
          <p:blipFill rotWithShape="1">
            <a:blip r:embed="rId4">
              <a:alphaModFix/>
            </a:blip>
            <a:srcRect l="0" t="0" r="0" b="0"/>
            <a:stretch/>
          </p:blipFill>
          <p:spPr bwMode="auto">
            <a:xfrm>
              <a:off x="6471863" y="1926842"/>
              <a:ext cx="2400877" cy="24008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16"/>
            <p:cNvPicPr/>
            <p:nvPr/>
          </p:nvPicPr>
          <p:blipFill rotWithShape="1">
            <a:blip r:embed="rId4">
              <a:alphaModFix/>
            </a:blip>
            <a:srcRect l="0" t="0" r="0" b="0"/>
            <a:stretch/>
          </p:blipFill>
          <p:spPr bwMode="auto">
            <a:xfrm>
              <a:off x="315675" y="1926842"/>
              <a:ext cx="2400878" cy="24008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6"/>
            <p:cNvPicPr/>
            <p:nvPr/>
          </p:nvPicPr>
          <p:blipFill rotWithShape="1">
            <a:blip r:embed="rId5">
              <a:alphaModFix/>
            </a:blip>
            <a:srcRect l="0" t="0" r="0" b="0"/>
            <a:stretch/>
          </p:blipFill>
          <p:spPr bwMode="auto">
            <a:xfrm>
              <a:off x="3244600" y="1926853"/>
              <a:ext cx="2400878" cy="24008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16"/>
            <p:cNvSpPr txBox="1"/>
            <p:nvPr/>
          </p:nvSpPr>
          <p:spPr bwMode="auto">
            <a:xfrm>
              <a:off x="195075" y="3321906"/>
              <a:ext cx="2686500" cy="12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ru" b="1">
                  <a:solidFill>
                    <a:schemeClr val="lt1"/>
                  </a:solidFill>
                  <a:latin typeface="Montserrat Alternates"/>
                  <a:ea typeface="Montserrat Alternates"/>
                  <a:cs typeface="Montserrat Alternates"/>
                </a:rPr>
                <a:t>Аутсорсинг</a:t>
              </a:r>
              <a:endParaRPr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</a:endParaRPr>
            </a:p>
          </p:txBody>
        </p:sp>
        <p:sp>
          <p:nvSpPr>
            <p:cNvPr id="125" name="Google Shape;125;p16"/>
            <p:cNvSpPr txBox="1"/>
            <p:nvPr/>
          </p:nvSpPr>
          <p:spPr bwMode="auto">
            <a:xfrm>
              <a:off x="3122564" y="3321900"/>
              <a:ext cx="2943300" cy="12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ru" b="1">
                  <a:solidFill>
                    <a:schemeClr val="lt1"/>
                  </a:solidFill>
                  <a:latin typeface="Montserrat Alternates"/>
                  <a:ea typeface="Montserrat Alternates"/>
                  <a:cs typeface="Montserrat Alternates"/>
                </a:rPr>
                <a:t>Проектное управление</a:t>
              </a:r>
              <a:endParaRPr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</a:endParaRPr>
            </a:p>
          </p:txBody>
        </p:sp>
        <p:sp>
          <p:nvSpPr>
            <p:cNvPr id="126" name="Google Shape;126;p16"/>
            <p:cNvSpPr txBox="1"/>
            <p:nvPr/>
          </p:nvSpPr>
          <p:spPr bwMode="auto">
            <a:xfrm>
              <a:off x="6262425" y="3321906"/>
              <a:ext cx="2686500" cy="12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ru" b="1">
                  <a:solidFill>
                    <a:schemeClr val="lt1"/>
                  </a:solidFill>
                  <a:latin typeface="Montserrat Alternates"/>
                  <a:ea typeface="Montserrat Alternates"/>
                  <a:cs typeface="Montserrat Alternates"/>
                </a:rPr>
                <a:t>Аутстафф</a:t>
              </a:r>
              <a:endParaRPr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</a:endParaRPr>
            </a:p>
          </p:txBody>
        </p:sp>
        <p:sp>
          <p:nvSpPr>
            <p:cNvPr id="127" name="Google Shape;127;p16"/>
            <p:cNvSpPr txBox="1"/>
            <p:nvPr/>
          </p:nvSpPr>
          <p:spPr bwMode="auto">
            <a:xfrm>
              <a:off x="1826687" y="827145"/>
              <a:ext cx="5490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ru" sz="3400" b="1">
                  <a:solidFill>
                    <a:schemeClr val="lt1"/>
                  </a:solidFill>
                  <a:latin typeface="Montserrat Alternates"/>
                  <a:ea typeface="Montserrat Alternates"/>
                  <a:cs typeface="Montserrat Alternates"/>
                </a:rPr>
                <a:t>Мы предлагаем</a:t>
              </a:r>
              <a:endParaRPr sz="34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</a:endParaRPr>
            </a:p>
          </p:txBody>
        </p:sp>
        <p:pic>
          <p:nvPicPr>
            <p:cNvPr id="128" name="Google Shape;128;p16"/>
            <p:cNvPicPr/>
            <p:nvPr/>
          </p:nvPicPr>
          <p:blipFill rotWithShape="1">
            <a:blip r:embed="rId6">
              <a:alphaModFix/>
            </a:blip>
            <a:srcRect l="29" t="0" r="19" b="0"/>
            <a:stretch/>
          </p:blipFill>
          <p:spPr bwMode="auto">
            <a:xfrm>
              <a:off x="636262" y="1838267"/>
              <a:ext cx="1804145" cy="18050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16"/>
            <p:cNvPicPr/>
            <p:nvPr/>
          </p:nvPicPr>
          <p:blipFill rotWithShape="1">
            <a:blip r:embed="rId7">
              <a:alphaModFix/>
            </a:blip>
            <a:srcRect l="19" t="0" r="28" b="0"/>
            <a:stretch/>
          </p:blipFill>
          <p:spPr bwMode="auto">
            <a:xfrm>
              <a:off x="6636947" y="1771604"/>
              <a:ext cx="1937465" cy="19383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16"/>
            <p:cNvPicPr/>
            <p:nvPr/>
          </p:nvPicPr>
          <p:blipFill rotWithShape="1">
            <a:blip r:embed="rId8">
              <a:alphaModFix/>
            </a:blip>
            <a:srcRect l="19" t="0" r="28" b="0"/>
            <a:stretch/>
          </p:blipFill>
          <p:spPr bwMode="auto">
            <a:xfrm>
              <a:off x="3669936" y="1838297"/>
              <a:ext cx="1804145" cy="18050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-scm.com/download/win" TargetMode="External"/><Relationship Id="rId4" Type="http://schemas.openxmlformats.org/officeDocument/2006/relationships/image" Target="../media/image3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3.png"/><Relationship Id="rId4" Type="http://schemas.openxmlformats.org/officeDocument/2006/relationships/image" Target="../media/image34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5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Relationship Id="rId4" Type="http://schemas.openxmlformats.org/officeDocument/2006/relationships/image" Target="../media/image36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7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jpg"/><Relationship Id="rId4" Type="http://schemas.openxmlformats.org/officeDocument/2006/relationships/image" Target="../media/image3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hyperlink" Target="https://docs.github.com/ru/authentication/connecting-to-github-with-ssh/generating-a-new-ssh-key-and-adding-it-to-the-ssh-agent" TargetMode="External"/><Relationship Id="rId5" Type="http://schemas.openxmlformats.org/officeDocument/2006/relationships/image" Target="../media/image39.jpg"/><Relationship Id="rId6" Type="http://schemas.openxmlformats.org/officeDocument/2006/relationships/image" Target="../media/image4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42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Relationship Id="rId4" Type="http://schemas.openxmlformats.org/officeDocument/2006/relationships/image" Target="../media/image43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Relationship Id="rId5" Type="http://schemas.openxmlformats.org/officeDocument/2006/relationships/image" Target="../media/image7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48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49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0.jp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097725" name="Google Shape;135;p17"/>
          <p:cNvSpPr txBox="1"/>
          <p:nvPr/>
        </p:nvSpPr>
        <p:spPr bwMode="auto">
          <a:xfrm>
            <a:off x="2017200" y="2191350"/>
            <a:ext cx="5109600" cy="7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3200" b="1">
                <a:solidFill>
                  <a:srgbClr val="FFFFFF"/>
                </a:solidFill>
                <a:latin typeface="Montserrat Alternates"/>
                <a:ea typeface="Montserrat Alternates"/>
                <a:cs typeface="Montserrat Alternates"/>
              </a:rPr>
              <a:t>GitHub</a:t>
            </a:r>
            <a:endParaRPr sz="3200" b="1">
              <a:solidFill>
                <a:srgbClr val="FFFFFF"/>
              </a:solidFill>
              <a:latin typeface="Montserrat Alternates"/>
              <a:ea typeface="Montserrat Alternates"/>
              <a:cs typeface="Montserrat Alternates"/>
            </a:endParaRPr>
          </a:p>
        </p:txBody>
      </p:sp>
      <p:pic>
        <p:nvPicPr>
          <p:cNvPr id="1612088614" name="Google Shape;136;p17"/>
          <p:cNvPicPr/>
          <p:nvPr/>
        </p:nvPicPr>
        <p:blipFill rotWithShape="1">
          <a:blip r:embed="rId3">
            <a:alphaModFix/>
          </a:blip>
          <a:srcRect l="-849" t="-51" r="9533" b="57488"/>
          <a:stretch/>
        </p:blipFill>
        <p:spPr bwMode="auto">
          <a:xfrm rot="5400000">
            <a:off x="-1001886" y="1740839"/>
            <a:ext cx="3752950" cy="1749175"/>
          </a:xfrm>
          <a:prstGeom prst="rect">
            <a:avLst/>
          </a:prstGeom>
          <a:noFill/>
          <a:ln>
            <a:noFill/>
          </a:ln>
        </p:spPr>
      </p:pic>
      <p:sp>
        <p:nvSpPr>
          <p:cNvPr id="805440687" name="Google Shape;137;p17"/>
          <p:cNvSpPr txBox="1"/>
          <p:nvPr/>
        </p:nvSpPr>
        <p:spPr bwMode="auto">
          <a:xfrm>
            <a:off x="2077499" y="2926949"/>
            <a:ext cx="4989359" cy="76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1100">
                <a:solidFill>
                  <a:schemeClr val="lt1"/>
                </a:solidFill>
              </a:rPr>
              <a:t>Git – это система управления версиями с открытым исходным кодом.</a:t>
            </a:r>
            <a:endParaRPr sz="11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1100">
                <a:solidFill>
                  <a:srgbClr val="F4F4F4"/>
                </a:solidFill>
              </a:rPr>
              <a:t>GitHub – это веб-служба размещения для репозиториев Git.</a:t>
            </a:r>
            <a:endParaRPr sz="1100">
              <a:solidFill>
                <a:srgbClr val="F4F4F4"/>
              </a:solidFill>
            </a:endParaRPr>
          </a:p>
          <a:p>
            <a:pPr marL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100">
              <a:solidFill>
                <a:srgbClr val="F4F4F4"/>
              </a:solidFill>
            </a:endParaRPr>
          </a:p>
        </p:txBody>
      </p:sp>
      <p:pic>
        <p:nvPicPr>
          <p:cNvPr id="112422488" name="Google Shape;138;p17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3900625" y="626265"/>
            <a:ext cx="1342750" cy="134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164186" name="Прямоугольник 3"/>
          <p:cNvSpPr/>
          <p:nvPr/>
        </p:nvSpPr>
        <p:spPr bwMode="auto">
          <a:xfrm>
            <a:off x="4265589" y="866467"/>
            <a:ext cx="904863" cy="3051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Arial"/>
                <a:cs typeface="Arial"/>
              </a:rPr>
              <a:t>Windows</a:t>
            </a:r>
            <a:endParaRPr lang="ru-RU">
              <a:latin typeface="Arial"/>
              <a:cs typeface="Arial"/>
            </a:endParaRPr>
          </a:p>
        </p:txBody>
      </p:sp>
      <p:sp>
        <p:nvSpPr>
          <p:cNvPr id="1205645694" name="TextBox 4"/>
          <p:cNvSpPr txBox="1"/>
          <p:nvPr/>
        </p:nvSpPr>
        <p:spPr bwMode="auto">
          <a:xfrm>
            <a:off x="2948499" y="1235799"/>
            <a:ext cx="2802206" cy="3051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u="sng">
                <a:hlinkClick r:id="rId3" tooltip=""/>
              </a:rPr>
              <a:t>https://</a:t>
            </a:r>
            <a:r>
              <a:rPr lang="en-US" u="sng">
                <a:hlinkClick r:id="rId3" tooltip=""/>
              </a:rPr>
              <a:t>git-scm.com/download/win</a:t>
            </a:r>
            <a:endParaRPr lang="ru-RU"/>
          </a:p>
        </p:txBody>
      </p:sp>
      <p:pic>
        <p:nvPicPr>
          <p:cNvPr id="324447930" name="Рисунок 5"/>
          <p:cNvPicPr>
            <a:picLocks noChangeAspect="1"/>
          </p:cNvPicPr>
          <p:nvPr/>
        </p:nvPicPr>
        <p:blipFill rotWithShape="1">
          <a:blip r:embed="rId4"/>
          <a:srcRect l="33667" t="16441" r="18866" b="34340"/>
          <a:stretch/>
        </p:blipFill>
        <p:spPr bwMode="auto">
          <a:xfrm>
            <a:off x="1932486" y="1817277"/>
            <a:ext cx="5787024" cy="2993719"/>
          </a:xfrm>
          <a:prstGeom prst="rect">
            <a:avLst/>
          </a:prstGeom>
        </p:spPr>
      </p:pic>
      <p:sp>
        <p:nvSpPr>
          <p:cNvPr id="661799471" name="Заголовок 1"/>
          <p:cNvSpPr txBox="1"/>
          <p:nvPr/>
        </p:nvSpPr>
        <p:spPr bwMode="auto">
          <a:xfrm flipH="0" flipV="0">
            <a:off x="-908197" y="190499"/>
            <a:ext cx="10515600" cy="1080293"/>
          </a:xfrm>
          <a:prstGeom prst="rect">
            <a:avLst/>
          </a:prstGeom>
        </p:spPr>
        <p:txBody>
          <a:bodyPr/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b="1"/>
              <a:t>Установка </a:t>
            </a:r>
            <a:r>
              <a:rPr lang="en-US" b="1"/>
              <a:t>Git</a:t>
            </a:r>
            <a:endParaRPr lang="ru-RU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853062" name="Заголовок 1"/>
          <p:cNvSpPr txBox="1"/>
          <p:nvPr/>
        </p:nvSpPr>
        <p:spPr bwMode="auto">
          <a:xfrm>
            <a:off x="-463549" y="364714"/>
            <a:ext cx="10515600" cy="1325562"/>
          </a:xfrm>
          <a:prstGeom prst="rect">
            <a:avLst/>
          </a:prstGeom>
        </p:spPr>
        <p:txBody>
          <a:bodyPr/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b="1"/>
              <a:t>Установка </a:t>
            </a:r>
            <a:r>
              <a:rPr lang="en-US" b="1"/>
              <a:t>Git</a:t>
            </a:r>
            <a:endParaRPr lang="ru-RU" b="1"/>
          </a:p>
        </p:txBody>
      </p:sp>
      <p:sp>
        <p:nvSpPr>
          <p:cNvPr id="435171615" name="Прямоугольник 2"/>
          <p:cNvSpPr/>
          <p:nvPr/>
        </p:nvSpPr>
        <p:spPr bwMode="auto">
          <a:xfrm>
            <a:off x="4384301" y="1512117"/>
            <a:ext cx="776378" cy="3051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Arial"/>
                <a:cs typeface="Arial"/>
              </a:rPr>
              <a:t>MacOS</a:t>
            </a:r>
            <a:endParaRPr lang="ru-RU">
              <a:latin typeface="Arial"/>
              <a:cs typeface="Arial"/>
            </a:endParaRPr>
          </a:p>
        </p:txBody>
      </p:sp>
      <p:sp>
        <p:nvSpPr>
          <p:cNvPr id="197579624" name="TextBox 3"/>
          <p:cNvSpPr txBox="1"/>
          <p:nvPr/>
        </p:nvSpPr>
        <p:spPr bwMode="auto">
          <a:xfrm flipH="0" flipV="0">
            <a:off x="690016" y="2047874"/>
            <a:ext cx="8208467" cy="265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>
                <a:latin typeface="Arial"/>
                <a:cs typeface="Arial"/>
              </a:rPr>
              <a:t>Открываем терминал и пишем</a:t>
            </a:r>
            <a:r>
              <a:rPr lang="en-US">
                <a:latin typeface="Arial"/>
                <a:cs typeface="Arial"/>
              </a:rPr>
              <a:t>:</a:t>
            </a:r>
            <a:endParaRPr/>
          </a:p>
          <a:p>
            <a:pPr algn="ctr">
              <a:defRPr/>
            </a:pPr>
            <a:endParaRPr lang="ru-RU">
              <a:latin typeface="Arial"/>
              <a:cs typeface="Arial"/>
            </a:endParaRPr>
          </a:p>
          <a:p>
            <a:pPr algn="ctr">
              <a:defRPr/>
            </a:pPr>
            <a:r>
              <a:rPr lang="ru-RU">
                <a:latin typeface="Arial"/>
                <a:cs typeface="Arial"/>
              </a:rPr>
              <a:t>Если установлен </a:t>
            </a:r>
            <a:r>
              <a:rPr lang="en-US">
                <a:latin typeface="Arial"/>
                <a:cs typeface="Arial"/>
              </a:rPr>
              <a:t>Homebrew</a:t>
            </a:r>
            <a:endParaRPr/>
          </a:p>
          <a:p>
            <a:pPr algn="ctr">
              <a:defRPr/>
            </a:pPr>
            <a:endParaRPr lang="en-US">
              <a:latin typeface="Arial"/>
              <a:cs typeface="Arial"/>
            </a:endParaRPr>
          </a:p>
          <a:p>
            <a:pPr algn="ctr">
              <a:defRPr/>
            </a:pPr>
            <a:endParaRPr lang="en-US">
              <a:latin typeface="Arial"/>
              <a:cs typeface="Arial"/>
            </a:endParaRPr>
          </a:p>
          <a:p>
            <a:pPr algn="ctr">
              <a:defRPr/>
            </a:pPr>
            <a:endParaRPr lang="ru-RU">
              <a:latin typeface="Arial"/>
              <a:cs typeface="Arial"/>
            </a:endParaRPr>
          </a:p>
          <a:p>
            <a:pPr algn="ctr">
              <a:defRPr/>
            </a:pPr>
            <a:r>
              <a:rPr lang="ru-RU">
                <a:latin typeface="Arial"/>
                <a:cs typeface="Arial"/>
              </a:rPr>
              <a:t>Если нет, </a:t>
            </a:r>
            <a:r>
              <a:rPr lang="ru-RU">
                <a:latin typeface="Arial"/>
                <a:cs typeface="Arial"/>
              </a:rPr>
              <a:t>то</a:t>
            </a:r>
            <a:endParaRPr lang="en-US">
              <a:latin typeface="Arial"/>
              <a:cs typeface="Arial"/>
            </a:endParaRPr>
          </a:p>
          <a:p>
            <a:pPr algn="ctr">
              <a:defRPr/>
            </a:pPr>
            <a:endParaRPr lang="en-US">
              <a:latin typeface="Arial"/>
              <a:cs typeface="Arial"/>
            </a:endParaRPr>
          </a:p>
          <a:p>
            <a:pPr algn="ctr">
              <a:defRPr/>
            </a:pPr>
            <a:endParaRPr lang="en-US">
              <a:latin typeface="Arial"/>
              <a:cs typeface="Arial"/>
            </a:endParaRPr>
          </a:p>
          <a:p>
            <a:pPr algn="ctr">
              <a:defRPr/>
            </a:pPr>
            <a:endParaRPr lang="ru-RU">
              <a:latin typeface="Arial"/>
              <a:cs typeface="Arial"/>
            </a:endParaRPr>
          </a:p>
          <a:p>
            <a:pPr algn="ctr">
              <a:defRPr/>
            </a:pPr>
            <a:r>
              <a:rPr lang="ru-RU">
                <a:latin typeface="Arial"/>
                <a:cs typeface="Arial"/>
              </a:rPr>
              <a:t>Появится окно, где предложат установить </a:t>
            </a:r>
            <a:r>
              <a:rPr lang="en-US">
                <a:latin typeface="Arial"/>
                <a:cs typeface="Arial"/>
              </a:rPr>
              <a:t>Command Line Tools (</a:t>
            </a:r>
            <a:r>
              <a:rPr lang="en-US">
                <a:latin typeface="Arial"/>
                <a:cs typeface="Arial"/>
              </a:rPr>
              <a:t>CLT). </a:t>
            </a:r>
            <a:r>
              <a:rPr lang="ru-RU">
                <a:latin typeface="Arial"/>
                <a:cs typeface="Arial"/>
              </a:rPr>
              <a:t>Соглашаемся </a:t>
            </a:r>
            <a:r>
              <a:rPr lang="ru-RU">
                <a:latin typeface="Arial"/>
                <a:cs typeface="Arial"/>
              </a:rPr>
              <a:t>и ждём установки. Вместе с </a:t>
            </a:r>
            <a:r>
              <a:rPr lang="en-US">
                <a:latin typeface="Arial"/>
                <a:cs typeface="Arial"/>
              </a:rPr>
              <a:t>CLT </a:t>
            </a:r>
            <a:r>
              <a:rPr lang="ru-RU">
                <a:latin typeface="Arial"/>
                <a:cs typeface="Arial"/>
              </a:rPr>
              <a:t>установится и </a:t>
            </a:r>
            <a:r>
              <a:rPr lang="en-US">
                <a:latin typeface="Arial"/>
                <a:cs typeface="Arial"/>
              </a:rPr>
              <a:t>git</a:t>
            </a:r>
            <a:endParaRPr lang="ru-RU">
              <a:latin typeface="Arial"/>
              <a:cs typeface="Arial"/>
            </a:endParaRPr>
          </a:p>
        </p:txBody>
      </p:sp>
      <p:sp>
        <p:nvSpPr>
          <p:cNvPr id="707677136" name="Прямоугольник 4"/>
          <p:cNvSpPr/>
          <p:nvPr/>
        </p:nvSpPr>
        <p:spPr bwMode="auto">
          <a:xfrm>
            <a:off x="4179463" y="2800096"/>
            <a:ext cx="1310111" cy="30515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/>
              <a:t>brew install </a:t>
            </a:r>
            <a:r>
              <a:rPr lang="en-US"/>
              <a:t>git</a:t>
            </a:r>
            <a:endParaRPr lang="ru-RU"/>
          </a:p>
        </p:txBody>
      </p:sp>
      <p:sp>
        <p:nvSpPr>
          <p:cNvPr id="1904667102" name="Прямоугольник 5"/>
          <p:cNvSpPr/>
          <p:nvPr/>
        </p:nvSpPr>
        <p:spPr bwMode="auto">
          <a:xfrm>
            <a:off x="4216316" y="3667494"/>
            <a:ext cx="1112348" cy="3051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/>
              <a:t>git</a:t>
            </a:r>
            <a:r>
              <a:rPr lang="en-US"/>
              <a:t> --version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445489" name="Прямоугольник 2"/>
          <p:cNvSpPr/>
          <p:nvPr/>
        </p:nvSpPr>
        <p:spPr bwMode="auto">
          <a:xfrm>
            <a:off x="4491532" y="1067617"/>
            <a:ext cx="608649" cy="3051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Arial"/>
                <a:cs typeface="Arial"/>
              </a:rPr>
              <a:t>Linux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557526084" name="Прямоугольник 4"/>
          <p:cNvSpPr/>
          <p:nvPr/>
        </p:nvSpPr>
        <p:spPr bwMode="auto">
          <a:xfrm>
            <a:off x="3992432" y="1809536"/>
            <a:ext cx="1606847" cy="30515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/>
              <a:t>sudo</a:t>
            </a:r>
            <a:r>
              <a:rPr lang="en-US"/>
              <a:t> apt install </a:t>
            </a:r>
            <a:r>
              <a:rPr lang="en-US"/>
              <a:t>git</a:t>
            </a:r>
            <a:endParaRPr lang="ru-RU"/>
          </a:p>
        </p:txBody>
      </p:sp>
      <p:sp>
        <p:nvSpPr>
          <p:cNvPr id="1588410470" name="Прямоугольник 5"/>
          <p:cNvSpPr/>
          <p:nvPr/>
        </p:nvSpPr>
        <p:spPr bwMode="auto">
          <a:xfrm>
            <a:off x="3933120" y="2800676"/>
            <a:ext cx="1695573" cy="3051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/>
              <a:t>sudo</a:t>
            </a:r>
            <a:r>
              <a:rPr lang="en-US"/>
              <a:t> yum install </a:t>
            </a:r>
            <a:r>
              <a:rPr lang="en-US"/>
              <a:t>git</a:t>
            </a:r>
            <a:endParaRPr lang="ru-RU"/>
          </a:p>
        </p:txBody>
      </p:sp>
      <p:sp>
        <p:nvSpPr>
          <p:cNvPr id="796599733" name="Заголовок 1"/>
          <p:cNvSpPr txBox="1"/>
          <p:nvPr/>
        </p:nvSpPr>
        <p:spPr bwMode="auto">
          <a:xfrm>
            <a:off x="-320674" y="47214"/>
            <a:ext cx="10515600" cy="1325562"/>
          </a:xfrm>
          <a:prstGeom prst="rect">
            <a:avLst/>
          </a:prstGeom>
        </p:spPr>
        <p:txBody>
          <a:bodyPr/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b="1"/>
              <a:t>Установка </a:t>
            </a:r>
            <a:r>
              <a:rPr lang="en-US" b="1"/>
              <a:t>Git</a:t>
            </a:r>
            <a:endParaRPr lang="ru-RU" b="1"/>
          </a:p>
        </p:txBody>
      </p:sp>
      <p:sp>
        <p:nvSpPr>
          <p:cNvPr id="1381624023" name="TextBox 3"/>
          <p:cNvSpPr txBox="1"/>
          <p:nvPr/>
        </p:nvSpPr>
        <p:spPr bwMode="auto">
          <a:xfrm>
            <a:off x="-462121" y="1428716"/>
            <a:ext cx="10519198" cy="2438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>
                <a:latin typeface="Arial"/>
                <a:cs typeface="Arial"/>
              </a:rPr>
              <a:t>Debian</a:t>
            </a:r>
            <a:r>
              <a:rPr lang="en-US">
                <a:latin typeface="Arial"/>
                <a:cs typeface="Arial"/>
              </a:rPr>
              <a:t> </a:t>
            </a:r>
            <a:r>
              <a:rPr lang="ru-RU">
                <a:latin typeface="Arial"/>
                <a:cs typeface="Arial"/>
              </a:rPr>
              <a:t>или </a:t>
            </a:r>
            <a:r>
              <a:rPr lang="en-US">
                <a:latin typeface="Arial"/>
                <a:cs typeface="Arial"/>
              </a:rPr>
              <a:t>Ubuntu</a:t>
            </a:r>
            <a:br>
              <a:rPr lang="en-US">
                <a:latin typeface="Arial"/>
                <a:cs typeface="Arial"/>
              </a:rPr>
            </a:br>
            <a:br>
              <a:rPr lang="en-US">
                <a:latin typeface="Arial"/>
                <a:cs typeface="Arial"/>
              </a:rPr>
            </a:br>
            <a:br>
              <a:rPr lang="en-US">
                <a:latin typeface="Arial"/>
                <a:cs typeface="Arial"/>
              </a:rPr>
            </a:br>
            <a:br>
              <a:rPr lang="en-US">
                <a:latin typeface="Arial"/>
                <a:cs typeface="Arial"/>
              </a:rPr>
            </a:br>
            <a:r>
              <a:rPr lang="en-US">
                <a:latin typeface="Arial"/>
                <a:cs typeface="Arial"/>
              </a:rPr>
              <a:t>CentOS</a:t>
            </a:r>
            <a:endParaRPr lang="ru-RU">
              <a:latin typeface="Arial"/>
              <a:cs typeface="Arial"/>
            </a:endParaRPr>
          </a:p>
          <a:p>
            <a:pPr algn="ctr">
              <a:defRPr/>
            </a:pPr>
            <a:endParaRPr lang="ru-RU">
              <a:latin typeface="Arial"/>
              <a:cs typeface="Arial"/>
            </a:endParaRPr>
          </a:p>
          <a:p>
            <a:pPr algn="ctr">
              <a:defRPr/>
            </a:pPr>
            <a:endParaRPr lang="ru-RU">
              <a:latin typeface="Arial"/>
              <a:cs typeface="Arial"/>
            </a:endParaRPr>
          </a:p>
          <a:p>
            <a:pPr algn="ctr">
              <a:defRPr/>
            </a:pPr>
            <a:endParaRPr lang="ru-RU">
              <a:latin typeface="Arial"/>
              <a:cs typeface="Arial"/>
            </a:endParaRPr>
          </a:p>
          <a:p>
            <a:pPr algn="ctr">
              <a:defRPr/>
            </a:pPr>
            <a:endParaRPr lang="ru-RU">
              <a:latin typeface="Arial"/>
              <a:cs typeface="Arial"/>
            </a:endParaRPr>
          </a:p>
          <a:p>
            <a:pPr algn="ctr">
              <a:defRPr/>
            </a:pPr>
            <a:r>
              <a:rPr lang="en-US">
                <a:latin typeface="Arial"/>
                <a:cs typeface="Arial"/>
              </a:rPr>
              <a:t>Arch</a:t>
            </a:r>
            <a:endParaRPr lang="ru-RU">
              <a:latin typeface="Arial"/>
              <a:cs typeface="Arial"/>
            </a:endParaRPr>
          </a:p>
          <a:p>
            <a:pPr algn="ctr"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2440498" name="Прямоугольник 5"/>
          <p:cNvSpPr/>
          <p:nvPr/>
        </p:nvSpPr>
        <p:spPr bwMode="auto">
          <a:xfrm>
            <a:off x="3933120" y="3905575"/>
            <a:ext cx="1715458" cy="3051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/>
              <a:t>sudo pacman -S git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923185" name="Google Shape;144;p18"/>
          <p:cNvSpPr txBox="1"/>
          <p:nvPr/>
        </p:nvSpPr>
        <p:spPr bwMode="auto">
          <a:xfrm>
            <a:off x="352600" y="608750"/>
            <a:ext cx="7681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  <a:t>Регистрация и вход в аккаунт</a:t>
            </a:r>
            <a:endParaRPr sz="3000" b="1">
              <a:solidFill>
                <a:srgbClr val="1A2028"/>
              </a:solidFill>
              <a:latin typeface="Montserrat Alternates"/>
              <a:ea typeface="Montserrat Alternates"/>
              <a:cs typeface="Montserrat Alternates"/>
            </a:endParaRPr>
          </a:p>
        </p:txBody>
      </p:sp>
      <p:sp>
        <p:nvSpPr>
          <p:cNvPr id="681612103" name="Google Shape;145;p18"/>
          <p:cNvSpPr txBox="1"/>
          <p:nvPr/>
        </p:nvSpPr>
        <p:spPr bwMode="auto">
          <a:xfrm>
            <a:off x="352600" y="1406050"/>
            <a:ext cx="86271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➔"/>
              <a:defRPr/>
            </a:pPr>
            <a:r>
              <a:rPr lang="ru" sz="1300">
                <a:solidFill>
                  <a:schemeClr val="dk1"/>
                </a:solidFill>
              </a:rPr>
              <a:t>Для регистрации нажмите Sign up и следуйте пошаговой инструкции.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➔"/>
              <a:defRPr/>
            </a:pPr>
            <a:r>
              <a:rPr lang="ru" sz="1300">
                <a:solidFill>
                  <a:schemeClr val="dk1"/>
                </a:solidFill>
              </a:rPr>
              <a:t>Для входа используйте Sign in и введите свои логин и пароль.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2095746477" name="Google Shape;146;p18"/>
          <p:cNvPicPr/>
          <p:nvPr/>
        </p:nvPicPr>
        <p:blipFill rotWithShape="1">
          <a:blip r:embed="rId3">
            <a:alphaModFix/>
          </a:blip>
          <a:srcRect l="22197" t="0" r="0" b="52498"/>
          <a:stretch/>
        </p:blipFill>
        <p:spPr bwMode="auto">
          <a:xfrm rot="-5400000">
            <a:off x="6472950" y="2472451"/>
            <a:ext cx="3316900" cy="202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3498387" name="Google Shape;147;p18"/>
          <p:cNvPicPr/>
          <p:nvPr/>
        </p:nvPicPr>
        <p:blipFill rotWithShape="1">
          <a:blip r:embed="rId4">
            <a:alphaModFix/>
          </a:blip>
          <a:srcRect l="0" t="69" r="0" b="69"/>
          <a:stretch/>
        </p:blipFill>
        <p:spPr bwMode="auto">
          <a:xfrm>
            <a:off x="1339837" y="2754625"/>
            <a:ext cx="6464325" cy="146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308191" name="Google Shape;152;p19"/>
          <p:cNvSpPr txBox="1"/>
          <p:nvPr/>
        </p:nvSpPr>
        <p:spPr bwMode="auto">
          <a:xfrm>
            <a:off x="336500" y="1306747"/>
            <a:ext cx="5490600" cy="1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  <a:t>Создание </a:t>
            </a:r>
            <a:b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</a:br>
            <a: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  <a:t>репозитория</a:t>
            </a:r>
            <a:endParaRPr sz="3000" b="1">
              <a:solidFill>
                <a:srgbClr val="1A2028"/>
              </a:solidFill>
              <a:latin typeface="Montserrat Alternates"/>
              <a:ea typeface="Montserrat Alternates"/>
              <a:cs typeface="Montserrat Alternates"/>
            </a:endParaRPr>
          </a:p>
        </p:txBody>
      </p:sp>
      <p:sp>
        <p:nvSpPr>
          <p:cNvPr id="1780035605" name="Google Shape;153;p19"/>
          <p:cNvSpPr txBox="1"/>
          <p:nvPr/>
        </p:nvSpPr>
        <p:spPr bwMode="auto">
          <a:xfrm>
            <a:off x="336500" y="2551569"/>
            <a:ext cx="4169700" cy="12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➔"/>
              <a:defRPr/>
            </a:pPr>
            <a:r>
              <a:rPr lang="ru" sz="1300">
                <a:solidFill>
                  <a:schemeClr val="dk1"/>
                </a:solidFill>
              </a:rPr>
              <a:t>Для создания репозитория нажмите на «+» </a:t>
            </a:r>
            <a:br>
              <a:rPr lang="ru" sz="1300">
                <a:solidFill>
                  <a:schemeClr val="dk1"/>
                </a:solidFill>
              </a:rPr>
            </a:br>
            <a:r>
              <a:rPr lang="ru" sz="1300">
                <a:solidFill>
                  <a:schemeClr val="dk1"/>
                </a:solidFill>
              </a:rPr>
              <a:t>в правом верхнем углу и выберете </a:t>
            </a:r>
            <a:br>
              <a:rPr lang="ru" sz="1300">
                <a:solidFill>
                  <a:schemeClr val="dk1"/>
                </a:solidFill>
              </a:rPr>
            </a:br>
            <a:r>
              <a:rPr lang="ru" sz="1300">
                <a:solidFill>
                  <a:schemeClr val="dk1"/>
                </a:solidFill>
              </a:rPr>
              <a:t>«New repository».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300">
              <a:solidFill>
                <a:schemeClr val="dk1"/>
              </a:solidFill>
            </a:endParaRPr>
          </a:p>
        </p:txBody>
      </p:sp>
      <p:pic>
        <p:nvPicPr>
          <p:cNvPr id="477514083" name="Google Shape;154;p19"/>
          <p:cNvPicPr/>
          <p:nvPr/>
        </p:nvPicPr>
        <p:blipFill rotWithShape="1">
          <a:blip r:embed="rId3">
            <a:alphaModFix/>
          </a:blip>
          <a:srcRect l="-849" t="-51" r="9533" b="57488"/>
          <a:stretch/>
        </p:blipFill>
        <p:spPr bwMode="auto">
          <a:xfrm rot="10800000" flipH="1">
            <a:off x="5391039" y="-11"/>
            <a:ext cx="3752950" cy="174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0814529" name="Google Shape;155;p19"/>
          <p:cNvPicPr/>
          <p:nvPr/>
        </p:nvPicPr>
        <p:blipFill rotWithShape="1">
          <a:blip r:embed="rId4">
            <a:alphaModFix/>
          </a:blip>
          <a:srcRect l="0" t="39" r="0" b="39"/>
          <a:stretch/>
        </p:blipFill>
        <p:spPr bwMode="auto">
          <a:xfrm>
            <a:off x="5668400" y="1271175"/>
            <a:ext cx="2992900" cy="260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5363674" name="Google Shape;160;p20"/>
          <p:cNvPicPr/>
          <p:nvPr/>
        </p:nvPicPr>
        <p:blipFill rotWithShape="1">
          <a:blip r:embed="rId3">
            <a:alphaModFix/>
          </a:blip>
          <a:srcRect l="22197" t="0" r="0" b="52498"/>
          <a:stretch/>
        </p:blipFill>
        <p:spPr bwMode="auto">
          <a:xfrm flipH="1">
            <a:off x="5827100" y="3118301"/>
            <a:ext cx="3316900" cy="202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635357" name="Google Shape;161;p20"/>
          <p:cNvSpPr txBox="1"/>
          <p:nvPr/>
        </p:nvSpPr>
        <p:spPr bwMode="auto">
          <a:xfrm>
            <a:off x="354450" y="2191425"/>
            <a:ext cx="4160400" cy="20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➔"/>
              <a:defRPr/>
            </a:pPr>
            <a:r>
              <a:rPr lang="ru" sz="1300">
                <a:solidFill>
                  <a:schemeClr val="dk1"/>
                </a:solidFill>
              </a:rPr>
              <a:t>Репозиторий может быть открытым и тогда доступ к нему может получить любой имеющий на него ссылку.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300"/>
              <a:buChar char="➔"/>
              <a:defRPr/>
            </a:pPr>
            <a:r>
              <a:rPr lang="ru" sz="1300">
                <a:solidFill>
                  <a:schemeClr val="dk1"/>
                </a:solidFill>
              </a:rPr>
              <a:t>Репозиторий может быть закрытым и в этом случае вы определяете кто может получить </a:t>
            </a:r>
            <a:br>
              <a:rPr lang="ru" sz="1300">
                <a:solidFill>
                  <a:schemeClr val="dk1"/>
                </a:solidFill>
              </a:rPr>
            </a:br>
            <a:r>
              <a:rPr lang="ru" sz="1300">
                <a:solidFill>
                  <a:schemeClr val="dk1"/>
                </a:solidFill>
              </a:rPr>
              <a:t>к нему доступ.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385838002" name="Google Shape;162;p20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5730175" y="1026393"/>
            <a:ext cx="2904725" cy="3090714"/>
          </a:xfrm>
          <a:prstGeom prst="rect">
            <a:avLst/>
          </a:prstGeom>
          <a:noFill/>
          <a:ln>
            <a:noFill/>
          </a:ln>
        </p:spPr>
      </p:pic>
      <p:sp>
        <p:nvSpPr>
          <p:cNvPr id="595141087" name="Google Shape;163;p20"/>
          <p:cNvSpPr txBox="1"/>
          <p:nvPr/>
        </p:nvSpPr>
        <p:spPr bwMode="auto">
          <a:xfrm>
            <a:off x="311450" y="912661"/>
            <a:ext cx="5490600" cy="1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  <a:t>Создание </a:t>
            </a:r>
            <a:b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</a:br>
            <a: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  <a:t>репозитория</a:t>
            </a:r>
            <a:endParaRPr sz="3000" b="1">
              <a:solidFill>
                <a:srgbClr val="1A2028"/>
              </a:solidFill>
              <a:latin typeface="Montserrat Alternates"/>
              <a:ea typeface="Montserrat Alternates"/>
              <a:cs typeface="Montserrat Alternate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0613887" name="Google Shape;168;p21"/>
          <p:cNvPicPr/>
          <p:nvPr/>
        </p:nvPicPr>
        <p:blipFill rotWithShape="1">
          <a:blip r:embed="rId3">
            <a:alphaModFix/>
          </a:blip>
          <a:srcRect l="-849" t="-51" r="9533" b="57488"/>
          <a:stretch/>
        </p:blipFill>
        <p:spPr bwMode="auto">
          <a:xfrm rot="5400000">
            <a:off x="-1001886" y="1740839"/>
            <a:ext cx="3752950" cy="174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2170283" name="Google Shape;169;p21"/>
          <p:cNvSpPr txBox="1"/>
          <p:nvPr/>
        </p:nvSpPr>
        <p:spPr bwMode="auto">
          <a:xfrm>
            <a:off x="343550" y="1430725"/>
            <a:ext cx="6762899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  <a:t>Клонирование </a:t>
            </a:r>
            <a:b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</a:br>
            <a: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  <a:t>репозитория</a:t>
            </a:r>
            <a:endParaRPr sz="3000" b="1">
              <a:solidFill>
                <a:srgbClr val="1A2028"/>
              </a:solidFill>
              <a:latin typeface="Montserrat Alternates"/>
              <a:ea typeface="Montserrat Alternates"/>
              <a:cs typeface="Montserrat Alternates"/>
            </a:endParaRPr>
          </a:p>
        </p:txBody>
      </p:sp>
      <p:sp>
        <p:nvSpPr>
          <p:cNvPr id="1670433638" name="Google Shape;170;p21"/>
          <p:cNvSpPr txBox="1"/>
          <p:nvPr/>
        </p:nvSpPr>
        <p:spPr bwMode="auto">
          <a:xfrm>
            <a:off x="343550" y="2727575"/>
            <a:ext cx="42285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➔"/>
              <a:defRPr/>
            </a:pPr>
            <a:r>
              <a:rPr lang="ru" sz="1300">
                <a:solidFill>
                  <a:schemeClr val="dk1"/>
                </a:solidFill>
              </a:rPr>
              <a:t>Репозиторий можно клонировать на свой компьютер. Для этого выберите способ (HTTPS или SSH) и скопируйте ссылку. </a:t>
            </a:r>
            <a:endParaRPr sz="1300">
              <a:solidFill>
                <a:srgbClr val="24292E"/>
              </a:solidFill>
            </a:endParaRPr>
          </a:p>
        </p:txBody>
      </p:sp>
      <p:pic>
        <p:nvPicPr>
          <p:cNvPr id="1632929485" name="Google Shape;171;p21"/>
          <p:cNvPicPr/>
          <p:nvPr/>
        </p:nvPicPr>
        <p:blipFill rotWithShape="1">
          <a:blip r:embed="rId4">
            <a:alphaModFix/>
          </a:blip>
          <a:srcRect l="0" t="69" r="0" b="78"/>
          <a:stretch/>
        </p:blipFill>
        <p:spPr bwMode="auto">
          <a:xfrm>
            <a:off x="5625875" y="1118850"/>
            <a:ext cx="3029850" cy="290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737210" name="Google Shape;198;p24"/>
          <p:cNvSpPr txBox="1"/>
          <p:nvPr/>
        </p:nvSpPr>
        <p:spPr bwMode="auto">
          <a:xfrm>
            <a:off x="352600" y="608750"/>
            <a:ext cx="81432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  <a:t>SSH-ключи</a:t>
            </a:r>
            <a:endParaRPr sz="3000" b="1">
              <a:solidFill>
                <a:srgbClr val="1A2028"/>
              </a:solidFill>
              <a:latin typeface="Montserrat Alternates"/>
              <a:ea typeface="Montserrat Alternates"/>
              <a:cs typeface="Montserrat Alternates"/>
            </a:endParaRPr>
          </a:p>
        </p:txBody>
      </p:sp>
      <p:sp>
        <p:nvSpPr>
          <p:cNvPr id="665430231" name="Google Shape;199;p24"/>
          <p:cNvSpPr txBox="1"/>
          <p:nvPr/>
        </p:nvSpPr>
        <p:spPr bwMode="auto">
          <a:xfrm>
            <a:off x="352600" y="1350000"/>
            <a:ext cx="86409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➔"/>
              <a:defRPr/>
            </a:pPr>
            <a:r>
              <a:rPr lang="ru" sz="1300">
                <a:solidFill>
                  <a:schemeClr val="dk1"/>
                </a:solidFill>
              </a:rPr>
              <a:t>Для работы с репозиторием иногда требуется создать ssh-ключ. Для этого нажмите на иконку своего профиля в правом верхнем углу и выберите пункт настройки (Settings). Затем в меню слева выберите пункт «SSH and GPG keys» и нажмите «New ssh key». 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182571605" name="Google Shape;200;p24"/>
          <p:cNvPicPr/>
          <p:nvPr/>
        </p:nvPicPr>
        <p:blipFill rotWithShape="1">
          <a:blip r:embed="rId3">
            <a:alphaModFix/>
          </a:blip>
          <a:srcRect l="0" t="129" r="0" b="138"/>
          <a:stretch/>
        </p:blipFill>
        <p:spPr bwMode="auto">
          <a:xfrm>
            <a:off x="450000" y="2745425"/>
            <a:ext cx="5191152" cy="188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157376" name="Google Shape;201;p24"/>
          <p:cNvPicPr/>
          <p:nvPr/>
        </p:nvPicPr>
        <p:blipFill rotWithShape="1">
          <a:blip r:embed="rId4">
            <a:alphaModFix/>
          </a:blip>
          <a:srcRect l="22197" t="0" r="0" b="52498"/>
          <a:stretch/>
        </p:blipFill>
        <p:spPr bwMode="auto">
          <a:xfrm rot="-5400000">
            <a:off x="6472950" y="2472451"/>
            <a:ext cx="3316900" cy="202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44282286" name="Google Shape;206;p25"/>
          <p:cNvPicPr/>
          <p:nvPr/>
        </p:nvPicPr>
        <p:blipFill rotWithShape="1">
          <a:blip r:embed="rId3">
            <a:alphaModFix/>
          </a:blip>
          <a:srcRect l="-849" t="-51" r="9533" b="57488"/>
          <a:stretch/>
        </p:blipFill>
        <p:spPr bwMode="auto">
          <a:xfrm rot="5400000">
            <a:off x="-1001886" y="1740839"/>
            <a:ext cx="3752950" cy="174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7309976" name="Google Shape;207;p25"/>
          <p:cNvSpPr txBox="1"/>
          <p:nvPr/>
        </p:nvSpPr>
        <p:spPr bwMode="auto">
          <a:xfrm>
            <a:off x="352600" y="1734188"/>
            <a:ext cx="81432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  <a:t>SSH-ключи</a:t>
            </a:r>
            <a:endParaRPr sz="3000" b="1">
              <a:solidFill>
                <a:srgbClr val="1A2028"/>
              </a:solidFill>
              <a:latin typeface="Montserrat Alternates"/>
              <a:ea typeface="Montserrat Alternates"/>
              <a:cs typeface="Montserrat Alternates"/>
            </a:endParaRPr>
          </a:p>
        </p:txBody>
      </p:sp>
      <p:sp>
        <p:nvSpPr>
          <p:cNvPr id="613962219" name="Google Shape;208;p25"/>
          <p:cNvSpPr txBox="1"/>
          <p:nvPr/>
        </p:nvSpPr>
        <p:spPr bwMode="auto">
          <a:xfrm>
            <a:off x="352599" y="2619161"/>
            <a:ext cx="4153860" cy="777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➔"/>
              <a:defRPr/>
            </a:pPr>
            <a:r>
              <a:rPr lang="ru" sz="1300">
                <a:solidFill>
                  <a:schemeClr val="dk1"/>
                </a:solidFill>
              </a:rPr>
              <a:t>Подробная инструкция по генерации ключей находится по </a:t>
            </a:r>
            <a:r>
              <a:rPr lang="ru" sz="1300" u="sng">
                <a:solidFill>
                  <a:schemeClr val="hlink"/>
                </a:solidFill>
                <a:hlinkClick r:id="rId4" tooltip=""/>
              </a:rPr>
              <a:t>ссылке</a:t>
            </a:r>
            <a:endParaRPr sz="1300">
              <a:solidFill>
                <a:srgbClr val="0AB8B6"/>
              </a:solidFill>
            </a:endParaRPr>
          </a:p>
        </p:txBody>
      </p:sp>
      <p:pic>
        <p:nvPicPr>
          <p:cNvPr id="580040596" name="Google Shape;209;p25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5490000" y="1497810"/>
            <a:ext cx="3330001" cy="2147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085715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2571750" y="2920999"/>
            <a:ext cx="2049499" cy="20734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4164149" name="Рисунок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92485" y="1450974"/>
            <a:ext cx="6054513" cy="3152005"/>
          </a:xfrm>
          <a:prstGeom prst="rect">
            <a:avLst/>
          </a:prstGeom>
        </p:spPr>
      </p:pic>
      <p:sp>
        <p:nvSpPr>
          <p:cNvPr id="1728040949" name="Заголовок 1"/>
          <p:cNvSpPr txBox="1"/>
          <p:nvPr/>
        </p:nvSpPr>
        <p:spPr bwMode="auto">
          <a:xfrm>
            <a:off x="-463549" y="608012"/>
            <a:ext cx="10515600" cy="1325562"/>
          </a:xfrm>
          <a:prstGeom prst="rect">
            <a:avLst/>
          </a:prstGeom>
        </p:spPr>
        <p:txBody>
          <a:bodyPr/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2800" b="1"/>
              <a:t>Скачивание существующих </a:t>
            </a:r>
            <a:r>
              <a:rPr lang="ru-RU" sz="2800" b="1"/>
              <a:t>репозиториев</a:t>
            </a:r>
            <a:endParaRPr lang="ru-RU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717274" name="Прямоугольник 1"/>
          <p:cNvSpPr/>
          <p:nvPr/>
        </p:nvSpPr>
        <p:spPr bwMode="auto">
          <a:xfrm>
            <a:off x="3212832" y="1341564"/>
            <a:ext cx="2927663" cy="3051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/>
              <a:t>git</a:t>
            </a:r>
            <a:r>
              <a:rPr lang="en-US"/>
              <a:t> clone </a:t>
            </a:r>
            <a:r>
              <a:rPr lang="ru-RU"/>
              <a:t>ссылка_на_репозиторий</a:t>
            </a:r>
            <a:endParaRPr lang="ru-RU"/>
          </a:p>
        </p:txBody>
      </p:sp>
      <p:sp>
        <p:nvSpPr>
          <p:cNvPr id="786772045" name="Прямоугольник 2"/>
          <p:cNvSpPr/>
          <p:nvPr/>
        </p:nvSpPr>
        <p:spPr bwMode="auto">
          <a:xfrm>
            <a:off x="1650998" y="2152468"/>
            <a:ext cx="6732438" cy="17986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D:\&gt;git clone </a:t>
            </a: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https://github.com/IDashkin/introductionToGithub</a:t>
            </a:r>
            <a:endParaRPr/>
          </a:p>
          <a:p>
            <a:pPr>
              <a:defRPr/>
            </a:pPr>
            <a:r>
              <a:rPr lang="en-US"/>
              <a:t>Cloning into '</a:t>
            </a: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introductionToGithub</a:t>
            </a:r>
            <a:r>
              <a:rPr lang="en-US"/>
              <a:t>'...</a:t>
            </a:r>
            <a:endParaRPr/>
          </a:p>
          <a:p>
            <a:pPr>
              <a:defRPr/>
            </a:pPr>
            <a:r>
              <a:rPr lang="en-US"/>
              <a:t>remote: Enumerating objects: 143, done.</a:t>
            </a:r>
            <a:endParaRPr/>
          </a:p>
          <a:p>
            <a:pPr>
              <a:defRPr/>
            </a:pPr>
            <a:r>
              <a:rPr lang="en-US"/>
              <a:t>remote: Counting objects: 100% (143/143), done.</a:t>
            </a:r>
            <a:endParaRPr/>
          </a:p>
          <a:p>
            <a:pPr>
              <a:defRPr/>
            </a:pPr>
            <a:r>
              <a:rPr lang="en-US"/>
              <a:t>remote: Compressing objects: 100% (95/95), done.</a:t>
            </a:r>
            <a:endParaRPr/>
          </a:p>
          <a:p>
            <a:pPr>
              <a:defRPr/>
            </a:pPr>
            <a:r>
              <a:rPr lang="en-US"/>
              <a:t>remote: Total 143 (delta 52), reused 84 (delta 26), pack-reused 0</a:t>
            </a:r>
            <a:endParaRPr/>
          </a:p>
          <a:p>
            <a:pPr>
              <a:defRPr/>
            </a:pPr>
            <a:r>
              <a:rPr lang="en-US"/>
              <a:t>Receiving objects: 100% (143/143), 9.30 </a:t>
            </a:r>
            <a:r>
              <a:rPr lang="en-US"/>
              <a:t>MiB</a:t>
            </a:r>
            <a:r>
              <a:rPr lang="en-US"/>
              <a:t> | 9.05 </a:t>
            </a:r>
            <a:r>
              <a:rPr lang="en-US"/>
              <a:t>MiB</a:t>
            </a:r>
            <a:r>
              <a:rPr lang="en-US"/>
              <a:t>/s, done.</a:t>
            </a:r>
            <a:endParaRPr/>
          </a:p>
          <a:p>
            <a:pPr>
              <a:defRPr/>
            </a:pPr>
            <a:r>
              <a:rPr lang="en-US"/>
              <a:t>Resolving deltas: 100% (52/52), done.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5783483" name=""/>
          <p:cNvSpPr txBox="1"/>
          <p:nvPr/>
        </p:nvSpPr>
        <p:spPr bwMode="auto">
          <a:xfrm rot="0" flipH="0" flipV="0">
            <a:off x="1306981" y="1089276"/>
            <a:ext cx="6262204" cy="3505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600"/>
              <a:t>git init = инициализировать проект для использования git</a:t>
            </a:r>
            <a:endParaRPr sz="1600"/>
          </a:p>
          <a:p>
            <a:pPr algn="l">
              <a:defRPr/>
            </a:pPr>
            <a:r>
              <a:rPr sz="1600"/>
              <a:t>git add . = добавить все изменения для сохранения</a:t>
            </a:r>
            <a:endParaRPr sz="1600"/>
          </a:p>
          <a:p>
            <a:pPr algn="l">
              <a:defRPr/>
            </a:pPr>
            <a:r>
              <a:rPr sz="1600"/>
              <a:t>git add *filename* = добавить один файл для сохранения</a:t>
            </a:r>
            <a:endParaRPr sz="1600"/>
          </a:p>
          <a:p>
            <a:pPr algn="l">
              <a:defRPr/>
            </a:pPr>
            <a:r>
              <a:rPr sz="1600"/>
              <a:t>git commit -m "message" = сохранить изменения с сообщением</a:t>
            </a:r>
            <a:endParaRPr sz="1600"/>
          </a:p>
          <a:p>
            <a:pPr algn="l">
              <a:defRPr/>
            </a:pPr>
            <a:r>
              <a:rPr sz="1600"/>
              <a:t>git push origin master = отправить изменения в GitHub (ветка master)</a:t>
            </a:r>
            <a:endParaRPr sz="1600"/>
          </a:p>
          <a:p>
            <a:pPr algn="l">
              <a:defRPr/>
            </a:pPr>
            <a:r>
              <a:rPr sz="1600"/>
              <a:t>git push origin new-branch = отправить изменения в GitHub (ветка new-branch)</a:t>
            </a:r>
            <a:endParaRPr sz="1600"/>
          </a:p>
          <a:p>
            <a:pPr algn="l">
              <a:defRPr/>
            </a:pPr>
            <a:r>
              <a:rPr sz="1600"/>
              <a:t>git pull origin master = получить изменения из GitHub (ветка master)</a:t>
            </a:r>
            <a:endParaRPr sz="1600"/>
          </a:p>
          <a:p>
            <a:pPr algn="l">
              <a:defRPr/>
            </a:pPr>
            <a:r>
              <a:rPr sz="1600"/>
              <a:t>git checkout -b new-branch = создать новую ветку</a:t>
            </a:r>
            <a:endParaRPr sz="1600"/>
          </a:p>
          <a:p>
            <a:pPr algn="l">
              <a:defRPr/>
            </a:pPr>
            <a:r>
              <a:rPr sz="1600"/>
              <a:t>git status = проверить статус изменений</a:t>
            </a:r>
            <a:endParaRPr sz="1600"/>
          </a:p>
          <a:p>
            <a:pPr algn="l">
              <a:defRPr/>
            </a:pPr>
            <a:r>
              <a:rPr sz="1600"/>
              <a:t>git log = посмотреть все предыдущие сохранения (коммиты)</a:t>
            </a:r>
            <a:endParaRPr sz="1600"/>
          </a:p>
          <a:p>
            <a:pPr algn="l">
              <a:defRPr/>
            </a:pPr>
            <a:r>
              <a:rPr sz="1600"/>
              <a:t>git checkout *commit hash* = перейти к старому коммиту</a:t>
            </a:r>
            <a:endParaRPr sz="1600"/>
          </a:p>
        </p:txBody>
      </p:sp>
      <p:sp>
        <p:nvSpPr>
          <p:cNvPr id="108388444" name="Заголовок 1"/>
          <p:cNvSpPr txBox="1"/>
          <p:nvPr/>
        </p:nvSpPr>
        <p:spPr bwMode="auto">
          <a:xfrm>
            <a:off x="-563337" y="-54768"/>
            <a:ext cx="10515600" cy="1325561"/>
          </a:xfrm>
          <a:prstGeom prst="rect">
            <a:avLst/>
          </a:prstGeom>
        </p:spPr>
        <p:txBody>
          <a:bodyPr anchor="ctr"/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600" b="1"/>
              <a:t>Шпаргалка полезных команд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5374452" name="Google Shape;226;p27"/>
          <p:cNvPicPr/>
          <p:nvPr/>
        </p:nvPicPr>
        <p:blipFill rotWithShape="1">
          <a:blip r:embed="rId3">
            <a:alphaModFix/>
          </a:blip>
          <a:srcRect l="-849" t="-51" r="9533" b="57488"/>
          <a:stretch/>
        </p:blipFill>
        <p:spPr bwMode="auto">
          <a:xfrm rot="-5400000">
            <a:off x="6392938" y="2392439"/>
            <a:ext cx="3752950" cy="1749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9721865" name="Google Shape;227;p27"/>
          <p:cNvSpPr txBox="1"/>
          <p:nvPr/>
        </p:nvSpPr>
        <p:spPr bwMode="auto">
          <a:xfrm>
            <a:off x="352600" y="608750"/>
            <a:ext cx="81432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  <a:t>Создание Pull request</a:t>
            </a:r>
            <a:endParaRPr sz="3000" b="1">
              <a:solidFill>
                <a:srgbClr val="1A2028"/>
              </a:solidFill>
              <a:latin typeface="Montserrat Alternates"/>
              <a:ea typeface="Montserrat Alternates"/>
              <a:cs typeface="Montserrat Alternates"/>
            </a:endParaRPr>
          </a:p>
        </p:txBody>
      </p:sp>
      <p:sp>
        <p:nvSpPr>
          <p:cNvPr id="380663081" name="Google Shape;228;p27"/>
          <p:cNvSpPr txBox="1"/>
          <p:nvPr/>
        </p:nvSpPr>
        <p:spPr bwMode="auto">
          <a:xfrm>
            <a:off x="352600" y="1350000"/>
            <a:ext cx="86409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➔"/>
              <a:defRPr/>
            </a:pPr>
            <a:r>
              <a:rPr lang="ru" sz="1300">
                <a:solidFill>
                  <a:schemeClr val="dk1"/>
                </a:solidFill>
              </a:rPr>
              <a:t>Когда вы добавляете изменения в ка</a:t>
            </a:r>
            <a:r>
              <a:rPr lang="ru" sz="1300">
                <a:solidFill>
                  <a:schemeClr val="dk1"/>
                </a:solidFill>
              </a:rPr>
              <a:t>к</a:t>
            </a:r>
            <a:r>
              <a:rPr lang="ru" sz="1300">
                <a:solidFill>
                  <a:schemeClr val="dk1"/>
                </a:solidFill>
              </a:rPr>
              <a:t>ую-то ветку чаще всего появляется всплывающее окно с предложением сравнить ветки создать Pull request.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300"/>
              <a:buChar char="➔"/>
              <a:defRPr/>
            </a:pPr>
            <a:r>
              <a:rPr lang="ru" sz="1300">
                <a:solidFill>
                  <a:schemeClr val="dk1"/>
                </a:solidFill>
              </a:rPr>
              <a:t>Другой способ создать Pull request — на вкладке Pull requests нажать на кнопку «New pull request». 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273808457" name="Google Shape;229;p27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34600" y="3089962"/>
            <a:ext cx="8143200" cy="136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65524239" name="Google Shape;234;p28"/>
          <p:cNvPicPr/>
          <p:nvPr/>
        </p:nvPicPr>
        <p:blipFill rotWithShape="1">
          <a:blip r:embed="rId3">
            <a:alphaModFix/>
          </a:blip>
          <a:srcRect l="22197" t="0" r="0" b="52498"/>
          <a:stretch/>
        </p:blipFill>
        <p:spPr bwMode="auto">
          <a:xfrm flipH="1">
            <a:off x="5827100" y="3118301"/>
            <a:ext cx="3316900" cy="2025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933225" name="Google Shape;235;p28"/>
          <p:cNvSpPr txBox="1"/>
          <p:nvPr/>
        </p:nvSpPr>
        <p:spPr bwMode="auto">
          <a:xfrm>
            <a:off x="352600" y="608750"/>
            <a:ext cx="81432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  <a:t>Создание Pull request</a:t>
            </a:r>
            <a:endParaRPr sz="3000" b="1">
              <a:solidFill>
                <a:srgbClr val="1A2028"/>
              </a:solidFill>
              <a:latin typeface="Montserrat Alternates"/>
              <a:ea typeface="Montserrat Alternates"/>
              <a:cs typeface="Montserrat Alternates"/>
            </a:endParaRPr>
          </a:p>
        </p:txBody>
      </p:sp>
      <p:sp>
        <p:nvSpPr>
          <p:cNvPr id="459709249" name="Google Shape;236;p28"/>
          <p:cNvSpPr txBox="1"/>
          <p:nvPr/>
        </p:nvSpPr>
        <p:spPr bwMode="auto">
          <a:xfrm>
            <a:off x="352600" y="1350000"/>
            <a:ext cx="8640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➔"/>
              <a:defRPr/>
            </a:pPr>
            <a:r>
              <a:rPr lang="ru" sz="1300">
                <a:solidFill>
                  <a:schemeClr val="dk1"/>
                </a:solidFill>
              </a:rPr>
              <a:t>При создании Pull request важно правильно выбрать ветки источника и цели.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2018503280" name="Google Shape;237;p28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71700" y="2305175"/>
            <a:ext cx="8200599" cy="210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166207" name="Google Shape;242;p29"/>
          <p:cNvSpPr txBox="1"/>
          <p:nvPr/>
        </p:nvSpPr>
        <p:spPr bwMode="auto">
          <a:xfrm>
            <a:off x="352600" y="608750"/>
            <a:ext cx="81432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  <a:t>Создание Pull request</a:t>
            </a:r>
            <a:endParaRPr sz="3000" b="1">
              <a:solidFill>
                <a:srgbClr val="1A2028"/>
              </a:solidFill>
              <a:latin typeface="Montserrat Alternates"/>
              <a:ea typeface="Montserrat Alternates"/>
              <a:cs typeface="Montserrat Alternates"/>
            </a:endParaRPr>
          </a:p>
        </p:txBody>
      </p:sp>
      <p:sp>
        <p:nvSpPr>
          <p:cNvPr id="183932312" name="Google Shape;243;p29"/>
          <p:cNvSpPr txBox="1"/>
          <p:nvPr/>
        </p:nvSpPr>
        <p:spPr bwMode="auto">
          <a:xfrm>
            <a:off x="352600" y="1350000"/>
            <a:ext cx="8640900" cy="6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➔"/>
              <a:defRPr/>
            </a:pPr>
            <a:r>
              <a:rPr lang="ru" sz="1300">
                <a:solidFill>
                  <a:schemeClr val="dk1"/>
                </a:solidFill>
              </a:rPr>
              <a:t>В меню справа не забываем подписаться под своим ПР(Pull request) и выбрать того, </a:t>
            </a:r>
            <a:br>
              <a:rPr lang="ru" sz="1300">
                <a:solidFill>
                  <a:schemeClr val="dk1"/>
                </a:solidFill>
              </a:rPr>
            </a:br>
            <a:r>
              <a:rPr lang="ru" sz="1300">
                <a:solidFill>
                  <a:schemeClr val="dk1"/>
                </a:solidFill>
              </a:rPr>
              <a:t>кто будеть делать ревью ваших изменений.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904392949" name="Google Shape;244;p29"/>
          <p:cNvPicPr/>
          <p:nvPr/>
        </p:nvPicPr>
        <p:blipFill rotWithShape="1">
          <a:blip r:embed="rId3">
            <a:alphaModFix/>
          </a:blip>
          <a:srcRect l="0" t="39" r="0" b="28"/>
          <a:stretch/>
        </p:blipFill>
        <p:spPr bwMode="auto">
          <a:xfrm>
            <a:off x="450000" y="2318637"/>
            <a:ext cx="3148275" cy="212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0579199" name="Google Shape;245;p29"/>
          <p:cNvPicPr/>
          <p:nvPr/>
        </p:nvPicPr>
        <p:blipFill rotWithShape="1">
          <a:blip r:embed="rId4">
            <a:alphaModFix/>
          </a:blip>
          <a:srcRect l="139" t="0" r="138" b="0"/>
          <a:stretch/>
        </p:blipFill>
        <p:spPr bwMode="auto">
          <a:xfrm>
            <a:off x="4032275" y="2305163"/>
            <a:ext cx="3362552" cy="215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4069312" name="Google Shape;246;p29"/>
          <p:cNvPicPr/>
          <p:nvPr/>
        </p:nvPicPr>
        <p:blipFill rotWithShape="1">
          <a:blip r:embed="rId5">
            <a:alphaModFix/>
          </a:blip>
          <a:srcRect l="-849" t="-51" r="9533" b="57488"/>
          <a:stretch/>
        </p:blipFill>
        <p:spPr bwMode="auto">
          <a:xfrm rot="-5400000">
            <a:off x="6392938" y="2392439"/>
            <a:ext cx="3752950" cy="174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0193180" name="Google Shape;251;p30"/>
          <p:cNvSpPr txBox="1"/>
          <p:nvPr/>
        </p:nvSpPr>
        <p:spPr bwMode="auto">
          <a:xfrm>
            <a:off x="352600" y="608750"/>
            <a:ext cx="81432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  <a:t>Добавление ревьюеров</a:t>
            </a:r>
            <a:endParaRPr sz="3000" b="1">
              <a:solidFill>
                <a:srgbClr val="1A2028"/>
              </a:solidFill>
              <a:latin typeface="Montserrat Alternates"/>
              <a:ea typeface="Montserrat Alternates"/>
              <a:cs typeface="Montserrat Alternates"/>
            </a:endParaRPr>
          </a:p>
        </p:txBody>
      </p:sp>
      <p:sp>
        <p:nvSpPr>
          <p:cNvPr id="1284107581" name="Google Shape;252;p30"/>
          <p:cNvSpPr txBox="1"/>
          <p:nvPr/>
        </p:nvSpPr>
        <p:spPr bwMode="auto">
          <a:xfrm>
            <a:off x="352599" y="1350000"/>
            <a:ext cx="8473979" cy="107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➔"/>
              <a:defRPr/>
            </a:pPr>
            <a:r>
              <a:rPr lang="ru" sz="1300">
                <a:solidFill>
                  <a:schemeClr val="dk1"/>
                </a:solidFill>
              </a:rPr>
              <a:t>Чтобы получить возможность добавления ревьюеров из списка необходимо добавить в ваш репозиторий участников. Сделать это можно через вкладку Settings — Collaborators — Add people. В качестве приглашённого участника необходимо выбрать аккаунт </a:t>
            </a:r>
            <a:r>
              <a:rPr lang="ru-RU" sz="1300">
                <a:solidFill>
                  <a:schemeClr val="dk1"/>
                </a:solidFill>
              </a:rPr>
              <a:t>друга.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489501916" name="Google Shape;253;p30"/>
          <p:cNvPicPr/>
          <p:nvPr/>
        </p:nvPicPr>
        <p:blipFill rotWithShape="1">
          <a:blip r:embed="rId3">
            <a:alphaModFix/>
          </a:blip>
          <a:srcRect l="-849" t="-51" r="9533" b="57488"/>
          <a:stretch/>
        </p:blipFill>
        <p:spPr bwMode="auto">
          <a:xfrm rot="-5400000">
            <a:off x="6392938" y="2392439"/>
            <a:ext cx="3752950" cy="174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3484897" name="Google Shape;254;p30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450000" y="2669225"/>
            <a:ext cx="3329999" cy="2086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211517" name="Google Shape;255;p30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4225550" y="2669225"/>
            <a:ext cx="4388648" cy="208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604530" name="Google Shape;260;p31"/>
          <p:cNvSpPr txBox="1"/>
          <p:nvPr/>
        </p:nvSpPr>
        <p:spPr bwMode="auto">
          <a:xfrm>
            <a:off x="352600" y="608750"/>
            <a:ext cx="81432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  <a:t>Добавление ревьюеров</a:t>
            </a:r>
            <a:endParaRPr sz="3000" b="1">
              <a:solidFill>
                <a:srgbClr val="1A2028"/>
              </a:solidFill>
              <a:latin typeface="Montserrat Alternates"/>
              <a:ea typeface="Montserrat Alternates"/>
              <a:cs typeface="Montserrat Alternates"/>
            </a:endParaRPr>
          </a:p>
        </p:txBody>
      </p:sp>
      <p:sp>
        <p:nvSpPr>
          <p:cNvPr id="1166434781" name="Google Shape;261;p31"/>
          <p:cNvSpPr txBox="1"/>
          <p:nvPr/>
        </p:nvSpPr>
        <p:spPr bwMode="auto">
          <a:xfrm>
            <a:off x="352600" y="1350000"/>
            <a:ext cx="8467500" cy="6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➔"/>
              <a:defRPr/>
            </a:pPr>
            <a:r>
              <a:rPr lang="ru" sz="1300">
                <a:solidFill>
                  <a:schemeClr val="dk1"/>
                </a:solidFill>
              </a:rPr>
              <a:t>Теперь мы можем выбрать нашего ревьюера из списка. Выбранный вами ревьюер получит</a:t>
            </a:r>
            <a:br>
              <a:rPr lang="ru" sz="1300">
                <a:solidFill>
                  <a:schemeClr val="dk1"/>
                </a:solidFill>
              </a:rPr>
            </a:br>
            <a:r>
              <a:rPr lang="ru" sz="1300">
                <a:solidFill>
                  <a:schemeClr val="dk1"/>
                </a:solidFill>
              </a:rPr>
              <a:t>на почту письмо с приглашением. 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538233718" name="Google Shape;262;p31"/>
          <p:cNvPicPr/>
          <p:nvPr/>
        </p:nvPicPr>
        <p:blipFill rotWithShape="1">
          <a:blip r:embed="rId3">
            <a:alphaModFix/>
          </a:blip>
          <a:srcRect l="-849" t="-51" r="9533" b="57488"/>
          <a:stretch/>
        </p:blipFill>
        <p:spPr bwMode="auto">
          <a:xfrm rot="-5400000">
            <a:off x="6392938" y="2392439"/>
            <a:ext cx="3752950" cy="174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050056" name="Google Shape;263;p31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450000" y="2305175"/>
            <a:ext cx="3742938" cy="215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539171" name="Google Shape;268;p32"/>
          <p:cNvSpPr txBox="1"/>
          <p:nvPr/>
        </p:nvSpPr>
        <p:spPr bwMode="auto">
          <a:xfrm>
            <a:off x="352600" y="608750"/>
            <a:ext cx="81432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  <a:t>Создание Pull request</a:t>
            </a:r>
            <a:endParaRPr sz="3000" b="1">
              <a:solidFill>
                <a:srgbClr val="1A2028"/>
              </a:solidFill>
              <a:latin typeface="Montserrat Alternates"/>
              <a:ea typeface="Montserrat Alternates"/>
              <a:cs typeface="Montserrat Alternates"/>
            </a:endParaRPr>
          </a:p>
        </p:txBody>
      </p:sp>
      <p:sp>
        <p:nvSpPr>
          <p:cNvPr id="1209118581" name="Google Shape;269;p32"/>
          <p:cNvSpPr txBox="1"/>
          <p:nvPr/>
        </p:nvSpPr>
        <p:spPr bwMode="auto">
          <a:xfrm>
            <a:off x="352600" y="1350000"/>
            <a:ext cx="8640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➔"/>
              <a:defRPr/>
            </a:pPr>
            <a:r>
              <a:rPr lang="ru" sz="1300">
                <a:solidFill>
                  <a:schemeClr val="dk1"/>
                </a:solidFill>
              </a:rPr>
              <a:t>Во вкладке Conversation открытого ПР видна вся переписка по замечаниям, оставленным ревьюером.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779315822" name="Google Shape;270;p32"/>
          <p:cNvPicPr/>
          <p:nvPr/>
        </p:nvPicPr>
        <p:blipFill rotWithShape="1">
          <a:blip r:embed="rId3">
            <a:alphaModFix/>
          </a:blip>
          <a:srcRect l="22197" t="0" r="0" b="52498"/>
          <a:stretch/>
        </p:blipFill>
        <p:spPr bwMode="auto">
          <a:xfrm flipH="1">
            <a:off x="5827100" y="3118301"/>
            <a:ext cx="3316900" cy="202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777980" name="Google Shape;271;p32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450000" y="2305175"/>
            <a:ext cx="3664120" cy="215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647875" name="Google Shape;276;p33"/>
          <p:cNvSpPr txBox="1"/>
          <p:nvPr/>
        </p:nvSpPr>
        <p:spPr bwMode="auto">
          <a:xfrm>
            <a:off x="352600" y="608750"/>
            <a:ext cx="81432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3000" b="1">
                <a:solidFill>
                  <a:srgbClr val="1A2028"/>
                </a:solidFill>
                <a:latin typeface="Montserrat Alternates"/>
                <a:ea typeface="Montserrat Alternates"/>
                <a:cs typeface="Montserrat Alternates"/>
              </a:rPr>
              <a:t>Создание Pull request</a:t>
            </a:r>
            <a:endParaRPr sz="3000" b="1">
              <a:solidFill>
                <a:srgbClr val="1A2028"/>
              </a:solidFill>
              <a:latin typeface="Montserrat Alternates"/>
              <a:ea typeface="Montserrat Alternates"/>
              <a:cs typeface="Montserrat Alternates"/>
            </a:endParaRPr>
          </a:p>
        </p:txBody>
      </p:sp>
      <p:sp>
        <p:nvSpPr>
          <p:cNvPr id="1826957443" name="Google Shape;277;p33"/>
          <p:cNvSpPr txBox="1"/>
          <p:nvPr/>
        </p:nvSpPr>
        <p:spPr bwMode="auto">
          <a:xfrm>
            <a:off x="352600" y="1350000"/>
            <a:ext cx="8640900" cy="6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➔"/>
              <a:defRPr/>
            </a:pPr>
            <a:r>
              <a:rPr lang="ru" sz="1300">
                <a:solidFill>
                  <a:schemeClr val="dk1"/>
                </a:solidFill>
              </a:rPr>
              <a:t>Во вкладке Files Changed — все изменения, которые вы сделали в новой ветке относительно целевой. Здесь же производится ревью и оставляются замечания.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103029369" name="Google Shape;278;p33"/>
          <p:cNvPicPr/>
          <p:nvPr/>
        </p:nvPicPr>
        <p:blipFill rotWithShape="1">
          <a:blip r:embed="rId3">
            <a:alphaModFix/>
          </a:blip>
          <a:srcRect l="238" t="0" r="248" b="0"/>
          <a:stretch/>
        </p:blipFill>
        <p:spPr bwMode="auto">
          <a:xfrm>
            <a:off x="450000" y="2305175"/>
            <a:ext cx="3616316" cy="215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4771866" name="Google Shape;279;p33"/>
          <p:cNvPicPr/>
          <p:nvPr/>
        </p:nvPicPr>
        <p:blipFill rotWithShape="1">
          <a:blip r:embed="rId4">
            <a:alphaModFix/>
          </a:blip>
          <a:srcRect l="22197" t="0" r="0" b="52498"/>
          <a:stretch/>
        </p:blipFill>
        <p:spPr bwMode="auto">
          <a:xfrm flipH="1">
            <a:off x="5827100" y="3118301"/>
            <a:ext cx="3316900" cy="202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</cp:revision>
  <dcterms:modified xsi:type="dcterms:W3CDTF">2025-11-25T17:43:27Z</dcterms:modified>
</cp:coreProperties>
</file>