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8.xml" ContentType="application/vnd.openxmlformats-officedocument.presentationml.slide+xml"/>
  <Override PartName="/ppt/notesSlides/notesSlide3.xml" ContentType="application/vnd.openxmlformats-officedocument.presentationml.notesSlide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13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9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embedTrueTypeFonts="1" saveSubsetFonts="1" strictFirstAndLastChars="0">
  <p:sldMasterIdLst>
    <p:sldMasterId id="2147483648" r:id="rId1"/>
  </p:sldMasterIdLst>
  <p:notesMasterIdLst>
    <p:notesMasterId r:id="rId2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9144000" cy="51435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556"/>
        <p:guide pos="383" orient="horz"/>
        <p:guide pos="1452" orient="horz"/>
        <p:guide pos="740" orient="horz"/>
        <p:guide pos="3458"/>
        <p:guide pos="2807" orient="horz"/>
        <p:guide pos="283"/>
        <p:guide pos="2839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 /><Relationship Id="rId25" Type="http://schemas.openxmlformats.org/officeDocument/2006/relationships/tableStyles" Target="tableStyles.xml" /><Relationship Id="rId2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572220" name="Google Shape;3;n"/>
          <p:cNvSpPr/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39961313" name="Google Shape;4;n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49248" name="Google Shape;132;g110c578fab6_0_0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126421" name="Google Shape;133;g110c578fab6_0_0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08294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03217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9395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1B1F87-8567-C2B0-F63E-E71668AF3EB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90513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28782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0891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11A89B-4112-93C2-11C0-B4DAEC8218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623232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57146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624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E0E85ED-19DA-D978-A6C2-A1E247811A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16885" name="Google Shape;141;g11262b15b87_0_18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462783" name="Google Shape;142;g11262b15b87_0_18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237767" name="Google Shape;149;g124ec1c6ead_0_20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2269857" name="Google Shape;150;g124ec1c6ead_0_20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8523102" name="Google Shape;157;g124f7ac5d67_0_14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0678327" name="Google Shape;158;g124f7ac5d67_0_14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568533" name="Google Shape;165;g124ec1c6ead_0_5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1651769" name="Google Shape;166;g124ec1c6ead_0_5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4995005" name="Google Shape;195;g287182eb427_1_17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714577" name="Google Shape;196;g287182eb427_1_17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394888" name="Google Shape;203;g287182eb427_1_35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9326129" name="Google Shape;204;g287182eb427_1_35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1741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042102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35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836D1E-05BB-8DF1-C56C-A71B1BC7CC9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2273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964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0688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5F11A-C6E2-9A05-071F-07089F29EB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5461405" name="Google Shape;223;g287182eb427_1_60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3268321" name="Google Shape;224;g287182eb427_1_60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619927" name="Google Shape;231;g287182eb427_1_69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0442298" name="Google Shape;232;g287182eb427_1_69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4484178" name="Google Shape;239;g287182eb427_1_78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3693109" name="Google Shape;240;g287182eb427_1_78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7168868" name="Google Shape;248;g287ecc99806_0_0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0993601" name="Google Shape;249;g287ecc99806_0_0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133828" name="Google Shape;257;g287ecc99806_0_17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1802247" name="Google Shape;258;g287ecc99806_0_17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622507" name="Google Shape;265;g287182eb427_1_89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07698" name="Google Shape;266;g287182eb427_1_89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PhAnim="0" showMasterSp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2324721" name="Google Shape;273;g287ecc99806_0_27:notes"/>
          <p:cNvSpPr/>
          <p:nvPr>
            <p:ph type="sldImg" idx="2"/>
          </p:nvPr>
        </p:nvSpPr>
        <p:spPr bwMode="auto"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fill="norm" stroke="1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3462010" name="Google Shape;274;g287ecc99806_0_27:notes"/>
          <p:cNvSpPr txBox="1"/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Relationship Id="rId13" Type="http://schemas.openxmlformats.org/officeDocument/2006/relationships/image" Target="../media/image22.png"/><Relationship Id="rId14" Type="http://schemas.openxmlformats.org/officeDocument/2006/relationships/image" Target="../media/image23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7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5.png"/></Relationships>
</file>

<file path=ppt/slideLayouts/_rels/slideLayout1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5.png"/></Relationships>
</file>

<file path=ppt/slideLayouts/_rels/slideLayout1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5.png"/><Relationship Id="rId4" Type="http://schemas.openxmlformats.org/officeDocument/2006/relationships/image" Target="../media/image7.png"/></Relationships>
</file>

<file path=ppt/slideLayouts/_rels/slideLayout1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6.png"/><Relationship Id="rId3" Type="http://schemas.openxmlformats.org/officeDocument/2006/relationships/image" Target="../media/image25.png"/><Relationship Id="rId4" Type="http://schemas.openxmlformats.org/officeDocument/2006/relationships/image" Target="../media/image8.png"/><Relationship Id="rId5" Type="http://schemas.openxmlformats.org/officeDocument/2006/relationships/image" Target="../media/image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White" preserve="0" showMasterPhAnim="0" showMasterSp="1" type="tx" userDrawn="1">
  <p:cSld name="TITLE_AND_BOD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White / Logo" preserve="0" showMasterPhAnim="0" showMasterSp="1" userDrawn="1">
  <p:cSld name="BIG_NUMB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36710094" name="Google Shape;8;p3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Grid + Logo" preserve="0" showMasterPhAnim="0" showMasterSp="1" type="blank" userDrawn="1">
  <p:cSld name="BLANK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4870946" name="Google Shape;10;p4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5780721" name="Google Shape;11;p4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Grid + Logo University" preserve="0" showMasterPhAnim="0" showMasterSp="1" userDrawn="1">
  <p:cSld name="BLANK_7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54168861" name="Google Shape;13;p5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8017078" y="246475"/>
            <a:ext cx="835195" cy="31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Clients" preserve="0" showMasterPhAnim="0" showMasterSp="1" userDrawn="1">
  <p:cSld name="BLANK_6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3343456" name="Google Shape;15;p6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0925008" name="Google Shape;16;p6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sp>
        <p:nvSpPr>
          <p:cNvPr id="2127336377" name="Google Shape;17;p6"/>
          <p:cNvSpPr txBox="1"/>
          <p:nvPr/>
        </p:nvSpPr>
        <p:spPr bwMode="auto">
          <a:xfrm>
            <a:off x="650400" y="1009525"/>
            <a:ext cx="7843200" cy="86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chemeClr val="dk2"/>
                </a:solidFill>
              </a:rPr>
              <a:t>Банки и финансовые организации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Государственный сектор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IT–компании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 Страховые компании</a:t>
            </a:r>
            <a:endParaRPr sz="1100">
              <a:solidFill>
                <a:schemeClr val="dk2"/>
              </a:solidFill>
            </a:endParaRPr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chemeClr val="dk2"/>
                </a:solidFill>
              </a:rPr>
              <a:t>E–commerce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Промышленность и производство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Гостинично–ресторанный бизнес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Digital–агентства Транспорт и туризм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Недвижимость и строительство   </a:t>
            </a:r>
            <a:r>
              <a:rPr lang="ru" sz="1100">
                <a:solidFill>
                  <a:srgbClr val="0AB8B6"/>
                </a:solidFill>
              </a:rPr>
              <a:t>•</a:t>
            </a:r>
            <a:r>
              <a:rPr lang="ru" sz="1100">
                <a:solidFill>
                  <a:schemeClr val="dk2"/>
                </a:solidFill>
              </a:rPr>
              <a:t>   Ритейл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596792005" name="Google Shape;18;p6"/>
          <p:cNvSpPr txBox="1"/>
          <p:nvPr/>
        </p:nvSpPr>
        <p:spPr bwMode="auto">
          <a:xfrm>
            <a:off x="2658750" y="4372600"/>
            <a:ext cx="3826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>
                <a:solidFill>
                  <a:srgbClr val="1A2028"/>
                </a:solidFill>
                <a:latin typeface="Montserrat Alternates Medium"/>
                <a:ea typeface="Montserrat Alternates Medium"/>
                <a:cs typeface="Montserrat Alternates Medium"/>
              </a:rPr>
              <a:t>из разных отраслей</a:t>
            </a:r>
            <a:endParaRPr sz="1200">
              <a:solidFill>
                <a:srgbClr val="1A2028"/>
              </a:solidFill>
              <a:latin typeface="Montserrat Alternates Medium"/>
              <a:ea typeface="Montserrat Alternates Medium"/>
              <a:cs typeface="Montserrat Alternates Medium"/>
            </a:endParaRPr>
          </a:p>
        </p:txBody>
      </p:sp>
      <p:sp>
        <p:nvSpPr>
          <p:cNvPr id="1056234129" name="Google Shape;19;p6"/>
          <p:cNvSpPr txBox="1"/>
          <p:nvPr/>
        </p:nvSpPr>
        <p:spPr bwMode="auto">
          <a:xfrm>
            <a:off x="2658750" y="3893300"/>
            <a:ext cx="38265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2200">
                <a:solidFill>
                  <a:srgbClr val="1A2028"/>
                </a:solidFill>
                <a:latin typeface="Montserrat Alternates SemiBold"/>
                <a:ea typeface="Montserrat Alternates SemiBold"/>
                <a:cs typeface="Montserrat Alternates SemiBold"/>
              </a:rPr>
              <a:t>и еще 80+ клиентов</a:t>
            </a:r>
            <a:endParaRPr sz="2200">
              <a:solidFill>
                <a:srgbClr val="1A2028"/>
              </a:solidFill>
              <a:latin typeface="Montserrat Alternates SemiBold"/>
              <a:ea typeface="Montserrat Alternates SemiBold"/>
              <a:cs typeface="Montserrat Alternates SemiBold"/>
            </a:endParaRPr>
          </a:p>
        </p:txBody>
      </p:sp>
      <p:sp>
        <p:nvSpPr>
          <p:cNvPr id="1869286154" name="Google Shape;20;p6"/>
          <p:cNvSpPr txBox="1"/>
          <p:nvPr/>
        </p:nvSpPr>
        <p:spPr bwMode="auto">
          <a:xfrm>
            <a:off x="225100" y="155020"/>
            <a:ext cx="5490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Наши клиенты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List 2" preserve="0" showMasterPhAnim="0" showMasterSp="1" userDrawn="1">
  <p:cSld name="BLANK_5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53287176" name="Google Shape;22;p7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856256" name="Google Shape;23;p7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sp>
        <p:nvSpPr>
          <p:cNvPr id="1742611869" name="Google Shape;24;p7"/>
          <p:cNvSpPr txBox="1"/>
          <p:nvPr/>
        </p:nvSpPr>
        <p:spPr bwMode="auto">
          <a:xfrm>
            <a:off x="225100" y="155020"/>
            <a:ext cx="5490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Компетенции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grpSp>
        <p:nvGrpSpPr>
          <p:cNvPr id="2134183445" name="Google Shape;25;p7"/>
          <p:cNvGrpSpPr/>
          <p:nvPr/>
        </p:nvGrpSpPr>
        <p:grpSpPr bwMode="auto">
          <a:xfrm>
            <a:off x="4365149" y="919063"/>
            <a:ext cx="4868730" cy="3932997"/>
            <a:chOff x="4365149" y="919063"/>
            <a:chExt cx="4868730" cy="3932997"/>
          </a:xfrm>
        </p:grpSpPr>
        <p:sp>
          <p:nvSpPr>
            <p:cNvPr id="26" name="Google Shape;26;p7"/>
            <p:cNvSpPr txBox="1"/>
            <p:nvPr/>
          </p:nvSpPr>
          <p:spPr bwMode="auto">
            <a:xfrm>
              <a:off x="4800179" y="941600"/>
              <a:ext cx="44337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Опыт работы в индустриях 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27" name="Google Shape;27;p7"/>
            <p:cNvSpPr txBox="1"/>
            <p:nvPr/>
          </p:nvSpPr>
          <p:spPr bwMode="auto">
            <a:xfrm>
              <a:off x="4365149" y="1399061"/>
              <a:ext cx="3885300" cy="345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Цифровая трансформация ритейла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Платежные системы и банкинг. Финтек интеграции и управление цифровыми активами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Платформы для управления и сбором данных на производстве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Логистика. Системы планирования фрахта, дислокации, состоянием транспортных средств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ЭДО и EDI, создание высоконагруженных систем обмена документами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Инеграция с Гос. органами для предоставления и забора сведений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Системы управления персоналом и поиском кандидиатов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spcBef>
                  <a:spcPts val="1000"/>
                </a:spcBef>
                <a:spcAft>
                  <a:spcPts val="10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Системы для онлайн образования LMS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28" name="Google Shape;28;p7"/>
            <p:cNvPicPr/>
            <p:nvPr/>
          </p:nvPicPr>
          <p:blipFill rotWithShape="1">
            <a:blip r:embed="rId4">
              <a:alphaModFix/>
            </a:blip>
            <a:stretch/>
          </p:blipFill>
          <p:spPr bwMode="auto">
            <a:xfrm>
              <a:off x="4438364" y="919063"/>
              <a:ext cx="420250" cy="420228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931636363" name="Google Shape;29;p7"/>
          <p:cNvGrpSpPr/>
          <p:nvPr/>
        </p:nvGrpSpPr>
        <p:grpSpPr bwMode="auto">
          <a:xfrm>
            <a:off x="225100" y="3123018"/>
            <a:ext cx="4433700" cy="1724288"/>
            <a:chOff x="225100" y="3123018"/>
            <a:chExt cx="4433700" cy="1724288"/>
          </a:xfrm>
        </p:grpSpPr>
        <p:sp>
          <p:nvSpPr>
            <p:cNvPr id="30" name="Google Shape;30;p7"/>
            <p:cNvSpPr txBox="1"/>
            <p:nvPr/>
          </p:nvSpPr>
          <p:spPr bwMode="auto">
            <a:xfrm>
              <a:off x="694881" y="3123018"/>
              <a:ext cx="28299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Дизайн и UX-проектирование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31" name="Google Shape;31;p7"/>
            <p:cNvSpPr txBox="1"/>
            <p:nvPr/>
          </p:nvSpPr>
          <p:spPr bwMode="auto">
            <a:xfrm>
              <a:off x="225100" y="3508106"/>
              <a:ext cx="4433700" cy="1339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chemeClr val="dk1"/>
                  </a:solidFill>
                </a:rPr>
                <a:t>Разработка UX концепции для вашего продукта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8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chemeClr val="dk1"/>
                  </a:solidFill>
                </a:rPr>
                <a:t>Создание кликабельных прототипов для отработки концепции решений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8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chemeClr val="dk1"/>
                  </a:solidFill>
                </a:rPr>
                <a:t>Комплексная разработка дизайна ИТ-проекта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800"/>
                </a:spcBef>
                <a:spcAft>
                  <a:spcPts val="8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chemeClr val="dk1"/>
                  </a:solidFill>
                </a:rPr>
                <a:t>Проектирование и подготовка дизайн-систем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32" name="Google Shape;32;p7"/>
            <p:cNvPicPr/>
            <p:nvPr/>
          </p:nvPicPr>
          <p:blipFill rotWithShape="1">
            <a:blip r:embed="rId5">
              <a:alphaModFix/>
            </a:blip>
            <a:stretch/>
          </p:blipFill>
          <p:spPr bwMode="auto">
            <a:xfrm>
              <a:off x="328225" y="3136056"/>
              <a:ext cx="358850" cy="3588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88117799" name="Google Shape;33;p7"/>
          <p:cNvGrpSpPr/>
          <p:nvPr/>
        </p:nvGrpSpPr>
        <p:grpSpPr bwMode="auto">
          <a:xfrm>
            <a:off x="225100" y="941611"/>
            <a:ext cx="4203567" cy="2046764"/>
            <a:chOff x="225100" y="941611"/>
            <a:chExt cx="4203567" cy="2046764"/>
          </a:xfrm>
        </p:grpSpPr>
        <p:sp>
          <p:nvSpPr>
            <p:cNvPr id="34" name="Google Shape;34;p7"/>
            <p:cNvSpPr txBox="1"/>
            <p:nvPr/>
          </p:nvSpPr>
          <p:spPr bwMode="auto">
            <a:xfrm>
              <a:off x="687067" y="941611"/>
              <a:ext cx="37416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Аутстафф ИТ-команд и специалистов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35" name="Google Shape;35;p7"/>
            <p:cNvSpPr txBox="1"/>
            <p:nvPr/>
          </p:nvSpPr>
          <p:spPr bwMode="auto">
            <a:xfrm>
              <a:off x="225100" y="1402875"/>
              <a:ext cx="3885300" cy="1585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Оперативное масштабирование команды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Планирование проектной нагрузки и совместное планирование емкости команды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Управление компетенциями, своевременная аттестация и оценка уровня специалистов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000"/>
                </a:spcBef>
                <a:spcAft>
                  <a:spcPts val="10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Горячая замена специалиста 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36" name="Google Shape;36;p7"/>
            <p:cNvPicPr/>
            <p:nvPr/>
          </p:nvPicPr>
          <p:blipFill rotWithShape="1">
            <a:blip r:embed="rId6">
              <a:alphaModFix/>
            </a:blip>
            <a:stretch/>
          </p:blipFill>
          <p:spPr bwMode="auto">
            <a:xfrm>
              <a:off x="318525" y="951665"/>
              <a:ext cx="358850" cy="35885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1626904775" name="Google Shape;37;p7"/>
          <p:cNvPicPr/>
          <p:nvPr/>
        </p:nvPicPr>
        <p:blipFill rotWithShape="1">
          <a:blip r:embed="rId7">
            <a:alphaModFix/>
          </a:blip>
          <a:srcRect l="-849" t="-51" r="9533" b="57488"/>
          <a:stretch/>
        </p:blipFill>
        <p:spPr bwMode="auto">
          <a:xfrm>
            <a:off x="5467425" y="3429900"/>
            <a:ext cx="3676575" cy="171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List 1" preserve="0" showMasterPhAnim="0" showMasterSp="1" userDrawn="1">
  <p:cSld name="BLANK_4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7924887" name="Google Shape;39;p8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7779960" name="Google Shape;40;p8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62421630" name="Google Shape;41;p8"/>
          <p:cNvPicPr/>
          <p:nvPr/>
        </p:nvPicPr>
        <p:blipFill rotWithShape="1">
          <a:blip r:embed="rId4">
            <a:alphaModFix/>
          </a:blip>
          <a:srcRect l="0" t="0" r="49210" b="20748"/>
          <a:stretch/>
        </p:blipFill>
        <p:spPr bwMode="auto">
          <a:xfrm>
            <a:off x="7292500" y="2254425"/>
            <a:ext cx="1851500" cy="2889075"/>
          </a:xfrm>
          <a:prstGeom prst="rect">
            <a:avLst/>
          </a:prstGeom>
          <a:noFill/>
          <a:ln>
            <a:noFill/>
          </a:ln>
        </p:spPr>
      </p:pic>
      <p:sp>
        <p:nvSpPr>
          <p:cNvPr id="615989017" name="Google Shape;42;p8"/>
          <p:cNvSpPr txBox="1"/>
          <p:nvPr/>
        </p:nvSpPr>
        <p:spPr bwMode="auto">
          <a:xfrm>
            <a:off x="225100" y="155020"/>
            <a:ext cx="5490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Компетенции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grpSp>
        <p:nvGrpSpPr>
          <p:cNvPr id="696843514" name="Google Shape;43;p8"/>
          <p:cNvGrpSpPr/>
          <p:nvPr/>
        </p:nvGrpSpPr>
        <p:grpSpPr bwMode="auto">
          <a:xfrm>
            <a:off x="4345225" y="941600"/>
            <a:ext cx="4529700" cy="1324075"/>
            <a:chOff x="4345225" y="941600"/>
            <a:chExt cx="4529700" cy="1324075"/>
          </a:xfrm>
        </p:grpSpPr>
        <p:sp>
          <p:nvSpPr>
            <p:cNvPr id="44" name="Google Shape;44;p8"/>
            <p:cNvSpPr txBox="1"/>
            <p:nvPr/>
          </p:nvSpPr>
          <p:spPr bwMode="auto">
            <a:xfrm>
              <a:off x="4825175" y="941600"/>
              <a:ext cx="32877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Готовые решения и наработки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45" name="Google Shape;45;p8"/>
            <p:cNvSpPr txBox="1"/>
            <p:nvPr/>
          </p:nvSpPr>
          <p:spPr bwMode="auto">
            <a:xfrm>
              <a:off x="4345225" y="1326675"/>
              <a:ext cx="4529700" cy="939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10 лет работы в разных индустриях, понимание рабочих подходов в реализации проектов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Использование Адаптация текущих систем под новые бизнес-задачи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46" name="Google Shape;46;p8"/>
            <p:cNvPicPr/>
            <p:nvPr/>
          </p:nvPicPr>
          <p:blipFill rotWithShape="1">
            <a:blip r:embed="rId5">
              <a:alphaModFix/>
            </a:blip>
            <a:stretch/>
          </p:blipFill>
          <p:spPr bwMode="auto">
            <a:xfrm>
              <a:off x="4453245" y="941674"/>
              <a:ext cx="384900" cy="3849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78749207" name="Google Shape;47;p8"/>
          <p:cNvGrpSpPr/>
          <p:nvPr/>
        </p:nvGrpSpPr>
        <p:grpSpPr bwMode="auto">
          <a:xfrm>
            <a:off x="225100" y="941600"/>
            <a:ext cx="3885300" cy="3773680"/>
            <a:chOff x="225100" y="941600"/>
            <a:chExt cx="3885300" cy="3773680"/>
          </a:xfrm>
        </p:grpSpPr>
        <p:sp>
          <p:nvSpPr>
            <p:cNvPr id="48" name="Google Shape;48;p8"/>
            <p:cNvSpPr txBox="1"/>
            <p:nvPr/>
          </p:nvSpPr>
          <p:spPr bwMode="auto">
            <a:xfrm>
              <a:off x="669462" y="941600"/>
              <a:ext cx="33630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Разработка и внедрение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49" name="Google Shape;49;p8"/>
            <p:cNvSpPr txBox="1"/>
            <p:nvPr/>
          </p:nvSpPr>
          <p:spPr bwMode="auto">
            <a:xfrm>
              <a:off x="225100" y="1421280"/>
              <a:ext cx="3885300" cy="329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Разработка платформенных решений и микросервисов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Создание ETL и интеграционных адаптеров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Специфичная разработка для финтеха: платежные шлюзы, шифрование, перс. данные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Разработка хранилищ данных и систем информационного обмена высокой нагрузки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BPM системы и проектирование бизнес-процессов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Разработка мобильных приложений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Разработка 1С-Битрикс 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1200"/>
                </a:spcBef>
                <a:spcAft>
                  <a:spcPts val="12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Заказная front-end разработка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50" name="Google Shape;50;p8"/>
            <p:cNvPicPr/>
            <p:nvPr/>
          </p:nvPicPr>
          <p:blipFill rotWithShape="1">
            <a:blip r:embed="rId6">
              <a:alphaModFix/>
            </a:blip>
            <a:stretch/>
          </p:blipFill>
          <p:spPr bwMode="auto">
            <a:xfrm>
              <a:off x="284575" y="941683"/>
              <a:ext cx="384900" cy="3849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617709083" name="Google Shape;51;p8"/>
          <p:cNvGrpSpPr/>
          <p:nvPr/>
        </p:nvGrpSpPr>
        <p:grpSpPr bwMode="auto">
          <a:xfrm>
            <a:off x="4345225" y="3480347"/>
            <a:ext cx="4433700" cy="1231688"/>
            <a:chOff x="4345225" y="3480347"/>
            <a:chExt cx="4433700" cy="1231688"/>
          </a:xfrm>
        </p:grpSpPr>
        <p:sp>
          <p:nvSpPr>
            <p:cNvPr id="52" name="Google Shape;52;p8"/>
            <p:cNvSpPr txBox="1"/>
            <p:nvPr/>
          </p:nvSpPr>
          <p:spPr bwMode="auto">
            <a:xfrm>
              <a:off x="4825175" y="3480347"/>
              <a:ext cx="28299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Консалтинг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53" name="Google Shape;53;p8"/>
            <p:cNvSpPr txBox="1"/>
            <p:nvPr/>
          </p:nvSpPr>
          <p:spPr bwMode="auto">
            <a:xfrm>
              <a:off x="4345225" y="3865435"/>
              <a:ext cx="4433700" cy="846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Разработка технического задания и сбор требований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60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Аудит текущих систем и ИТ инфраструктуры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Сопровождение развития продукта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54" name="Google Shape;54;p8"/>
            <p:cNvPicPr/>
            <p:nvPr/>
          </p:nvPicPr>
          <p:blipFill rotWithShape="1">
            <a:blip r:embed="rId7">
              <a:alphaModFix/>
            </a:blip>
            <a:stretch/>
          </p:blipFill>
          <p:spPr bwMode="auto">
            <a:xfrm>
              <a:off x="4418566" y="3480360"/>
              <a:ext cx="384900" cy="3849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087455049" name="Google Shape;55;p8"/>
          <p:cNvGrpSpPr/>
          <p:nvPr/>
        </p:nvGrpSpPr>
        <p:grpSpPr bwMode="auto">
          <a:xfrm>
            <a:off x="4345225" y="2299986"/>
            <a:ext cx="4575000" cy="1113401"/>
            <a:chOff x="4345225" y="2299986"/>
            <a:chExt cx="4575000" cy="1113401"/>
          </a:xfrm>
        </p:grpSpPr>
        <p:sp>
          <p:nvSpPr>
            <p:cNvPr id="56" name="Google Shape;56;p8"/>
            <p:cNvSpPr txBox="1"/>
            <p:nvPr/>
          </p:nvSpPr>
          <p:spPr bwMode="auto">
            <a:xfrm>
              <a:off x="4825175" y="2299986"/>
              <a:ext cx="2829900" cy="38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14999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300" b="1">
                  <a:solidFill>
                    <a:srgbClr val="1A2028"/>
                  </a:solidFill>
                </a:rPr>
                <a:t>Тестирование и сопровождение</a:t>
              </a:r>
              <a:endParaRPr sz="1300" b="1">
                <a:solidFill>
                  <a:srgbClr val="1A2028"/>
                </a:solidFill>
              </a:endParaRPr>
            </a:p>
          </p:txBody>
        </p:sp>
        <p:sp>
          <p:nvSpPr>
            <p:cNvPr id="57" name="Google Shape;57;p8"/>
            <p:cNvSpPr txBox="1"/>
            <p:nvPr/>
          </p:nvSpPr>
          <p:spPr bwMode="auto">
            <a:xfrm>
              <a:off x="4345225" y="2643887"/>
              <a:ext cx="4575000" cy="769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457200" lvl="0" indent="-29845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Автоматизированное, нагрузочное, регрессионное и прочие виды тестирования</a:t>
              </a:r>
              <a:endParaRPr sz="1100">
                <a:solidFill>
                  <a:srgbClr val="1A2028"/>
                </a:solidFill>
              </a:endParaRPr>
            </a:p>
            <a:p>
              <a:pPr marL="457200" lvl="0" indent="-298450" algn="l" rtl="0">
                <a:lnSpc>
                  <a:spcPct val="100000"/>
                </a:lnSpc>
                <a:spcBef>
                  <a:spcPts val="600"/>
                </a:spcBef>
                <a:spcAft>
                  <a:spcPts val="600"/>
                </a:spcAft>
                <a:buClr>
                  <a:srgbClr val="1A2028"/>
                </a:buClr>
                <a:buSzPts val="1100"/>
                <a:buChar char="➔"/>
                <a:defRPr/>
              </a:pPr>
              <a:r>
                <a:rPr lang="ru" sz="1100">
                  <a:solidFill>
                    <a:srgbClr val="1A2028"/>
                  </a:solidFill>
                </a:rPr>
                <a:t>Участие в пилотах решений и техническая поддержка</a:t>
              </a:r>
              <a:endParaRPr sz="1100">
                <a:solidFill>
                  <a:srgbClr val="1A2028"/>
                </a:solidFill>
              </a:endParaRPr>
            </a:p>
          </p:txBody>
        </p:sp>
        <p:pic>
          <p:nvPicPr>
            <p:cNvPr id="58" name="Google Shape;58;p8"/>
            <p:cNvPicPr/>
            <p:nvPr/>
          </p:nvPicPr>
          <p:blipFill rotWithShape="1">
            <a:blip r:embed="rId8">
              <a:alphaModFix/>
            </a:blip>
            <a:stretch/>
          </p:blipFill>
          <p:spPr bwMode="auto">
            <a:xfrm>
              <a:off x="4418566" y="2299991"/>
              <a:ext cx="384900" cy="3849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Tech" preserve="0" showMasterPhAnim="0" showMasterSp="1" userDrawn="1">
  <p:cSld name="BLANK_3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3140316" name="Google Shape;60;p9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6986712" name="Google Shape;61;p9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sp>
        <p:nvSpPr>
          <p:cNvPr id="545629653" name="Google Shape;62;p9"/>
          <p:cNvSpPr txBox="1"/>
          <p:nvPr/>
        </p:nvSpPr>
        <p:spPr bwMode="auto">
          <a:xfrm>
            <a:off x="225100" y="155020"/>
            <a:ext cx="5490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Языки и технологии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21743339" name="Google Shape;63;p9"/>
          <p:cNvSpPr txBox="1"/>
          <p:nvPr/>
        </p:nvSpPr>
        <p:spPr bwMode="auto">
          <a:xfrm>
            <a:off x="230524" y="728625"/>
            <a:ext cx="8525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100">
                <a:solidFill>
                  <a:srgbClr val="1A2028"/>
                </a:solidFill>
              </a:rPr>
              <a:t>Используем в разработке любой нужный язык программирования или фреймворк.</a:t>
            </a:r>
            <a:endParaRPr sz="1100">
              <a:solidFill>
                <a:srgbClr val="1A2028"/>
              </a:solidFill>
            </a:endParaRPr>
          </a:p>
        </p:txBody>
      </p:sp>
      <p:sp>
        <p:nvSpPr>
          <p:cNvPr id="2011894432" name="Google Shape;64;p9"/>
          <p:cNvSpPr txBox="1"/>
          <p:nvPr/>
        </p:nvSpPr>
        <p:spPr bwMode="auto">
          <a:xfrm>
            <a:off x="514519" y="2225274"/>
            <a:ext cx="1155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C++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323814337" name="Google Shape;65;p9"/>
          <p:cNvSpPr txBox="1"/>
          <p:nvPr/>
        </p:nvSpPr>
        <p:spPr bwMode="auto">
          <a:xfrm>
            <a:off x="2035038" y="2225274"/>
            <a:ext cx="14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Python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595525637" name="Google Shape;66;p9"/>
          <p:cNvSpPr txBox="1"/>
          <p:nvPr/>
        </p:nvSpPr>
        <p:spPr bwMode="auto">
          <a:xfrm>
            <a:off x="3880450" y="2225274"/>
            <a:ext cx="1155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Java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301588285" name="Google Shape;67;p9"/>
          <p:cNvSpPr txBox="1"/>
          <p:nvPr/>
        </p:nvSpPr>
        <p:spPr bwMode="auto">
          <a:xfrm>
            <a:off x="5414102" y="2225274"/>
            <a:ext cx="14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JavaScript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676199263" name="Google Shape;68;p9"/>
          <p:cNvSpPr txBox="1"/>
          <p:nvPr/>
        </p:nvSpPr>
        <p:spPr bwMode="auto">
          <a:xfrm>
            <a:off x="7148975" y="2225274"/>
            <a:ext cx="14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PHP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442234004" name="Google Shape;69;p9"/>
          <p:cNvSpPr txBox="1"/>
          <p:nvPr/>
        </p:nvSpPr>
        <p:spPr bwMode="auto">
          <a:xfrm>
            <a:off x="514519" y="3593574"/>
            <a:ext cx="11556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Oracle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80841142" name="Google Shape;70;p9"/>
          <p:cNvSpPr txBox="1"/>
          <p:nvPr/>
        </p:nvSpPr>
        <p:spPr bwMode="auto">
          <a:xfrm>
            <a:off x="2035038" y="3593574"/>
            <a:ext cx="14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1C-Bitrix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383023981" name="Google Shape;71;p9"/>
          <p:cNvSpPr txBox="1"/>
          <p:nvPr/>
        </p:nvSpPr>
        <p:spPr bwMode="auto">
          <a:xfrm>
            <a:off x="3775300" y="3593574"/>
            <a:ext cx="13659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HTML5 / CSS3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1428655020" name="Google Shape;72;p9"/>
          <p:cNvSpPr txBox="1"/>
          <p:nvPr/>
        </p:nvSpPr>
        <p:spPr bwMode="auto">
          <a:xfrm>
            <a:off x="5414102" y="3593574"/>
            <a:ext cx="14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JS React</a:t>
            </a:r>
            <a:endParaRPr sz="1200" b="1">
              <a:solidFill>
                <a:schemeClr val="dk1"/>
              </a:solidFill>
            </a:endParaRPr>
          </a:p>
        </p:txBody>
      </p:sp>
      <p:sp>
        <p:nvSpPr>
          <p:cNvPr id="312245937" name="Google Shape;73;p9"/>
          <p:cNvSpPr txBox="1"/>
          <p:nvPr/>
        </p:nvSpPr>
        <p:spPr bwMode="auto">
          <a:xfrm>
            <a:off x="7148975" y="3593574"/>
            <a:ext cx="14805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1200" b="1">
                <a:solidFill>
                  <a:schemeClr val="dk1"/>
                </a:solidFill>
              </a:rPr>
              <a:t>Golang/Go</a:t>
            </a:r>
            <a:endParaRPr sz="1200" b="1">
              <a:solidFill>
                <a:schemeClr val="dk1"/>
              </a:solidFill>
            </a:endParaRPr>
          </a:p>
        </p:txBody>
      </p:sp>
      <p:grpSp>
        <p:nvGrpSpPr>
          <p:cNvPr id="1785627131" name="Google Shape;74;p9"/>
          <p:cNvGrpSpPr/>
          <p:nvPr/>
        </p:nvGrpSpPr>
        <p:grpSpPr bwMode="auto">
          <a:xfrm>
            <a:off x="-15275" y="4384125"/>
            <a:ext cx="9159300" cy="807600"/>
            <a:chOff x="-15275" y="4384125"/>
            <a:chExt cx="9159300" cy="807600"/>
          </a:xfrm>
        </p:grpSpPr>
        <p:sp>
          <p:nvSpPr>
            <p:cNvPr id="75" name="Google Shape;75;p9"/>
            <p:cNvSpPr/>
            <p:nvPr/>
          </p:nvSpPr>
          <p:spPr bwMode="auto">
            <a:xfrm>
              <a:off x="-15275" y="4384125"/>
              <a:ext cx="9159300" cy="807600"/>
            </a:xfrm>
            <a:prstGeom prst="rect">
              <a:avLst/>
            </a:prstGeom>
            <a:solidFill>
              <a:srgbClr val="1A202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/>
            </a:p>
          </p:txBody>
        </p:sp>
        <p:sp>
          <p:nvSpPr>
            <p:cNvPr id="76" name="Google Shape;76;p9"/>
            <p:cNvSpPr txBox="1"/>
            <p:nvPr/>
          </p:nvSpPr>
          <p:spPr bwMode="auto">
            <a:xfrm>
              <a:off x="766500" y="4510875"/>
              <a:ext cx="7675200" cy="523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1100">
                  <a:solidFill>
                    <a:schemeClr val="lt1"/>
                  </a:solidFill>
                </a:rPr>
                <a:t>Наши разработчики соблюдают стандарты написания кода, что позволяет гарантировать </a:t>
              </a:r>
              <a:r>
                <a:rPr lang="ru" sz="1100" b="1">
                  <a:solidFill>
                    <a:srgbClr val="0AB8B6"/>
                  </a:solidFill>
                </a:rPr>
                <a:t>читаемость</a:t>
              </a:r>
              <a:r>
                <a:rPr lang="ru" sz="1100">
                  <a:solidFill>
                    <a:schemeClr val="lt1"/>
                  </a:solidFill>
                </a:rPr>
                <a:t>,</a:t>
              </a:r>
              <a:r>
                <a:rPr lang="ru" sz="1100">
                  <a:solidFill>
                    <a:srgbClr val="1A2028"/>
                  </a:solidFill>
                </a:rPr>
                <a:t> </a:t>
              </a:r>
              <a:r>
                <a:rPr lang="ru" sz="1100" b="1">
                  <a:solidFill>
                    <a:srgbClr val="0AB8B6"/>
                  </a:solidFill>
                </a:rPr>
                <a:t>корректность работы</a:t>
              </a:r>
              <a:r>
                <a:rPr lang="ru" sz="1100">
                  <a:solidFill>
                    <a:schemeClr val="lt1"/>
                  </a:solidFill>
                </a:rPr>
                <a:t> проекта и </a:t>
              </a:r>
              <a:r>
                <a:rPr lang="ru" sz="1100" b="1">
                  <a:solidFill>
                    <a:srgbClr val="0AB8B6"/>
                  </a:solidFill>
                </a:rPr>
                <a:t>легкость передачи</a:t>
              </a:r>
              <a:r>
                <a:rPr lang="ru" sz="1100">
                  <a:solidFill>
                    <a:schemeClr val="lt1"/>
                  </a:solidFill>
                </a:rPr>
                <a:t> кода другим разработчикам.</a:t>
              </a:r>
              <a:endParaRPr sz="1100">
                <a:solidFill>
                  <a:schemeClr val="lt1"/>
                </a:solidFill>
              </a:endParaRPr>
            </a:p>
          </p:txBody>
        </p:sp>
        <p:pic>
          <p:nvPicPr>
            <p:cNvPr id="77" name="Google Shape;77;p9"/>
            <p:cNvPicPr/>
            <p:nvPr/>
          </p:nvPicPr>
          <p:blipFill rotWithShape="1">
            <a:blip r:embed="rId4">
              <a:alphaModFix/>
            </a:blip>
            <a:stretch/>
          </p:blipFill>
          <p:spPr bwMode="auto">
            <a:xfrm>
              <a:off x="334600" y="4610922"/>
              <a:ext cx="354000" cy="354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595890627" name="Google Shape;78;p9"/>
          <p:cNvPicPr/>
          <p:nvPr/>
        </p:nvPicPr>
        <p:blipFill rotWithShape="1">
          <a:blip r:embed="rId5">
            <a:alphaModFix/>
          </a:blip>
          <a:stretch/>
        </p:blipFill>
        <p:spPr bwMode="auto">
          <a:xfrm>
            <a:off x="642319" y="1349760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0849303" name="Google Shape;79;p9"/>
          <p:cNvPicPr/>
          <p:nvPr/>
        </p:nvPicPr>
        <p:blipFill rotWithShape="1">
          <a:blip r:embed="rId6">
            <a:alphaModFix/>
          </a:blip>
          <a:stretch/>
        </p:blipFill>
        <p:spPr bwMode="auto">
          <a:xfrm>
            <a:off x="2325288" y="1349760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6810084" name="Google Shape;80;p9"/>
          <p:cNvPicPr/>
          <p:nvPr/>
        </p:nvPicPr>
        <p:blipFill rotWithShape="1">
          <a:blip r:embed="rId7">
            <a:alphaModFix/>
          </a:blip>
          <a:stretch/>
        </p:blipFill>
        <p:spPr bwMode="auto">
          <a:xfrm>
            <a:off x="7439225" y="1349760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6940582" name="Google Shape;81;p9"/>
          <p:cNvPicPr/>
          <p:nvPr/>
        </p:nvPicPr>
        <p:blipFill rotWithShape="1">
          <a:blip r:embed="rId8">
            <a:alphaModFix/>
          </a:blip>
          <a:stretch/>
        </p:blipFill>
        <p:spPr bwMode="auto">
          <a:xfrm>
            <a:off x="5704352" y="2706313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9012989" name="Google Shape;82;p9"/>
          <p:cNvPicPr/>
          <p:nvPr/>
        </p:nvPicPr>
        <p:blipFill rotWithShape="1">
          <a:blip r:embed="rId9">
            <a:alphaModFix/>
          </a:blip>
          <a:stretch/>
        </p:blipFill>
        <p:spPr bwMode="auto">
          <a:xfrm>
            <a:off x="642319" y="2706313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9968796" name="Google Shape;83;p9"/>
          <p:cNvPicPr/>
          <p:nvPr/>
        </p:nvPicPr>
        <p:blipFill rotWithShape="1">
          <a:blip r:embed="rId10">
            <a:alphaModFix/>
          </a:blip>
          <a:stretch/>
        </p:blipFill>
        <p:spPr bwMode="auto">
          <a:xfrm>
            <a:off x="7439225" y="2708204"/>
            <a:ext cx="900000" cy="89621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9848899" name="Google Shape;84;p9"/>
          <p:cNvPicPr/>
          <p:nvPr/>
        </p:nvPicPr>
        <p:blipFill rotWithShape="1">
          <a:blip r:embed="rId11">
            <a:alphaModFix/>
          </a:blip>
          <a:stretch/>
        </p:blipFill>
        <p:spPr bwMode="auto">
          <a:xfrm>
            <a:off x="5704352" y="1349760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20867600" name="Google Shape;85;p9"/>
          <p:cNvPicPr/>
          <p:nvPr/>
        </p:nvPicPr>
        <p:blipFill rotWithShape="1">
          <a:blip r:embed="rId12">
            <a:alphaModFix/>
          </a:blip>
          <a:stretch/>
        </p:blipFill>
        <p:spPr bwMode="auto">
          <a:xfrm>
            <a:off x="4008250" y="1349760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2702222" name="Google Shape;86;p9"/>
          <p:cNvPicPr/>
          <p:nvPr/>
        </p:nvPicPr>
        <p:blipFill rotWithShape="1">
          <a:blip r:embed="rId13">
            <a:alphaModFix/>
          </a:blip>
          <a:stretch/>
        </p:blipFill>
        <p:spPr bwMode="auto">
          <a:xfrm>
            <a:off x="4008250" y="2706313"/>
            <a:ext cx="900000" cy="9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122113" name="Google Shape;87;p9"/>
          <p:cNvPicPr/>
          <p:nvPr/>
        </p:nvPicPr>
        <p:blipFill rotWithShape="1">
          <a:blip r:embed="rId14">
            <a:alphaModFix/>
          </a:blip>
          <a:stretch/>
        </p:blipFill>
        <p:spPr bwMode="auto">
          <a:xfrm>
            <a:off x="2325275" y="2706313"/>
            <a:ext cx="900000" cy="9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Gray / About" preserve="0" showMasterPhAnim="0" showMasterSp="1" userDrawn="1">
  <p:cSld name="BLANK_2">
    <p:bg>
      <p:bgPr shadeToTitle="0">
        <a:solidFill>
          <a:srgbClr val="F4F4F4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7994078" name="Google Shape;89;p10"/>
          <p:cNvPicPr/>
          <p:nvPr/>
        </p:nvPicPr>
        <p:blipFill rotWithShape="1">
          <a:blip r:embed="rId2">
            <a:alphaModFix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5742498" name="Google Shape;90;p10"/>
          <p:cNvPicPr/>
          <p:nvPr/>
        </p:nvPicPr>
        <p:blipFill rotWithShape="1">
          <a:blip r:embed="rId3">
            <a:alphaModFix/>
          </a:blip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sp>
        <p:nvSpPr>
          <p:cNvPr id="1731006842" name="Google Shape;91;p10"/>
          <p:cNvSpPr/>
          <p:nvPr/>
        </p:nvSpPr>
        <p:spPr bwMode="auto">
          <a:xfrm>
            <a:off x="6041990" y="800"/>
            <a:ext cx="3102000" cy="5143500"/>
          </a:xfrm>
          <a:prstGeom prst="rect">
            <a:avLst/>
          </a:prstGeom>
          <a:solidFill>
            <a:srgbClr val="1A202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  <a:defRPr/>
            </a:pPr>
            <a:endParaRPr/>
          </a:p>
        </p:txBody>
      </p:sp>
      <p:pic>
        <p:nvPicPr>
          <p:cNvPr id="1471478740" name="Google Shape;92;p10"/>
          <p:cNvPicPr/>
          <p:nvPr/>
        </p:nvPicPr>
        <p:blipFill rotWithShape="1">
          <a:blip r:embed="rId4">
            <a:alphaModFix/>
          </a:blip>
          <a:srcRect l="57184" t="0" r="0" b="0"/>
          <a:stretch/>
        </p:blipFill>
        <p:spPr bwMode="auto">
          <a:xfrm flipH="1">
            <a:off x="7784550" y="1045613"/>
            <a:ext cx="1359450" cy="31751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902620721" name="Google Shape;93;p10"/>
          <p:cNvGrpSpPr/>
          <p:nvPr/>
        </p:nvGrpSpPr>
        <p:grpSpPr bwMode="auto">
          <a:xfrm>
            <a:off x="4052825" y="607275"/>
            <a:ext cx="5410709" cy="4051880"/>
            <a:chOff x="4052825" y="607275"/>
            <a:chExt cx="5410709" cy="4051880"/>
          </a:xfrm>
        </p:grpSpPr>
        <p:grpSp>
          <p:nvGrpSpPr>
            <p:cNvPr id="94" name="Google Shape;94;p10"/>
            <p:cNvGrpSpPr/>
            <p:nvPr/>
          </p:nvGrpSpPr>
          <p:grpSpPr bwMode="auto">
            <a:xfrm>
              <a:off x="7405833" y="1258375"/>
              <a:ext cx="2057700" cy="2906418"/>
              <a:chOff x="7405833" y="1258375"/>
              <a:chExt cx="2057700" cy="2906418"/>
            </a:xfrm>
          </p:grpSpPr>
          <p:sp>
            <p:nvSpPr>
              <p:cNvPr id="95" name="Google Shape;95;p10"/>
              <p:cNvSpPr txBox="1"/>
              <p:nvPr/>
            </p:nvSpPr>
            <p:spPr bwMode="auto">
              <a:xfrm>
                <a:off x="7405833" y="3392438"/>
                <a:ext cx="1957500" cy="615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ru" sz="2800" b="1">
                    <a:solidFill>
                      <a:schemeClr val="lt1"/>
                    </a:solidFill>
                  </a:rPr>
                  <a:t>9+ лет</a:t>
                </a:r>
                <a:endParaRPr sz="2800" b="1">
                  <a:solidFill>
                    <a:schemeClr val="lt1"/>
                  </a:solidFill>
                </a:endParaRPr>
              </a:p>
            </p:txBody>
          </p:sp>
          <p:sp>
            <p:nvSpPr>
              <p:cNvPr id="96" name="Google Shape;96;p10"/>
              <p:cNvSpPr txBox="1"/>
              <p:nvPr/>
            </p:nvSpPr>
            <p:spPr bwMode="auto">
              <a:xfrm>
                <a:off x="7405833" y="3810793"/>
                <a:ext cx="20577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ru" sz="1100">
                    <a:solidFill>
                      <a:schemeClr val="lt1"/>
                    </a:solidFill>
                  </a:rPr>
                  <a:t>разработки</a:t>
                </a:r>
                <a:endParaRPr sz="1100">
                  <a:solidFill>
                    <a:schemeClr val="lt1"/>
                  </a:solidFill>
                </a:endParaRPr>
              </a:p>
            </p:txBody>
          </p:sp>
          <p:sp>
            <p:nvSpPr>
              <p:cNvPr id="97" name="Google Shape;97;p10"/>
              <p:cNvSpPr txBox="1"/>
              <p:nvPr/>
            </p:nvSpPr>
            <p:spPr bwMode="auto">
              <a:xfrm>
                <a:off x="7405833" y="1258375"/>
                <a:ext cx="1497900" cy="615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ru" sz="2800" b="1">
                    <a:solidFill>
                      <a:schemeClr val="lt1"/>
                    </a:solidFill>
                  </a:rPr>
                  <a:t>250+</a:t>
                </a:r>
                <a:endParaRPr sz="2800" b="1">
                  <a:solidFill>
                    <a:schemeClr val="lt1"/>
                  </a:solidFill>
                </a:endParaRPr>
              </a:p>
            </p:txBody>
          </p:sp>
          <p:sp>
            <p:nvSpPr>
              <p:cNvPr id="98" name="Google Shape;98;p10"/>
              <p:cNvSpPr txBox="1"/>
              <p:nvPr/>
            </p:nvSpPr>
            <p:spPr bwMode="auto">
              <a:xfrm>
                <a:off x="7405833" y="1676731"/>
                <a:ext cx="18789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ru" sz="1100">
                    <a:solidFill>
                      <a:schemeClr val="lt1"/>
                    </a:solidFill>
                  </a:rPr>
                  <a:t>проектов</a:t>
                </a:r>
                <a:endParaRPr sz="1100">
                  <a:solidFill>
                    <a:schemeClr val="lt1"/>
                  </a:solidFill>
                </a:endParaRPr>
              </a:p>
            </p:txBody>
          </p:sp>
          <p:sp>
            <p:nvSpPr>
              <p:cNvPr id="99" name="Google Shape;99;p10"/>
              <p:cNvSpPr txBox="1"/>
              <p:nvPr/>
            </p:nvSpPr>
            <p:spPr bwMode="auto">
              <a:xfrm>
                <a:off x="7405833" y="2325401"/>
                <a:ext cx="1497900" cy="615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ru" sz="2800" b="1">
                    <a:solidFill>
                      <a:schemeClr val="lt1"/>
                    </a:solidFill>
                  </a:rPr>
                  <a:t>120+</a:t>
                </a:r>
                <a:endParaRPr sz="2800" b="1">
                  <a:solidFill>
                    <a:schemeClr val="lt1"/>
                  </a:solidFill>
                </a:endParaRPr>
              </a:p>
            </p:txBody>
          </p:sp>
          <p:sp>
            <p:nvSpPr>
              <p:cNvPr id="100" name="Google Shape;100;p10"/>
              <p:cNvSpPr txBox="1"/>
              <p:nvPr/>
            </p:nvSpPr>
            <p:spPr bwMode="auto">
              <a:xfrm>
                <a:off x="7405833" y="2743766"/>
                <a:ext cx="1497900" cy="354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spAutoFit/>
              </a:bodyPr>
              <a:lstStyle/>
              <a:p>
                <a:pPr marL="0" lvl="0" indent="0" algn="l" rtl="0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r>
                  <a:rPr lang="ru" sz="1100">
                    <a:solidFill>
                      <a:schemeClr val="lt1"/>
                    </a:solidFill>
                  </a:rPr>
                  <a:t>сотрудников</a:t>
                </a:r>
                <a:endParaRPr sz="1100">
                  <a:solidFill>
                    <a:schemeClr val="lt1"/>
                  </a:solidFill>
                </a:endParaRPr>
              </a:p>
            </p:txBody>
          </p:sp>
        </p:grpSp>
        <p:pic>
          <p:nvPicPr>
            <p:cNvPr id="101" name="Google Shape;101;p10"/>
            <p:cNvPicPr/>
            <p:nvPr/>
          </p:nvPicPr>
          <p:blipFill rotWithShape="1">
            <a:blip r:embed="rId5">
              <a:alphaModFix/>
            </a:blip>
            <a:stretch/>
          </p:blipFill>
          <p:spPr bwMode="auto">
            <a:xfrm>
              <a:off x="4052825" y="607275"/>
              <a:ext cx="3353000" cy="405188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551603455" name="Google Shape;102;p10"/>
          <p:cNvPicPr/>
          <p:nvPr/>
        </p:nvPicPr>
        <p:blipFill rotWithShape="1">
          <a:blip r:embed="rId6">
            <a:alphaModFix/>
          </a:blip>
          <a:srcRect l="0" t="0" r="0" b="0"/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ck / Grid " preserve="0" showMasterPhAnim="0" showMasterSp="1" userDrawn="1">
  <p:cSld name="BLANK_1">
    <p:bg>
      <p:bgPr shadeToTitle="0">
        <a:solidFill>
          <a:srgbClr val="1A202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834788" name="Google Shape;104;p11"/>
          <p:cNvPicPr/>
          <p:nvPr/>
        </p:nvPicPr>
        <p:blipFill rotWithShape="1">
          <a:blip r:embed="rId2">
            <a:alphaModFix amt="6000"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ck " preserve="0" showMasterPhAnim="0" showMasterSp="1" userDrawn="1">
  <p:cSld name="BLANK_1_3">
    <p:bg>
      <p:bgPr shadeToTitle="0">
        <a:solidFill>
          <a:srgbClr val="1A202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ck / Cover" preserve="0" showMasterPhAnim="0" showMasterSp="1" userDrawn="1">
  <p:cSld name="BLANK_1_2">
    <p:bg>
      <p:bgPr shadeToTitle="0">
        <a:solidFill>
          <a:srgbClr val="1A202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6643888" name="Google Shape;107;p13"/>
          <p:cNvPicPr/>
          <p:nvPr/>
        </p:nvPicPr>
        <p:blipFill rotWithShape="1">
          <a:blip r:embed="rId2">
            <a:alphaModFix amt="6000"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2930175" name="Google Shape;108;p13"/>
          <p:cNvPicPr/>
          <p:nvPr/>
        </p:nvPicPr>
        <p:blipFill rotWithShape="1">
          <a:blip r:embed="rId3">
            <a:alphaModFix/>
          </a:blip>
          <a:srcRect l="0" t="6608" r="25595" b="8233"/>
          <a:stretch/>
        </p:blipFill>
        <p:spPr bwMode="auto">
          <a:xfrm>
            <a:off x="3097000" y="0"/>
            <a:ext cx="6047001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425416" name="Google Shape;109;p13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535925" y="628925"/>
            <a:ext cx="2081275" cy="846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ck / Grid + Logo" preserve="0" showMasterPhAnim="0" showMasterSp="1" userDrawn="1">
  <p:cSld name="BLANK_1_1">
    <p:bg>
      <p:bgPr shadeToTitle="0">
        <a:solidFill>
          <a:srgbClr val="1A202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65683412" name="Google Shape;111;p14"/>
          <p:cNvPicPr/>
          <p:nvPr/>
        </p:nvPicPr>
        <p:blipFill rotWithShape="1">
          <a:blip r:embed="rId2">
            <a:alphaModFix amt="6000"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6051024" name="Google Shape;112;p14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ck / Chapter" preserve="0" showMasterPhAnim="0" showMasterSp="1" userDrawn="1">
  <p:cSld name="BLANK_1_1_2">
    <p:bg>
      <p:bgPr shadeToTitle="0">
        <a:solidFill>
          <a:srgbClr val="1A202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27674907" name="Google Shape;114;p15"/>
          <p:cNvPicPr/>
          <p:nvPr/>
        </p:nvPicPr>
        <p:blipFill rotWithShape="1">
          <a:blip r:embed="rId2">
            <a:alphaModFix amt="6000"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55666771" name="Google Shape;115;p15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8264202" name="Google Shape;116;p15"/>
          <p:cNvPicPr/>
          <p:nvPr/>
        </p:nvPicPr>
        <p:blipFill rotWithShape="1">
          <a:blip r:embed="rId4">
            <a:alphaModFix/>
          </a:blip>
          <a:srcRect l="57184" t="0" r="0" b="0"/>
          <a:stretch/>
        </p:blipFill>
        <p:spPr bwMode="auto">
          <a:xfrm>
            <a:off x="-5" y="177649"/>
            <a:ext cx="2050050" cy="4788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Black / Services" preserve="0" showMasterPhAnim="0" showMasterSp="1" userDrawn="1">
  <p:cSld name="BLANK_1_1_1">
    <p:bg>
      <p:bgPr shadeToTitle="0">
        <a:solidFill>
          <a:srgbClr val="1A2028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1143794" name="Google Shape;118;p16"/>
          <p:cNvPicPr/>
          <p:nvPr/>
        </p:nvPicPr>
        <p:blipFill rotWithShape="1">
          <a:blip r:embed="rId2">
            <a:alphaModFix amt="6000"/>
          </a:blip>
          <a:stretch/>
        </p:blipFill>
        <p:spPr bwMode="auto">
          <a:xfrm>
            <a:off x="152400" y="0"/>
            <a:ext cx="88391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1139452" name="Google Shape;119;p16"/>
          <p:cNvPicPr/>
          <p:nvPr/>
        </p:nvPicPr>
        <p:blipFill rotWithShape="1">
          <a:blip r:embed="rId3">
            <a:alphaModFix/>
          </a:blip>
          <a:srcRect l="0" t="0" r="0" b="0"/>
          <a:stretch/>
        </p:blipFill>
        <p:spPr bwMode="auto">
          <a:xfrm>
            <a:off x="8046554" y="246475"/>
            <a:ext cx="776246" cy="3156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6856786" name="Google Shape;120;p16"/>
          <p:cNvGrpSpPr/>
          <p:nvPr/>
        </p:nvGrpSpPr>
        <p:grpSpPr bwMode="auto">
          <a:xfrm>
            <a:off x="195075" y="827145"/>
            <a:ext cx="8753850" cy="3762261"/>
            <a:chOff x="195075" y="827145"/>
            <a:chExt cx="8753850" cy="3762261"/>
          </a:xfrm>
        </p:grpSpPr>
        <p:pic>
          <p:nvPicPr>
            <p:cNvPr id="121" name="Google Shape;121;p16"/>
            <p:cNvPicPr/>
            <p:nvPr/>
          </p:nvPicPr>
          <p:blipFill rotWithShape="1">
            <a:blip r:embed="rId4">
              <a:alphaModFix/>
            </a:blip>
            <a:srcRect l="0" t="0" r="0" b="0"/>
            <a:stretch/>
          </p:blipFill>
          <p:spPr bwMode="auto">
            <a:xfrm>
              <a:off x="6471863" y="1926842"/>
              <a:ext cx="2400877" cy="24008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2" name="Google Shape;122;p16"/>
            <p:cNvPicPr/>
            <p:nvPr/>
          </p:nvPicPr>
          <p:blipFill rotWithShape="1">
            <a:blip r:embed="rId4">
              <a:alphaModFix/>
            </a:blip>
            <a:srcRect l="0" t="0" r="0" b="0"/>
            <a:stretch/>
          </p:blipFill>
          <p:spPr bwMode="auto">
            <a:xfrm>
              <a:off x="315675" y="1926842"/>
              <a:ext cx="2400878" cy="240087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3" name="Google Shape;123;p16"/>
            <p:cNvPicPr/>
            <p:nvPr/>
          </p:nvPicPr>
          <p:blipFill rotWithShape="1">
            <a:blip r:embed="rId5">
              <a:alphaModFix/>
            </a:blip>
            <a:srcRect l="0" t="0" r="0" b="0"/>
            <a:stretch/>
          </p:blipFill>
          <p:spPr bwMode="auto">
            <a:xfrm>
              <a:off x="3244600" y="1926853"/>
              <a:ext cx="2400878" cy="240085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24" name="Google Shape;124;p16"/>
            <p:cNvSpPr txBox="1"/>
            <p:nvPr/>
          </p:nvSpPr>
          <p:spPr bwMode="auto">
            <a:xfrm>
              <a:off x="195075" y="3321906"/>
              <a:ext cx="2686500" cy="126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b="1">
                  <a:solidFill>
                    <a:schemeClr val="lt1"/>
                  </a:solidFill>
                  <a:latin typeface="Montserrat Alternates"/>
                  <a:ea typeface="Montserrat Alternates"/>
                  <a:cs typeface="Montserrat Alternates"/>
                </a:rPr>
                <a:t>Аутсорсинг</a:t>
              </a:r>
              <a:endParaRPr b="1">
                <a:solidFill>
                  <a:schemeClr val="lt1"/>
                </a:solidFill>
                <a:latin typeface="Montserrat Alternates"/>
                <a:ea typeface="Montserrat Alternates"/>
                <a:cs typeface="Montserrat Alternates"/>
              </a:endParaRPr>
            </a:p>
          </p:txBody>
        </p:sp>
        <p:sp>
          <p:nvSpPr>
            <p:cNvPr id="125" name="Google Shape;125;p16"/>
            <p:cNvSpPr txBox="1"/>
            <p:nvPr/>
          </p:nvSpPr>
          <p:spPr bwMode="auto">
            <a:xfrm>
              <a:off x="3122564" y="3321900"/>
              <a:ext cx="2943300" cy="126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b="1">
                  <a:solidFill>
                    <a:schemeClr val="lt1"/>
                  </a:solidFill>
                  <a:latin typeface="Montserrat Alternates"/>
                  <a:ea typeface="Montserrat Alternates"/>
                  <a:cs typeface="Montserrat Alternates"/>
                </a:rPr>
                <a:t>Проектное управление</a:t>
              </a:r>
              <a:endParaRPr b="1">
                <a:solidFill>
                  <a:schemeClr val="lt1"/>
                </a:solidFill>
                <a:latin typeface="Montserrat Alternates"/>
                <a:ea typeface="Montserrat Alternates"/>
                <a:cs typeface="Montserrat Alternates"/>
              </a:endParaRPr>
            </a:p>
          </p:txBody>
        </p:sp>
        <p:sp>
          <p:nvSpPr>
            <p:cNvPr id="126" name="Google Shape;126;p16"/>
            <p:cNvSpPr txBox="1"/>
            <p:nvPr/>
          </p:nvSpPr>
          <p:spPr bwMode="auto">
            <a:xfrm>
              <a:off x="6262425" y="3321906"/>
              <a:ext cx="2686500" cy="126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b="1">
                  <a:solidFill>
                    <a:schemeClr val="lt1"/>
                  </a:solidFill>
                  <a:latin typeface="Montserrat Alternates"/>
                  <a:ea typeface="Montserrat Alternates"/>
                  <a:cs typeface="Montserrat Alternates"/>
                </a:rPr>
                <a:t>Аутстафф</a:t>
              </a:r>
              <a:endParaRPr b="1">
                <a:solidFill>
                  <a:schemeClr val="lt1"/>
                </a:solidFill>
                <a:latin typeface="Montserrat Alternates"/>
                <a:ea typeface="Montserrat Alternates"/>
                <a:cs typeface="Montserrat Alternates"/>
              </a:endParaRPr>
            </a:p>
          </p:txBody>
        </p:sp>
        <p:sp>
          <p:nvSpPr>
            <p:cNvPr id="127" name="Google Shape;127;p16"/>
            <p:cNvSpPr txBox="1"/>
            <p:nvPr/>
          </p:nvSpPr>
          <p:spPr bwMode="auto">
            <a:xfrm>
              <a:off x="1826687" y="827145"/>
              <a:ext cx="5490600" cy="615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r>
                <a:rPr lang="ru" sz="3400" b="1">
                  <a:solidFill>
                    <a:schemeClr val="lt1"/>
                  </a:solidFill>
                  <a:latin typeface="Montserrat Alternates"/>
                  <a:ea typeface="Montserrat Alternates"/>
                  <a:cs typeface="Montserrat Alternates"/>
                </a:rPr>
                <a:t>Мы предлагаем</a:t>
              </a:r>
              <a:endParaRPr sz="3400" b="1">
                <a:solidFill>
                  <a:schemeClr val="lt1"/>
                </a:solidFill>
                <a:latin typeface="Montserrat Alternates"/>
                <a:ea typeface="Montserrat Alternates"/>
                <a:cs typeface="Montserrat Alternates"/>
              </a:endParaRPr>
            </a:p>
          </p:txBody>
        </p:sp>
        <p:pic>
          <p:nvPicPr>
            <p:cNvPr id="128" name="Google Shape;128;p16"/>
            <p:cNvPicPr/>
            <p:nvPr/>
          </p:nvPicPr>
          <p:blipFill rotWithShape="1">
            <a:blip r:embed="rId6">
              <a:alphaModFix/>
            </a:blip>
            <a:srcRect l="29" t="0" r="19" b="0"/>
            <a:stretch/>
          </p:blipFill>
          <p:spPr bwMode="auto">
            <a:xfrm>
              <a:off x="636262" y="1838267"/>
              <a:ext cx="1804145" cy="180506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9" name="Google Shape;129;p16"/>
            <p:cNvPicPr/>
            <p:nvPr/>
          </p:nvPicPr>
          <p:blipFill rotWithShape="1">
            <a:blip r:embed="rId7">
              <a:alphaModFix/>
            </a:blip>
            <a:srcRect l="19" t="0" r="28" b="0"/>
            <a:stretch/>
          </p:blipFill>
          <p:spPr bwMode="auto">
            <a:xfrm>
              <a:off x="6636947" y="1771604"/>
              <a:ext cx="1937465" cy="193839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0" name="Google Shape;130;p16"/>
            <p:cNvPicPr/>
            <p:nvPr/>
          </p:nvPicPr>
          <p:blipFill rotWithShape="1">
            <a:blip r:embed="rId8">
              <a:alphaModFix/>
            </a:blip>
            <a:srcRect l="19" t="0" r="28" b="0"/>
            <a:stretch/>
          </p:blipFill>
          <p:spPr bwMode="auto">
            <a:xfrm>
              <a:off x="3669936" y="1838297"/>
              <a:ext cx="1804145" cy="180500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simple-light-2">
    <p:bg>
      <p:bgPr shadeToTitle="0">
        <a:solidFill>
          <a:schemeClr val="lt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</p:sldLayoutIdLst>
  <p:hf dt="0" ftr="0" hdr="0" sldNum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.png"/><Relationship Id="rId4" Type="http://schemas.openxmlformats.org/officeDocument/2006/relationships/image" Target="../media/image3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git-scm.com/download/win" TargetMode="External"/><Relationship Id="rId4" Type="http://schemas.openxmlformats.org/officeDocument/2006/relationships/image" Target="../media/image3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3.png"/><Relationship Id="rId4" Type="http://schemas.openxmlformats.org/officeDocument/2006/relationships/image" Target="../media/image34.jp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7.png"/><Relationship Id="rId4" Type="http://schemas.openxmlformats.org/officeDocument/2006/relationships/image" Target="../media/image35.jp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3.png"/><Relationship Id="rId4" Type="http://schemas.openxmlformats.org/officeDocument/2006/relationships/image" Target="../media/image36.jp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37.jp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8.jpg"/><Relationship Id="rId4" Type="http://schemas.openxmlformats.org/officeDocument/2006/relationships/image" Target="../media/image33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hyperlink" Target="https://docs.github.com/ru/authentication/connecting-to-github-with-ssh/generating-a-new-ssh-key-and-adding-it-to-the-ssh-agent" TargetMode="External"/><Relationship Id="rId5" Type="http://schemas.openxmlformats.org/officeDocument/2006/relationships/image" Target="../media/image39.jpg"/><Relationship Id="rId6" Type="http://schemas.openxmlformats.org/officeDocument/2006/relationships/image" Target="../media/image40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1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42.jp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3.png"/><Relationship Id="rId4" Type="http://schemas.openxmlformats.org/officeDocument/2006/relationships/image" Target="../media/image43.jp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4.jpg"/><Relationship Id="rId4" Type="http://schemas.openxmlformats.org/officeDocument/2006/relationships/image" Target="../media/image45.jpg"/><Relationship Id="rId5" Type="http://schemas.openxmlformats.org/officeDocument/2006/relationships/image" Target="../media/image7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Relationship Id="rId4" Type="http://schemas.openxmlformats.org/officeDocument/2006/relationships/image" Target="../media/image48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3.png"/><Relationship Id="rId4" Type="http://schemas.openxmlformats.org/officeDocument/2006/relationships/image" Target="../media/image49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0.jp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8229441" name="Google Shape;135;p17"/>
          <p:cNvSpPr txBox="1"/>
          <p:nvPr/>
        </p:nvSpPr>
        <p:spPr bwMode="auto">
          <a:xfrm>
            <a:off x="2017200" y="2191350"/>
            <a:ext cx="5109600" cy="73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200" b="1">
                <a:solidFill>
                  <a:srgbClr val="FFFFFF"/>
                </a:solidFill>
                <a:latin typeface="Montserrat Alternates"/>
                <a:ea typeface="Montserrat Alternates"/>
                <a:cs typeface="Montserrat Alternates"/>
              </a:rPr>
              <a:t>GitHub</a:t>
            </a:r>
            <a:endParaRPr sz="3200" b="1">
              <a:solidFill>
                <a:srgbClr val="FFFFFF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pic>
        <p:nvPicPr>
          <p:cNvPr id="1416356266" name="Google Shape;136;p17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5400000">
            <a:off x="-1001886" y="1740839"/>
            <a:ext cx="3752950" cy="174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54947156" name="Google Shape;137;p17"/>
          <p:cNvSpPr txBox="1"/>
          <p:nvPr/>
        </p:nvSpPr>
        <p:spPr bwMode="auto">
          <a:xfrm>
            <a:off x="2077499" y="2926949"/>
            <a:ext cx="4989359" cy="7615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1100">
                <a:solidFill>
                  <a:schemeClr val="lt1"/>
                </a:solidFill>
              </a:rPr>
              <a:t>Git – это система управления версиями с открытым исходным кодом.</a:t>
            </a:r>
            <a:endParaRPr sz="1100">
              <a:solidFill>
                <a:schemeClr val="lt1"/>
              </a:solidFill>
            </a:endParaRPr>
          </a:p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r>
              <a:rPr lang="ru" sz="1100">
                <a:solidFill>
                  <a:srgbClr val="F4F4F4"/>
                </a:solidFill>
              </a:rPr>
              <a:t>GitHub – это веб-служба размещения для репозиториев Git.</a:t>
            </a:r>
            <a:endParaRPr sz="1100">
              <a:solidFill>
                <a:srgbClr val="F4F4F4"/>
              </a:solidFill>
            </a:endParaRPr>
          </a:p>
          <a:p>
            <a:pPr marL="0" lvl="0" indent="0" algn="ctr" rtl="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/>
            </a:pPr>
            <a:endParaRPr sz="1100">
              <a:solidFill>
                <a:srgbClr val="F4F4F4"/>
              </a:solidFill>
            </a:endParaRPr>
          </a:p>
        </p:txBody>
      </p:sp>
      <p:pic>
        <p:nvPicPr>
          <p:cNvPr id="725109249" name="Google Shape;138;p17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3900625" y="626265"/>
            <a:ext cx="1342750" cy="1342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6688304" name="Прямоугольник 3"/>
          <p:cNvSpPr/>
          <p:nvPr/>
        </p:nvSpPr>
        <p:spPr bwMode="auto">
          <a:xfrm>
            <a:off x="4265589" y="866467"/>
            <a:ext cx="904863" cy="3051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latin typeface="Arial"/>
                <a:cs typeface="Arial"/>
              </a:rPr>
              <a:t>Windows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1283120439" name="TextBox 4"/>
          <p:cNvSpPr txBox="1"/>
          <p:nvPr/>
        </p:nvSpPr>
        <p:spPr bwMode="auto">
          <a:xfrm>
            <a:off x="2948499" y="1235799"/>
            <a:ext cx="2802206" cy="30515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u="sng">
                <a:hlinkClick r:id="rId3" tooltip=""/>
              </a:rPr>
              <a:t>https://</a:t>
            </a:r>
            <a:r>
              <a:rPr lang="en-US" u="sng">
                <a:hlinkClick r:id="rId3" tooltip=""/>
              </a:rPr>
              <a:t>git-scm.com/download/win</a:t>
            </a:r>
            <a:endParaRPr lang="ru-RU"/>
          </a:p>
        </p:txBody>
      </p:sp>
      <p:pic>
        <p:nvPicPr>
          <p:cNvPr id="2057348172" name="Рисунок 5"/>
          <p:cNvPicPr>
            <a:picLocks noChangeAspect="1"/>
          </p:cNvPicPr>
          <p:nvPr/>
        </p:nvPicPr>
        <p:blipFill rotWithShape="1">
          <a:blip r:embed="rId4"/>
          <a:srcRect l="33667" t="16441" r="18866" b="34340"/>
          <a:stretch/>
        </p:blipFill>
        <p:spPr bwMode="auto">
          <a:xfrm>
            <a:off x="1932486" y="1817277"/>
            <a:ext cx="5787024" cy="2993719"/>
          </a:xfrm>
          <a:prstGeom prst="rect">
            <a:avLst/>
          </a:prstGeom>
        </p:spPr>
      </p:pic>
      <p:sp>
        <p:nvSpPr>
          <p:cNvPr id="2082732473" name="Заголовок 1"/>
          <p:cNvSpPr txBox="1"/>
          <p:nvPr/>
        </p:nvSpPr>
        <p:spPr bwMode="auto">
          <a:xfrm flipH="0" flipV="0">
            <a:off x="-908197" y="190499"/>
            <a:ext cx="10515600" cy="1080293"/>
          </a:xfrm>
          <a:prstGeom prst="rect">
            <a:avLst/>
          </a:prstGeom>
        </p:spPr>
        <p:txBody>
          <a:bodyPr/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b="1"/>
              <a:t>Установка </a:t>
            </a:r>
            <a:r>
              <a:rPr lang="en-US" b="1"/>
              <a:t>Git</a:t>
            </a:r>
            <a:endParaRPr lang="ru-RU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659472" name="Заголовок 1"/>
          <p:cNvSpPr txBox="1"/>
          <p:nvPr/>
        </p:nvSpPr>
        <p:spPr bwMode="auto">
          <a:xfrm>
            <a:off x="-463549" y="364714"/>
            <a:ext cx="10515600" cy="1325562"/>
          </a:xfrm>
          <a:prstGeom prst="rect">
            <a:avLst/>
          </a:prstGeom>
        </p:spPr>
        <p:txBody>
          <a:bodyPr/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b="1"/>
              <a:t>Установка </a:t>
            </a:r>
            <a:r>
              <a:rPr lang="en-US" b="1"/>
              <a:t>Git</a:t>
            </a:r>
            <a:endParaRPr lang="ru-RU" b="1"/>
          </a:p>
        </p:txBody>
      </p:sp>
      <p:sp>
        <p:nvSpPr>
          <p:cNvPr id="1737267533" name="Прямоугольник 2"/>
          <p:cNvSpPr/>
          <p:nvPr/>
        </p:nvSpPr>
        <p:spPr bwMode="auto">
          <a:xfrm>
            <a:off x="4384301" y="1512117"/>
            <a:ext cx="776378" cy="3051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latin typeface="Arial"/>
                <a:cs typeface="Arial"/>
              </a:rPr>
              <a:t>MacOS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1504678040" name="TextBox 3"/>
          <p:cNvSpPr txBox="1"/>
          <p:nvPr/>
        </p:nvSpPr>
        <p:spPr bwMode="auto">
          <a:xfrm flipH="0" flipV="0">
            <a:off x="690016" y="2047874"/>
            <a:ext cx="8208467" cy="2652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ru-RU">
                <a:latin typeface="Arial"/>
                <a:cs typeface="Arial"/>
              </a:rPr>
              <a:t>Открываем терминал и пишем</a:t>
            </a:r>
            <a:r>
              <a:rPr lang="en-US">
                <a:latin typeface="Arial"/>
                <a:cs typeface="Arial"/>
              </a:rPr>
              <a:t>:</a:t>
            </a:r>
            <a:endParaRPr/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r>
              <a:rPr lang="ru-RU">
                <a:latin typeface="Arial"/>
                <a:cs typeface="Arial"/>
              </a:rPr>
              <a:t>Если установлен </a:t>
            </a:r>
            <a:r>
              <a:rPr lang="en-US">
                <a:latin typeface="Arial"/>
                <a:cs typeface="Arial"/>
              </a:rPr>
              <a:t>Homebrew</a:t>
            </a:r>
            <a:endParaRPr/>
          </a:p>
          <a:p>
            <a:pPr algn="ctr">
              <a:defRPr/>
            </a:pPr>
            <a:endParaRPr lang="en-US">
              <a:latin typeface="Arial"/>
              <a:cs typeface="Arial"/>
            </a:endParaRPr>
          </a:p>
          <a:p>
            <a:pPr algn="ctr">
              <a:defRPr/>
            </a:pPr>
            <a:endParaRPr lang="en-US">
              <a:latin typeface="Arial"/>
              <a:cs typeface="Arial"/>
            </a:endParaRPr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r>
              <a:rPr lang="ru-RU">
                <a:latin typeface="Arial"/>
                <a:cs typeface="Arial"/>
              </a:rPr>
              <a:t>Если нет, </a:t>
            </a:r>
            <a:r>
              <a:rPr lang="ru-RU">
                <a:latin typeface="Arial"/>
                <a:cs typeface="Arial"/>
              </a:rPr>
              <a:t>то</a:t>
            </a:r>
            <a:endParaRPr lang="en-US">
              <a:latin typeface="Arial"/>
              <a:cs typeface="Arial"/>
            </a:endParaRPr>
          </a:p>
          <a:p>
            <a:pPr algn="ctr">
              <a:defRPr/>
            </a:pPr>
            <a:endParaRPr lang="en-US">
              <a:latin typeface="Arial"/>
              <a:cs typeface="Arial"/>
            </a:endParaRPr>
          </a:p>
          <a:p>
            <a:pPr algn="ctr">
              <a:defRPr/>
            </a:pPr>
            <a:endParaRPr lang="en-US">
              <a:latin typeface="Arial"/>
              <a:cs typeface="Arial"/>
            </a:endParaRPr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r>
              <a:rPr lang="ru-RU">
                <a:latin typeface="Arial"/>
                <a:cs typeface="Arial"/>
              </a:rPr>
              <a:t>Появится окно, где предложат установить </a:t>
            </a:r>
            <a:r>
              <a:rPr lang="en-US">
                <a:latin typeface="Arial"/>
                <a:cs typeface="Arial"/>
              </a:rPr>
              <a:t>Command Line Tools (</a:t>
            </a:r>
            <a:r>
              <a:rPr lang="en-US">
                <a:latin typeface="Arial"/>
                <a:cs typeface="Arial"/>
              </a:rPr>
              <a:t>CLT). </a:t>
            </a:r>
            <a:r>
              <a:rPr lang="ru-RU">
                <a:latin typeface="Arial"/>
                <a:cs typeface="Arial"/>
              </a:rPr>
              <a:t>Соглашаемся </a:t>
            </a:r>
            <a:r>
              <a:rPr lang="ru-RU">
                <a:latin typeface="Arial"/>
                <a:cs typeface="Arial"/>
              </a:rPr>
              <a:t>и ждём установки. Вместе с </a:t>
            </a:r>
            <a:r>
              <a:rPr lang="en-US">
                <a:latin typeface="Arial"/>
                <a:cs typeface="Arial"/>
              </a:rPr>
              <a:t>CLT </a:t>
            </a:r>
            <a:r>
              <a:rPr lang="ru-RU">
                <a:latin typeface="Arial"/>
                <a:cs typeface="Arial"/>
              </a:rPr>
              <a:t>установится и </a:t>
            </a:r>
            <a:r>
              <a:rPr lang="en-US">
                <a:latin typeface="Arial"/>
                <a:cs typeface="Arial"/>
              </a:rPr>
              <a:t>git</a:t>
            </a:r>
            <a:endParaRPr lang="ru-RU">
              <a:latin typeface="Arial"/>
              <a:cs typeface="Arial"/>
            </a:endParaRPr>
          </a:p>
        </p:txBody>
      </p:sp>
      <p:sp>
        <p:nvSpPr>
          <p:cNvPr id="17540022" name="Прямоугольник 4"/>
          <p:cNvSpPr/>
          <p:nvPr/>
        </p:nvSpPr>
        <p:spPr bwMode="auto">
          <a:xfrm>
            <a:off x="4179463" y="2800096"/>
            <a:ext cx="1310111" cy="30515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/>
              <a:t>brew install </a:t>
            </a:r>
            <a:r>
              <a:rPr lang="en-US"/>
              <a:t>git</a:t>
            </a:r>
            <a:endParaRPr lang="ru-RU"/>
          </a:p>
        </p:txBody>
      </p:sp>
      <p:sp>
        <p:nvSpPr>
          <p:cNvPr id="197478497" name="Прямоугольник 5"/>
          <p:cNvSpPr/>
          <p:nvPr/>
        </p:nvSpPr>
        <p:spPr bwMode="auto">
          <a:xfrm>
            <a:off x="4216316" y="3667494"/>
            <a:ext cx="1112348" cy="3051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/>
              <a:t>git</a:t>
            </a:r>
            <a:r>
              <a:rPr lang="en-US"/>
              <a:t> --version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6870564" name="Прямоугольник 2"/>
          <p:cNvSpPr/>
          <p:nvPr/>
        </p:nvSpPr>
        <p:spPr bwMode="auto">
          <a:xfrm>
            <a:off x="4491532" y="1067617"/>
            <a:ext cx="608649" cy="3051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>
                <a:latin typeface="Arial"/>
                <a:cs typeface="Arial"/>
              </a:rPr>
              <a:t>Linux</a:t>
            </a:r>
            <a:endParaRPr lang="en-US">
              <a:latin typeface="Arial"/>
              <a:cs typeface="Arial"/>
            </a:endParaRPr>
          </a:p>
        </p:txBody>
      </p:sp>
      <p:sp>
        <p:nvSpPr>
          <p:cNvPr id="1435587907" name="Прямоугольник 4"/>
          <p:cNvSpPr/>
          <p:nvPr/>
        </p:nvSpPr>
        <p:spPr bwMode="auto">
          <a:xfrm>
            <a:off x="3992432" y="1809536"/>
            <a:ext cx="1606847" cy="305159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/>
              <a:t>sudo</a:t>
            </a:r>
            <a:r>
              <a:rPr lang="en-US"/>
              <a:t> apt install </a:t>
            </a:r>
            <a:r>
              <a:rPr lang="en-US"/>
              <a:t>git</a:t>
            </a:r>
            <a:endParaRPr lang="ru-RU"/>
          </a:p>
        </p:txBody>
      </p:sp>
      <p:sp>
        <p:nvSpPr>
          <p:cNvPr id="2029684257" name="Прямоугольник 5"/>
          <p:cNvSpPr/>
          <p:nvPr/>
        </p:nvSpPr>
        <p:spPr bwMode="auto">
          <a:xfrm>
            <a:off x="3933120" y="2800676"/>
            <a:ext cx="1695573" cy="3051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/>
              <a:t>sudo</a:t>
            </a:r>
            <a:r>
              <a:rPr lang="en-US"/>
              <a:t> yum install </a:t>
            </a:r>
            <a:r>
              <a:rPr lang="en-US"/>
              <a:t>git</a:t>
            </a:r>
            <a:endParaRPr lang="ru-RU"/>
          </a:p>
        </p:txBody>
      </p:sp>
      <p:sp>
        <p:nvSpPr>
          <p:cNvPr id="727784296" name="Заголовок 1"/>
          <p:cNvSpPr txBox="1"/>
          <p:nvPr/>
        </p:nvSpPr>
        <p:spPr bwMode="auto">
          <a:xfrm>
            <a:off x="-320674" y="47214"/>
            <a:ext cx="10515600" cy="1325562"/>
          </a:xfrm>
          <a:prstGeom prst="rect">
            <a:avLst/>
          </a:prstGeom>
        </p:spPr>
        <p:txBody>
          <a:bodyPr/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b="1"/>
              <a:t>Установка </a:t>
            </a:r>
            <a:r>
              <a:rPr lang="en-US" b="1"/>
              <a:t>Git</a:t>
            </a:r>
            <a:endParaRPr lang="ru-RU" b="1"/>
          </a:p>
        </p:txBody>
      </p:sp>
      <p:sp>
        <p:nvSpPr>
          <p:cNvPr id="220967715" name="TextBox 3"/>
          <p:cNvSpPr txBox="1"/>
          <p:nvPr/>
        </p:nvSpPr>
        <p:spPr bwMode="auto">
          <a:xfrm>
            <a:off x="-462121" y="1428716"/>
            <a:ext cx="10519198" cy="24387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>
                <a:latin typeface="Arial"/>
                <a:cs typeface="Arial"/>
              </a:rPr>
              <a:t>Debian</a:t>
            </a:r>
            <a:r>
              <a:rPr lang="en-US">
                <a:latin typeface="Arial"/>
                <a:cs typeface="Arial"/>
              </a:rPr>
              <a:t> </a:t>
            </a:r>
            <a:r>
              <a:rPr lang="ru-RU">
                <a:latin typeface="Arial"/>
                <a:cs typeface="Arial"/>
              </a:rPr>
              <a:t>или </a:t>
            </a:r>
            <a:r>
              <a:rPr lang="en-US">
                <a:latin typeface="Arial"/>
                <a:cs typeface="Arial"/>
              </a:rPr>
              <a:t>Ubuntu</a:t>
            </a:r>
            <a:br>
              <a:rPr lang="en-US">
                <a:latin typeface="Arial"/>
                <a:cs typeface="Arial"/>
              </a:rPr>
            </a:br>
            <a:br>
              <a:rPr lang="en-US">
                <a:latin typeface="Arial"/>
                <a:cs typeface="Arial"/>
              </a:rPr>
            </a:br>
            <a:br>
              <a:rPr lang="en-US">
                <a:latin typeface="Arial"/>
                <a:cs typeface="Arial"/>
              </a:rPr>
            </a:br>
            <a:br>
              <a:rPr lang="en-US">
                <a:latin typeface="Arial"/>
                <a:cs typeface="Arial"/>
              </a:rPr>
            </a:br>
            <a:r>
              <a:rPr lang="en-US">
                <a:latin typeface="Arial"/>
                <a:cs typeface="Arial"/>
              </a:rPr>
              <a:t>CentOS</a:t>
            </a:r>
            <a:endParaRPr lang="ru-RU">
              <a:latin typeface="Arial"/>
              <a:cs typeface="Arial"/>
            </a:endParaRPr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endParaRPr lang="ru-RU">
              <a:latin typeface="Arial"/>
              <a:cs typeface="Arial"/>
            </a:endParaRPr>
          </a:p>
          <a:p>
            <a:pPr algn="ctr">
              <a:defRPr/>
            </a:pPr>
            <a:r>
              <a:rPr lang="en-US">
                <a:latin typeface="Arial"/>
                <a:cs typeface="Arial"/>
              </a:rPr>
              <a:t>Arch</a:t>
            </a:r>
            <a:endParaRPr lang="ru-RU">
              <a:latin typeface="Arial"/>
              <a:cs typeface="Arial"/>
            </a:endParaRPr>
          </a:p>
          <a:p>
            <a:pPr algn="ctr"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7096917" name="Прямоугольник 5"/>
          <p:cNvSpPr/>
          <p:nvPr/>
        </p:nvSpPr>
        <p:spPr bwMode="auto">
          <a:xfrm>
            <a:off x="3933120" y="3905575"/>
            <a:ext cx="1715458" cy="3051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/>
              <a:t>sudo pacman -S git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2187042" name="Google Shape;144;p18"/>
          <p:cNvSpPr txBox="1"/>
          <p:nvPr/>
        </p:nvSpPr>
        <p:spPr bwMode="auto">
          <a:xfrm>
            <a:off x="352600" y="608750"/>
            <a:ext cx="76818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Регистрация и вход в аккаунт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424053726" name="Google Shape;145;p18"/>
          <p:cNvSpPr txBox="1"/>
          <p:nvPr/>
        </p:nvSpPr>
        <p:spPr bwMode="auto">
          <a:xfrm>
            <a:off x="352600" y="1406050"/>
            <a:ext cx="8627100" cy="83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Для регистрации нажмите Sign up и следуйте пошаговой инструкции.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Для входа используйте Sign in и введите свои логин и пароль.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763966689" name="Google Shape;146;p18"/>
          <p:cNvPicPr/>
          <p:nvPr/>
        </p:nvPicPr>
        <p:blipFill rotWithShape="1">
          <a:blip r:embed="rId3">
            <a:alphaModFix/>
          </a:blip>
          <a:srcRect l="22197" t="0" r="0" b="52498"/>
          <a:stretch/>
        </p:blipFill>
        <p:spPr bwMode="auto">
          <a:xfrm rot="-5400000">
            <a:off x="6472950" y="2472451"/>
            <a:ext cx="3316900" cy="202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83875275" name="Google Shape;147;p18"/>
          <p:cNvPicPr/>
          <p:nvPr/>
        </p:nvPicPr>
        <p:blipFill rotWithShape="1">
          <a:blip r:embed="rId4">
            <a:alphaModFix/>
          </a:blip>
          <a:srcRect l="0" t="69" r="0" b="69"/>
          <a:stretch/>
        </p:blipFill>
        <p:spPr bwMode="auto">
          <a:xfrm>
            <a:off x="1339837" y="2754625"/>
            <a:ext cx="6464325" cy="1460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3302718" name="Google Shape;152;p19"/>
          <p:cNvSpPr txBox="1"/>
          <p:nvPr/>
        </p:nvSpPr>
        <p:spPr bwMode="auto">
          <a:xfrm>
            <a:off x="336500" y="1306747"/>
            <a:ext cx="5490600" cy="11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</a:t>
            </a:r>
            <a:b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</a:b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репозитория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324937216" name="Google Shape;153;p19"/>
          <p:cNvSpPr txBox="1"/>
          <p:nvPr/>
        </p:nvSpPr>
        <p:spPr bwMode="auto">
          <a:xfrm>
            <a:off x="336500" y="2551569"/>
            <a:ext cx="4169700" cy="12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Для создания репозитория нажмите на «+» </a:t>
            </a:r>
            <a:br>
              <a:rPr lang="ru" sz="1300">
                <a:solidFill>
                  <a:schemeClr val="dk1"/>
                </a:solidFill>
              </a:rPr>
            </a:br>
            <a:r>
              <a:rPr lang="ru" sz="1300">
                <a:solidFill>
                  <a:schemeClr val="dk1"/>
                </a:solidFill>
              </a:rPr>
              <a:t>в правом верхнем углу и выберете </a:t>
            </a:r>
            <a:br>
              <a:rPr lang="ru" sz="1300">
                <a:solidFill>
                  <a:schemeClr val="dk1"/>
                </a:solidFill>
              </a:rPr>
            </a:br>
            <a:r>
              <a:rPr lang="ru" sz="1300">
                <a:solidFill>
                  <a:schemeClr val="dk1"/>
                </a:solidFill>
              </a:rPr>
              <a:t>«New repository».</a:t>
            </a:r>
            <a:endParaRPr sz="130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endParaRPr sz="1300">
              <a:solidFill>
                <a:schemeClr val="dk1"/>
              </a:solidFill>
            </a:endParaRPr>
          </a:p>
        </p:txBody>
      </p:sp>
      <p:pic>
        <p:nvPicPr>
          <p:cNvPr id="1131354971" name="Google Shape;154;p19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10800000" flipH="1">
            <a:off x="5391039" y="-11"/>
            <a:ext cx="3752950" cy="174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4174011" name="Google Shape;155;p19"/>
          <p:cNvPicPr/>
          <p:nvPr/>
        </p:nvPicPr>
        <p:blipFill rotWithShape="1">
          <a:blip r:embed="rId4">
            <a:alphaModFix/>
          </a:blip>
          <a:srcRect l="0" t="39" r="0" b="39"/>
          <a:stretch/>
        </p:blipFill>
        <p:spPr bwMode="auto">
          <a:xfrm>
            <a:off x="5668400" y="1271175"/>
            <a:ext cx="2992900" cy="2601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5960572" name="Google Shape;160;p20"/>
          <p:cNvPicPr/>
          <p:nvPr/>
        </p:nvPicPr>
        <p:blipFill rotWithShape="1">
          <a:blip r:embed="rId3">
            <a:alphaModFix/>
          </a:blip>
          <a:srcRect l="22197" t="0" r="0" b="52498"/>
          <a:stretch/>
        </p:blipFill>
        <p:spPr bwMode="auto">
          <a:xfrm flipH="1">
            <a:off x="5827100" y="3118301"/>
            <a:ext cx="3316900" cy="2025200"/>
          </a:xfrm>
          <a:prstGeom prst="rect">
            <a:avLst/>
          </a:prstGeom>
          <a:noFill/>
          <a:ln>
            <a:noFill/>
          </a:ln>
        </p:spPr>
      </p:pic>
      <p:sp>
        <p:nvSpPr>
          <p:cNvPr id="360099443" name="Google Shape;161;p20"/>
          <p:cNvSpPr txBox="1"/>
          <p:nvPr/>
        </p:nvSpPr>
        <p:spPr bwMode="auto">
          <a:xfrm>
            <a:off x="354450" y="2191425"/>
            <a:ext cx="4160400" cy="203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Репозиторий может быть открытым и тогда доступ к нему может получить любой имеющий на него ссылку.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Репозиторий может быть закрытым и в этом случае вы определяете кто может получить </a:t>
            </a:r>
            <a:br>
              <a:rPr lang="ru" sz="1300">
                <a:solidFill>
                  <a:schemeClr val="dk1"/>
                </a:solidFill>
              </a:rPr>
            </a:br>
            <a:r>
              <a:rPr lang="ru" sz="1300">
                <a:solidFill>
                  <a:schemeClr val="dk1"/>
                </a:solidFill>
              </a:rPr>
              <a:t>к нему доступ.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718294393" name="Google Shape;162;p20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5730175" y="1026393"/>
            <a:ext cx="2904725" cy="3090714"/>
          </a:xfrm>
          <a:prstGeom prst="rect">
            <a:avLst/>
          </a:prstGeom>
          <a:noFill/>
          <a:ln>
            <a:noFill/>
          </a:ln>
        </p:spPr>
      </p:pic>
      <p:sp>
        <p:nvSpPr>
          <p:cNvPr id="316520626" name="Google Shape;163;p20"/>
          <p:cNvSpPr txBox="1"/>
          <p:nvPr/>
        </p:nvSpPr>
        <p:spPr bwMode="auto">
          <a:xfrm>
            <a:off x="311450" y="912661"/>
            <a:ext cx="5490600" cy="11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</a:t>
            </a:r>
            <a:b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</a:b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репозитория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0188729" name="Google Shape;168;p21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5400000">
            <a:off x="-1001886" y="1740839"/>
            <a:ext cx="3752950" cy="174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105570767" name="Google Shape;169;p21"/>
          <p:cNvSpPr txBox="1"/>
          <p:nvPr/>
        </p:nvSpPr>
        <p:spPr bwMode="auto">
          <a:xfrm>
            <a:off x="343550" y="1430725"/>
            <a:ext cx="6762899" cy="11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Клонирование </a:t>
            </a:r>
            <a:b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</a:b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репозитория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32118466" name="Google Shape;170;p21"/>
          <p:cNvSpPr txBox="1"/>
          <p:nvPr/>
        </p:nvSpPr>
        <p:spPr bwMode="auto">
          <a:xfrm>
            <a:off x="343550" y="2727575"/>
            <a:ext cx="4228500" cy="9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Репозиторий можно клонировать на свой компьютер. Для этого выберите способ (HTTPS или SSH) и скопируйте ссылку. </a:t>
            </a:r>
            <a:endParaRPr sz="1300">
              <a:solidFill>
                <a:srgbClr val="24292E"/>
              </a:solidFill>
            </a:endParaRPr>
          </a:p>
        </p:txBody>
      </p:sp>
      <p:pic>
        <p:nvPicPr>
          <p:cNvPr id="2034089127" name="Google Shape;171;p21"/>
          <p:cNvPicPr/>
          <p:nvPr/>
        </p:nvPicPr>
        <p:blipFill rotWithShape="1">
          <a:blip r:embed="rId4">
            <a:alphaModFix/>
          </a:blip>
          <a:srcRect l="0" t="69" r="0" b="78"/>
          <a:stretch/>
        </p:blipFill>
        <p:spPr bwMode="auto">
          <a:xfrm>
            <a:off x="5625875" y="1118850"/>
            <a:ext cx="3029850" cy="2905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02065" name="Google Shape;198;p24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SSH-ключи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53934994" name="Google Shape;199;p24"/>
          <p:cNvSpPr txBox="1"/>
          <p:nvPr/>
        </p:nvSpPr>
        <p:spPr bwMode="auto">
          <a:xfrm>
            <a:off x="352600" y="1350000"/>
            <a:ext cx="8640900" cy="98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Для работы с репозиторием иногда требуется создать ssh-ключ. Для этого нажмите на иконку своего профиля в правом верхнем углу и выберите пункт настройки (Settings). Затем в меню слева выберите пункт «SSH and GPG keys» и нажмите «New ssh key». 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433449037" name="Google Shape;200;p24"/>
          <p:cNvPicPr/>
          <p:nvPr/>
        </p:nvPicPr>
        <p:blipFill rotWithShape="1">
          <a:blip r:embed="rId3">
            <a:alphaModFix/>
          </a:blip>
          <a:srcRect l="0" t="129" r="0" b="138"/>
          <a:stretch/>
        </p:blipFill>
        <p:spPr bwMode="auto">
          <a:xfrm>
            <a:off x="450000" y="2745425"/>
            <a:ext cx="5191152" cy="1889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6515884" name="Google Shape;201;p24"/>
          <p:cNvPicPr/>
          <p:nvPr/>
        </p:nvPicPr>
        <p:blipFill rotWithShape="1">
          <a:blip r:embed="rId4">
            <a:alphaModFix/>
          </a:blip>
          <a:srcRect l="22197" t="0" r="0" b="52498"/>
          <a:stretch/>
        </p:blipFill>
        <p:spPr bwMode="auto">
          <a:xfrm rot="-5400000">
            <a:off x="6472950" y="2472451"/>
            <a:ext cx="3316900" cy="202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87599039" name="Google Shape;206;p25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5400000">
            <a:off x="-1001886" y="1740839"/>
            <a:ext cx="3752950" cy="1749175"/>
          </a:xfrm>
          <a:prstGeom prst="rect">
            <a:avLst/>
          </a:prstGeom>
          <a:noFill/>
          <a:ln>
            <a:noFill/>
          </a:ln>
        </p:spPr>
      </p:pic>
      <p:sp>
        <p:nvSpPr>
          <p:cNvPr id="1627851264" name="Google Shape;207;p25"/>
          <p:cNvSpPr txBox="1"/>
          <p:nvPr/>
        </p:nvSpPr>
        <p:spPr bwMode="auto">
          <a:xfrm>
            <a:off x="352600" y="1734188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SSH-ключи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70896365" name="Google Shape;208;p25"/>
          <p:cNvSpPr txBox="1"/>
          <p:nvPr/>
        </p:nvSpPr>
        <p:spPr bwMode="auto">
          <a:xfrm>
            <a:off x="352599" y="2619161"/>
            <a:ext cx="4153860" cy="7775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Подробная инструкция по генерации ключей находится по </a:t>
            </a:r>
            <a:r>
              <a:rPr lang="ru" sz="1300" u="sng">
                <a:solidFill>
                  <a:schemeClr val="hlink"/>
                </a:solidFill>
                <a:hlinkClick r:id="rId4" tooltip=""/>
              </a:rPr>
              <a:t>ссылке</a:t>
            </a:r>
            <a:endParaRPr sz="1300">
              <a:solidFill>
                <a:srgbClr val="0AB8B6"/>
              </a:solidFill>
            </a:endParaRPr>
          </a:p>
        </p:txBody>
      </p:sp>
      <p:pic>
        <p:nvPicPr>
          <p:cNvPr id="2064109633" name="Google Shape;209;p25"/>
          <p:cNvPicPr/>
          <p:nvPr/>
        </p:nvPicPr>
        <p:blipFill rotWithShape="1">
          <a:blip r:embed="rId5">
            <a:alphaModFix/>
          </a:blip>
          <a:srcRect l="0" t="0" r="0" b="0"/>
          <a:stretch/>
        </p:blipFill>
        <p:spPr bwMode="auto">
          <a:xfrm>
            <a:off x="5490000" y="1497810"/>
            <a:ext cx="3330001" cy="2147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5415681" name=""/>
          <p:cNvPicPr>
            <a:picLocks noChangeAspect="1"/>
          </p:cNvPicPr>
          <p:nvPr/>
        </p:nvPicPr>
        <p:blipFill rotWithShape="1">
          <a:blip r:embed="rId6"/>
          <a:stretch/>
        </p:blipFill>
        <p:spPr bwMode="auto">
          <a:xfrm flipH="0" flipV="0">
            <a:off x="2571750" y="2920999"/>
            <a:ext cx="2049499" cy="20734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0036444" name="Рисунок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392485" y="1450974"/>
            <a:ext cx="6054513" cy="3152005"/>
          </a:xfrm>
          <a:prstGeom prst="rect">
            <a:avLst/>
          </a:prstGeom>
        </p:spPr>
      </p:pic>
      <p:sp>
        <p:nvSpPr>
          <p:cNvPr id="383540827" name="Заголовок 1"/>
          <p:cNvSpPr txBox="1"/>
          <p:nvPr/>
        </p:nvSpPr>
        <p:spPr bwMode="auto">
          <a:xfrm>
            <a:off x="-463549" y="608012"/>
            <a:ext cx="10515600" cy="1325562"/>
          </a:xfrm>
          <a:prstGeom prst="rect">
            <a:avLst/>
          </a:prstGeom>
        </p:spPr>
        <p:txBody>
          <a:bodyPr/>
          <a:lstStyle>
            <a:lvl1pPr algn="ctr" defTabSz="914400" rtl="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lang="ru-RU" sz="2800" b="1"/>
              <a:t>Скачивание существующих </a:t>
            </a:r>
            <a:r>
              <a:rPr lang="ru-RU" sz="2800" b="1"/>
              <a:t>репозиториев</a:t>
            </a:r>
            <a:endParaRPr lang="ru-RU" b="1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0851005" name="Прямоугольник 1"/>
          <p:cNvSpPr/>
          <p:nvPr/>
        </p:nvSpPr>
        <p:spPr bwMode="auto">
          <a:xfrm>
            <a:off x="3212832" y="1341564"/>
            <a:ext cx="2927663" cy="3051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pPr>
              <a:defRPr/>
            </a:pPr>
            <a:r>
              <a:rPr lang="en-US"/>
              <a:t>git</a:t>
            </a:r>
            <a:r>
              <a:rPr lang="en-US"/>
              <a:t> clone </a:t>
            </a:r>
            <a:r>
              <a:rPr lang="ru-RU"/>
              <a:t>ссылка_на_репозиторий</a:t>
            </a:r>
            <a:endParaRPr lang="ru-RU"/>
          </a:p>
        </p:txBody>
      </p:sp>
      <p:sp>
        <p:nvSpPr>
          <p:cNvPr id="2000856112" name="Прямоугольник 2"/>
          <p:cNvSpPr/>
          <p:nvPr/>
        </p:nvSpPr>
        <p:spPr bwMode="auto">
          <a:xfrm>
            <a:off x="1650998" y="2152468"/>
            <a:ext cx="6732438" cy="17986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/>
              <a:t>D:\&gt;git clone </a:t>
            </a:r>
            <a:r>
              <a:rPr lang="en-US"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https://github.com/IDashkin/introductionToGithub</a:t>
            </a:r>
            <a:endParaRPr/>
          </a:p>
          <a:p>
            <a:pPr>
              <a:defRPr/>
            </a:pPr>
            <a:r>
              <a:rPr lang="en-US"/>
              <a:t>Cloning into '</a:t>
            </a:r>
            <a:r>
              <a:rPr lang="en-US" sz="1400" b="0" i="0" u="none" strike="noStrike" cap="none" spc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introductionToGithub</a:t>
            </a:r>
            <a:r>
              <a:rPr lang="en-US"/>
              <a:t>'...</a:t>
            </a:r>
            <a:endParaRPr/>
          </a:p>
          <a:p>
            <a:pPr>
              <a:defRPr/>
            </a:pPr>
            <a:r>
              <a:rPr lang="en-US"/>
              <a:t>remote: Enumerating objects: 143, done.</a:t>
            </a:r>
            <a:endParaRPr/>
          </a:p>
          <a:p>
            <a:pPr>
              <a:defRPr/>
            </a:pPr>
            <a:r>
              <a:rPr lang="en-US"/>
              <a:t>remote: Counting objects: 100% (143/143), done.</a:t>
            </a:r>
            <a:endParaRPr/>
          </a:p>
          <a:p>
            <a:pPr>
              <a:defRPr/>
            </a:pPr>
            <a:r>
              <a:rPr lang="en-US"/>
              <a:t>remote: Compressing objects: 100% (95/95), done.</a:t>
            </a:r>
            <a:endParaRPr/>
          </a:p>
          <a:p>
            <a:pPr>
              <a:defRPr/>
            </a:pPr>
            <a:r>
              <a:rPr lang="en-US"/>
              <a:t>remote: Total 143 (delta 52), reused 84 (delta 26), pack-reused 0</a:t>
            </a:r>
            <a:endParaRPr/>
          </a:p>
          <a:p>
            <a:pPr>
              <a:defRPr/>
            </a:pPr>
            <a:r>
              <a:rPr lang="en-US"/>
              <a:t>Receiving objects: 100% (143/143), 9.30 </a:t>
            </a:r>
            <a:r>
              <a:rPr lang="en-US"/>
              <a:t>MiB</a:t>
            </a:r>
            <a:r>
              <a:rPr lang="en-US"/>
              <a:t> | 9.05 </a:t>
            </a:r>
            <a:r>
              <a:rPr lang="en-US"/>
              <a:t>MiB</a:t>
            </a:r>
            <a:r>
              <a:rPr lang="en-US"/>
              <a:t>/s, done.</a:t>
            </a:r>
            <a:endParaRPr/>
          </a:p>
          <a:p>
            <a:pPr>
              <a:defRPr/>
            </a:pPr>
            <a:r>
              <a:rPr lang="en-US"/>
              <a:t>Resolving deltas: 100% (52/52), done.</a:t>
            </a:r>
            <a:endParaRPr lang="ru-RU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04014451" name="Google Shape;226;p27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-5400000">
            <a:off x="6392938" y="2392439"/>
            <a:ext cx="3752950" cy="1749175"/>
          </a:xfrm>
          <a:prstGeom prst="rect">
            <a:avLst/>
          </a:prstGeom>
          <a:noFill/>
          <a:ln>
            <a:noFill/>
          </a:ln>
        </p:spPr>
      </p:pic>
      <p:sp>
        <p:nvSpPr>
          <p:cNvPr id="2052198460" name="Google Shape;227;p27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Pull request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278587008" name="Google Shape;228;p27"/>
          <p:cNvSpPr txBox="1"/>
          <p:nvPr/>
        </p:nvSpPr>
        <p:spPr bwMode="auto">
          <a:xfrm>
            <a:off x="352600" y="1350000"/>
            <a:ext cx="86409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Когда вы добавляете изменения в ка</a:t>
            </a:r>
            <a:r>
              <a:rPr lang="ru" sz="1300">
                <a:solidFill>
                  <a:schemeClr val="dk1"/>
                </a:solidFill>
              </a:rPr>
              <a:t>к</a:t>
            </a:r>
            <a:r>
              <a:rPr lang="ru" sz="1300">
                <a:solidFill>
                  <a:schemeClr val="dk1"/>
                </a:solidFill>
              </a:rPr>
              <a:t>ую-то ветку чаще всего появляется всплывающее окно с предложением сравнить ветки создать Pull request.</a:t>
            </a:r>
            <a:endParaRPr sz="1300">
              <a:solidFill>
                <a:schemeClr val="dk1"/>
              </a:solidFill>
            </a:endParaRPr>
          </a:p>
          <a:p>
            <a:pPr marL="457200" lvl="0" indent="-311150" algn="l" rtl="0">
              <a:lnSpc>
                <a:spcPct val="15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Другой способ создать Pull request — на вкладке Pull requests нажать на кнопку «New pull request». 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792595720" name="Google Shape;229;p27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34600" y="3089962"/>
            <a:ext cx="8143200" cy="13656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6046573" name="Google Shape;234;p28"/>
          <p:cNvPicPr/>
          <p:nvPr/>
        </p:nvPicPr>
        <p:blipFill rotWithShape="1">
          <a:blip r:embed="rId3">
            <a:alphaModFix/>
          </a:blip>
          <a:srcRect l="22197" t="0" r="0" b="52498"/>
          <a:stretch/>
        </p:blipFill>
        <p:spPr bwMode="auto">
          <a:xfrm flipH="1">
            <a:off x="5827100" y="3118301"/>
            <a:ext cx="3316900" cy="2025200"/>
          </a:xfrm>
          <a:prstGeom prst="rect">
            <a:avLst/>
          </a:prstGeom>
          <a:noFill/>
          <a:ln>
            <a:noFill/>
          </a:ln>
        </p:spPr>
      </p:pic>
      <p:sp>
        <p:nvSpPr>
          <p:cNvPr id="1931885222" name="Google Shape;235;p28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Pull request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806465910" name="Google Shape;236;p28"/>
          <p:cNvSpPr txBox="1"/>
          <p:nvPr/>
        </p:nvSpPr>
        <p:spPr bwMode="auto">
          <a:xfrm>
            <a:off x="352600" y="1350000"/>
            <a:ext cx="86409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При создании Pull request важно правильно выбрать ветки источника и цели.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182409071" name="Google Shape;237;p28"/>
          <p:cNvPicPr/>
          <p:nvPr/>
        </p:nvPicPr>
        <p:blipFill rotWithShape="1">
          <a:blip r:embed="rId4">
            <a:alphaModFix/>
          </a:blip>
          <a:srcRect l="0" t="0" r="0" b="0"/>
          <a:stretch/>
        </p:blipFill>
        <p:spPr bwMode="auto">
          <a:xfrm>
            <a:off x="471700" y="2305175"/>
            <a:ext cx="8200599" cy="2103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650540" name="Google Shape;242;p29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Pull request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317830591" name="Google Shape;243;p29"/>
          <p:cNvSpPr txBox="1"/>
          <p:nvPr/>
        </p:nvSpPr>
        <p:spPr bwMode="auto">
          <a:xfrm>
            <a:off x="352600" y="1350000"/>
            <a:ext cx="8640900" cy="6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В меню справа не забываем подписаться под своим ПР(Pull request) и выбрать того, </a:t>
            </a:r>
            <a:br>
              <a:rPr lang="ru" sz="1300">
                <a:solidFill>
                  <a:schemeClr val="dk1"/>
                </a:solidFill>
              </a:rPr>
            </a:br>
            <a:r>
              <a:rPr lang="ru" sz="1300">
                <a:solidFill>
                  <a:schemeClr val="dk1"/>
                </a:solidFill>
              </a:rPr>
              <a:t>кто будеть делать ревью ваших изменений.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935591747" name="Google Shape;244;p29"/>
          <p:cNvPicPr/>
          <p:nvPr/>
        </p:nvPicPr>
        <p:blipFill rotWithShape="1">
          <a:blip r:embed="rId3">
            <a:alphaModFix/>
          </a:blip>
          <a:srcRect l="0" t="39" r="0" b="28"/>
          <a:stretch/>
        </p:blipFill>
        <p:spPr bwMode="auto">
          <a:xfrm>
            <a:off x="450000" y="2318637"/>
            <a:ext cx="3148275" cy="2123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037266" name="Google Shape;245;p29"/>
          <p:cNvPicPr/>
          <p:nvPr/>
        </p:nvPicPr>
        <p:blipFill rotWithShape="1">
          <a:blip r:embed="rId4">
            <a:alphaModFix/>
          </a:blip>
          <a:srcRect l="139" t="0" r="138" b="0"/>
          <a:stretch/>
        </p:blipFill>
        <p:spPr bwMode="auto">
          <a:xfrm>
            <a:off x="4032275" y="2305163"/>
            <a:ext cx="3362552" cy="2150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7224613" name="Google Shape;246;p29"/>
          <p:cNvPicPr/>
          <p:nvPr/>
        </p:nvPicPr>
        <p:blipFill rotWithShape="1">
          <a:blip r:embed="rId5">
            <a:alphaModFix/>
          </a:blip>
          <a:srcRect l="-849" t="-51" r="9533" b="57488"/>
          <a:stretch/>
        </p:blipFill>
        <p:spPr bwMode="auto">
          <a:xfrm rot="-5400000">
            <a:off x="6392938" y="2392439"/>
            <a:ext cx="3752950" cy="174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130984" name="Google Shape;251;p30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Добавление ревьюеров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290115576" name="Google Shape;252;p30"/>
          <p:cNvSpPr txBox="1"/>
          <p:nvPr/>
        </p:nvSpPr>
        <p:spPr bwMode="auto">
          <a:xfrm>
            <a:off x="352599" y="1350000"/>
            <a:ext cx="8473979" cy="1074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Чтобы получить возможность добавления ревьюеров из списка необходимо добавить в ваш репозиторий участников. Сделать это можно через вкладку Settings — Collaborators — Add people. В качестве приглашённого участника необходимо выбрать аккаунт </a:t>
            </a:r>
            <a:r>
              <a:rPr lang="ru-RU" sz="1300">
                <a:solidFill>
                  <a:schemeClr val="dk1"/>
                </a:solidFill>
              </a:rPr>
              <a:t>друга.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893717319" name="Google Shape;253;p30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-5400000">
            <a:off x="6392938" y="2392439"/>
            <a:ext cx="3752950" cy="174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48268434" name="Google Shape;254;p30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450000" y="2669225"/>
            <a:ext cx="3329999" cy="2086642"/>
          </a:xfrm>
          <a:prstGeom prst="rect">
            <a:avLst/>
          </a:prstGeom>
          <a:noFill/>
          <a:ln>
            <a:noFill/>
          </a:ln>
        </p:spPr>
      </p:pic>
      <p:pic>
        <p:nvPicPr>
          <p:cNvPr id="576316097" name="Google Shape;255;p30"/>
          <p:cNvPicPr/>
          <p:nvPr/>
        </p:nvPicPr>
        <p:blipFill rotWithShape="1">
          <a:blip r:embed="rId5">
            <a:alphaModFix/>
          </a:blip>
          <a:stretch/>
        </p:blipFill>
        <p:spPr bwMode="auto">
          <a:xfrm>
            <a:off x="4225550" y="2669225"/>
            <a:ext cx="4388648" cy="2086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7900773" name="Google Shape;260;p31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Добавление ревьюеров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532867979" name="Google Shape;261;p31"/>
          <p:cNvSpPr txBox="1"/>
          <p:nvPr/>
        </p:nvSpPr>
        <p:spPr bwMode="auto">
          <a:xfrm>
            <a:off x="352600" y="1350000"/>
            <a:ext cx="8467500" cy="6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Теперь мы можем выбрать нашего ревьюера из списка. Выбранный вами ревьюер получит</a:t>
            </a:r>
            <a:br>
              <a:rPr lang="ru" sz="1300">
                <a:solidFill>
                  <a:schemeClr val="dk1"/>
                </a:solidFill>
              </a:rPr>
            </a:br>
            <a:r>
              <a:rPr lang="ru" sz="1300">
                <a:solidFill>
                  <a:schemeClr val="dk1"/>
                </a:solidFill>
              </a:rPr>
              <a:t>на почту письмо с приглашением. 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1782343364" name="Google Shape;262;p31"/>
          <p:cNvPicPr/>
          <p:nvPr/>
        </p:nvPicPr>
        <p:blipFill rotWithShape="1">
          <a:blip r:embed="rId3">
            <a:alphaModFix/>
          </a:blip>
          <a:srcRect l="-849" t="-51" r="9533" b="57488"/>
          <a:stretch/>
        </p:blipFill>
        <p:spPr bwMode="auto">
          <a:xfrm rot="-5400000">
            <a:off x="6392938" y="2392439"/>
            <a:ext cx="3752950" cy="1749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8137620" name="Google Shape;263;p31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450000" y="2305175"/>
            <a:ext cx="3742938" cy="2150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137116" name="Google Shape;268;p32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Pull request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1724040807" name="Google Shape;269;p32"/>
          <p:cNvSpPr txBox="1"/>
          <p:nvPr/>
        </p:nvSpPr>
        <p:spPr bwMode="auto">
          <a:xfrm>
            <a:off x="352600" y="1350000"/>
            <a:ext cx="86409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Во вкладке Conversation открытого ПР видна вся переписка по замечаниям, оставленным ревьюером.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803321947" name="Google Shape;270;p32"/>
          <p:cNvPicPr/>
          <p:nvPr/>
        </p:nvPicPr>
        <p:blipFill rotWithShape="1">
          <a:blip r:embed="rId3">
            <a:alphaModFix/>
          </a:blip>
          <a:srcRect l="22197" t="0" r="0" b="52498"/>
          <a:stretch/>
        </p:blipFill>
        <p:spPr bwMode="auto">
          <a:xfrm flipH="1">
            <a:off x="5827100" y="3118301"/>
            <a:ext cx="3316900" cy="2025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760644" name="Google Shape;271;p32"/>
          <p:cNvPicPr/>
          <p:nvPr/>
        </p:nvPicPr>
        <p:blipFill rotWithShape="1">
          <a:blip r:embed="rId4">
            <a:alphaModFix/>
          </a:blip>
          <a:stretch/>
        </p:blipFill>
        <p:spPr bwMode="auto">
          <a:xfrm>
            <a:off x="450000" y="2305175"/>
            <a:ext cx="3664120" cy="2150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884599" name="Google Shape;276;p33"/>
          <p:cNvSpPr txBox="1"/>
          <p:nvPr/>
        </p:nvSpPr>
        <p:spPr bwMode="auto">
          <a:xfrm>
            <a:off x="352600" y="608750"/>
            <a:ext cx="8143200" cy="7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" sz="3000" b="1">
                <a:solidFill>
                  <a:srgbClr val="1A2028"/>
                </a:solidFill>
                <a:latin typeface="Montserrat Alternates"/>
                <a:ea typeface="Montserrat Alternates"/>
                <a:cs typeface="Montserrat Alternates"/>
              </a:rPr>
              <a:t>Создание Pull request</a:t>
            </a:r>
            <a:endParaRPr sz="3000" b="1">
              <a:solidFill>
                <a:srgbClr val="1A2028"/>
              </a:solidFill>
              <a:latin typeface="Montserrat Alternates"/>
              <a:ea typeface="Montserrat Alternates"/>
              <a:cs typeface="Montserrat Alternates"/>
            </a:endParaRPr>
          </a:p>
        </p:txBody>
      </p:sp>
      <p:sp>
        <p:nvSpPr>
          <p:cNvPr id="2076922271" name="Google Shape;277;p33"/>
          <p:cNvSpPr txBox="1"/>
          <p:nvPr/>
        </p:nvSpPr>
        <p:spPr bwMode="auto">
          <a:xfrm>
            <a:off x="352600" y="1350000"/>
            <a:ext cx="8640900" cy="6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Char char="➔"/>
              <a:defRPr/>
            </a:pPr>
            <a:r>
              <a:rPr lang="ru" sz="1300">
                <a:solidFill>
                  <a:schemeClr val="dk1"/>
                </a:solidFill>
              </a:rPr>
              <a:t>Во вкладке Files Changed — все изменения, которые вы сделали в новой ветке относительно целевой. Здесь же производится ревью и оставляются замечания.</a:t>
            </a:r>
            <a:endParaRPr sz="1300">
              <a:solidFill>
                <a:schemeClr val="dk1"/>
              </a:solidFill>
            </a:endParaRPr>
          </a:p>
        </p:txBody>
      </p:sp>
      <p:pic>
        <p:nvPicPr>
          <p:cNvPr id="770354519" name="Google Shape;278;p33"/>
          <p:cNvPicPr/>
          <p:nvPr/>
        </p:nvPicPr>
        <p:blipFill rotWithShape="1">
          <a:blip r:embed="rId3">
            <a:alphaModFix/>
          </a:blip>
          <a:srcRect l="238" t="0" r="248" b="0"/>
          <a:stretch/>
        </p:blipFill>
        <p:spPr bwMode="auto">
          <a:xfrm>
            <a:off x="450000" y="2305175"/>
            <a:ext cx="3616316" cy="2150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1474942" name="Google Shape;279;p33"/>
          <p:cNvPicPr/>
          <p:nvPr/>
        </p:nvPicPr>
        <p:blipFill rotWithShape="1">
          <a:blip r:embed="rId4">
            <a:alphaModFix/>
          </a:blip>
          <a:srcRect l="22197" t="0" r="0" b="52498"/>
          <a:stretch/>
        </p:blipFill>
        <p:spPr bwMode="auto">
          <a:xfrm flipH="1">
            <a:off x="5827100" y="3118301"/>
            <a:ext cx="3316900" cy="202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ONLYOFFICE/9.1.0.173</Application>
  <PresentationFormat>On-screen Show (4:3)</PresentationFormat>
  <Paragraphs>0</Paragraphs>
  <Slides>19</Slides>
  <Notes>19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/>
  <cp:revision>1</cp:revision>
  <dcterms:modified xsi:type="dcterms:W3CDTF">2025-11-25T17:33:53Z</dcterms:modified>
</cp:coreProperties>
</file>