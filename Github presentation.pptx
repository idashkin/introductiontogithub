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5.xml" ContentType="application/vnd.openxmlformats-officedocument.presentationml.notesSlide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3.xml" ContentType="application/vnd.openxmlformats-officedocument.presentationml.slide+xml"/>
  <Override PartName="/ppt/theme/theme2.xml" ContentType="application/vnd.openxmlformats-officedocument.theme+xml"/>
  <Override PartName="/ppt/theme/theme1.xml" ContentType="application/vnd.openxmlformats-officedocument.theme+xml"/>
  <Override PartName="/ppt/slides/slide3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s/slide12.xml" ContentType="application/vnd.openxmlformats-officedocument.presentationml.slide+xml"/>
  <Override PartName="/ppt/slideLayouts/slideLayout5.xml" ContentType="application/vnd.openxmlformats-officedocument.presentationml.slideLayout+xml"/>
  <Override PartName="/ppt/slides/slide7.xml" ContentType="application/vnd.openxmlformats-officedocument.presentationml.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tableStyles.xml" ContentType="application/vnd.openxmlformats-officedocument.presentationml.tableStyles+xml"/>
  <Override PartName="/docProps/app.xml" ContentType="application/vnd.openxmlformats-officedocument.extended-properties+xml"/>
  <Override PartName="/ppt/slides/slide17.xml" ContentType="application/vnd.openxmlformats-officedocument.presentationml.slide+xml"/>
  <Override PartName="/ppt/viewProps.xml" ContentType="application/vnd.openxmlformats-officedocument.presentationml.viewProps+xml"/>
  <Override PartName="/ppt/notesSlides/notesSlide7.xml" ContentType="application/vnd.openxmlformats-officedocument.presentationml.notesSlide+xml"/>
  <Override PartName="/ppt/presentation.xml" ContentType="application/vnd.openxmlformats-officedocument.presentationml.presentation.main+xml"/>
  <Override PartName="/ppt/slides/slide8.xml" ContentType="application/vnd.openxmlformats-officedocument.presentationml.slide+xml"/>
  <Override PartName="/ppt/notesSlides/notesSlide3.xml" ContentType="application/vnd.openxmlformats-officedocument.presentationml.notesSlide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8.xml" ContentType="application/vnd.openxmlformats-officedocument.presentationml.slideLayout+xml"/>
  <Override PartName="/docProps/core.xml" ContentType="application/vnd.openxmlformats-package.core-properties+xml"/>
  <Override PartName="/ppt/slideLayouts/slideLayout13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1.xml" ContentType="application/vnd.openxmlformats-officedocument.presentationml.notesSlide+xml"/>
  <Override PartName="/ppt/slides/slide10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s/slide1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4.xml" ContentType="application/vnd.openxmlformats-officedocument.presentationml.slide+xml"/>
  <Override PartName="/ppt/slides/slide16.xml" ContentType="application/vnd.openxmlformats-officedocument.presentationml.slide+xml"/>
  <Override PartName="/ppt/slides/slide18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9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embedTrueTypeFonts="1" saveSubsetFonts="1" strictFirstAndLastChars="0">
  <p:sldMasterIdLst>
    <p:sldMasterId id="2147483648" r:id="rId1"/>
  </p:sldMasterIdLst>
  <p:notesMasterIdLst>
    <p:notesMasterId r:id="rId2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</p:sldIdLst>
  <p:sldSz cx="9144000" cy="51435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5556"/>
        <p:guide pos="383" orient="horz"/>
        <p:guide pos="1452" orient="horz"/>
        <p:guide pos="740" orient="horz"/>
        <p:guide pos="3458"/>
        <p:guide pos="2807" orient="horz"/>
        <p:guide pos="283"/>
        <p:guide pos="2839"/>
      </p:guideLst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 /><Relationship Id="rId25" Type="http://schemas.openxmlformats.org/officeDocument/2006/relationships/tableStyles" Target="tableStyles.xml" /><Relationship Id="rId26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6732431" name="Google Shape;3;n"/>
          <p:cNvSpPr/>
          <p:nvPr>
            <p:ph type="sldImg" idx="2"/>
          </p:nvPr>
        </p:nvSpPr>
        <p:spPr bwMode="auto"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95923930" name="Google Shape;4;n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pPr>
              <a:defRPr/>
            </a:pP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 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 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3583610" name="Google Shape;132;g110c578fab6_0_0:notes"/>
          <p:cNvSpPr/>
          <p:nvPr>
            <p:ph type="sldImg" idx="2"/>
          </p:nvPr>
        </p:nvSpPr>
        <p:spPr bwMode="auto"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8539827" name="Google Shape;133;g110c578fab6_0_0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1B1F87-8567-C2B0-F63E-E71668AF3EB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811A89B-4112-93C2-11C0-B4DAEC82189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E0E85ED-19DA-D978-A6C2-A1E247811A8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1530973" name="Google Shape;141;g11262b15b87_0_18:notes"/>
          <p:cNvSpPr/>
          <p:nvPr>
            <p:ph type="sldImg" idx="2"/>
          </p:nvPr>
        </p:nvSpPr>
        <p:spPr bwMode="auto"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1745142" name="Google Shape;142;g11262b15b87_0_18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5551721" name="Google Shape;149;g124ec1c6ead_0_20:notes"/>
          <p:cNvSpPr/>
          <p:nvPr>
            <p:ph type="sldImg" idx="2"/>
          </p:nvPr>
        </p:nvSpPr>
        <p:spPr bwMode="auto"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2804457" name="Google Shape;150;g124ec1c6ead_0_20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8688062" name="Google Shape;157;g124f7ac5d67_0_14:notes"/>
          <p:cNvSpPr/>
          <p:nvPr>
            <p:ph type="sldImg" idx="2"/>
          </p:nvPr>
        </p:nvSpPr>
        <p:spPr bwMode="auto"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4763322" name="Google Shape;158;g124f7ac5d67_0_14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2448163" name="Google Shape;165;g124ec1c6ead_0_5:notes"/>
          <p:cNvSpPr/>
          <p:nvPr>
            <p:ph type="sldImg" idx="2"/>
          </p:nvPr>
        </p:nvSpPr>
        <p:spPr bwMode="auto"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7990994" name="Google Shape;166;g124ec1c6ead_0_5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0898559" name="Google Shape;195;g287182eb427_1_17:notes"/>
          <p:cNvSpPr/>
          <p:nvPr>
            <p:ph type="sldImg" idx="2"/>
          </p:nvPr>
        </p:nvSpPr>
        <p:spPr bwMode="auto"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6078768" name="Google Shape;196;g287182eb427_1_17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7784423" name="Google Shape;203;g287182eb427_1_35:notes"/>
          <p:cNvSpPr/>
          <p:nvPr>
            <p:ph type="sldImg" idx="2"/>
          </p:nvPr>
        </p:nvSpPr>
        <p:spPr bwMode="auto"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1283111" name="Google Shape;204;g287182eb427_1_35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836D1E-05BB-8DF1-C56C-A71B1BC7CC9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E05F11A-C6E2-9A05-071F-07089F29EB9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0759768" name="Google Shape;223;g287182eb427_1_60:notes"/>
          <p:cNvSpPr/>
          <p:nvPr>
            <p:ph type="sldImg" idx="2"/>
          </p:nvPr>
        </p:nvSpPr>
        <p:spPr bwMode="auto"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848645" name="Google Shape;224;g287182eb427_1_60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6414389" name="Google Shape;231;g287182eb427_1_69:notes"/>
          <p:cNvSpPr/>
          <p:nvPr>
            <p:ph type="sldImg" idx="2"/>
          </p:nvPr>
        </p:nvSpPr>
        <p:spPr bwMode="auto"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6530593" name="Google Shape;232;g287182eb427_1_69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5115071" name="Google Shape;239;g287182eb427_1_78:notes"/>
          <p:cNvSpPr/>
          <p:nvPr>
            <p:ph type="sldImg" idx="2"/>
          </p:nvPr>
        </p:nvSpPr>
        <p:spPr bwMode="auto"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6222863" name="Google Shape;240;g287182eb427_1_78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3363383" name="Google Shape;248;g287ecc99806_0_0:notes"/>
          <p:cNvSpPr/>
          <p:nvPr>
            <p:ph type="sldImg" idx="2"/>
          </p:nvPr>
        </p:nvSpPr>
        <p:spPr bwMode="auto"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5996826" name="Google Shape;249;g287ecc99806_0_0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8704467" name="Google Shape;257;g287ecc99806_0_17:notes"/>
          <p:cNvSpPr/>
          <p:nvPr>
            <p:ph type="sldImg" idx="2"/>
          </p:nvPr>
        </p:nvSpPr>
        <p:spPr bwMode="auto"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8636744" name="Google Shape;258;g287ecc99806_0_17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1177696" name="Google Shape;265;g287182eb427_1_89:notes"/>
          <p:cNvSpPr/>
          <p:nvPr>
            <p:ph type="sldImg" idx="2"/>
          </p:nvPr>
        </p:nvSpPr>
        <p:spPr bwMode="auto"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538225" name="Google Shape;266;g287182eb427_1_89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8491681" name="Google Shape;273;g287ecc99806_0_27:notes"/>
          <p:cNvSpPr/>
          <p:nvPr>
            <p:ph type="sldImg" idx="2"/>
          </p:nvPr>
        </p:nvSpPr>
        <p:spPr bwMode="auto"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8854327" name="Google Shape;274;g287ecc99806_0_27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png"/><Relationship Id="rId10" Type="http://schemas.openxmlformats.org/officeDocument/2006/relationships/image" Target="../media/image19.png"/><Relationship Id="rId11" Type="http://schemas.openxmlformats.org/officeDocument/2006/relationships/image" Target="../media/image20.png"/><Relationship Id="rId12" Type="http://schemas.openxmlformats.org/officeDocument/2006/relationships/image" Target="../media/image21.png"/><Relationship Id="rId13" Type="http://schemas.openxmlformats.org/officeDocument/2006/relationships/image" Target="../media/image22.png"/><Relationship Id="rId14" Type="http://schemas.openxmlformats.org/officeDocument/2006/relationships/image" Target="../media/image23.png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7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5.png"/></Relationships>
</file>

<file path=ppt/slideLayouts/_rels/slideLayout1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Relationship Id="rId3" Type="http://schemas.openxmlformats.org/officeDocument/2006/relationships/image" Target="../media/image25.png"/></Relationships>
</file>

<file path=ppt/slideLayouts/_rels/slideLayout1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Relationship Id="rId3" Type="http://schemas.openxmlformats.org/officeDocument/2006/relationships/image" Target="../media/image25.png"/><Relationship Id="rId4" Type="http://schemas.openxmlformats.org/officeDocument/2006/relationships/image" Target="../media/image7.png"/></Relationships>
</file>

<file path=ppt/slideLayouts/_rels/slideLayout1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Relationship Id="rId3" Type="http://schemas.openxmlformats.org/officeDocument/2006/relationships/image" Target="../media/image25.png"/><Relationship Id="rId4" Type="http://schemas.openxmlformats.org/officeDocument/2006/relationships/image" Target="../media/image8.png"/><Relationship Id="rId5" Type="http://schemas.openxmlformats.org/officeDocument/2006/relationships/image" Target="../media/image7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Relationship Id="rId8" Type="http://schemas.openxmlformats.org/officeDocument/2006/relationships/image" Target="../media/image30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White" preserve="0" showMasterPhAnim="0" showMasterSp="1" type="tx" userDrawn="1">
  <p:cSld name="TITLE_AND_BOD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White / Logo" preserve="0" showMasterPhAnim="0" showMasterSp="1" userDrawn="1">
  <p:cSld name="BIG_NUMB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67886896" name="Google Shape;8;p3"/>
          <p:cNvPicPr/>
          <p:nvPr/>
        </p:nvPicPr>
        <p:blipFill rotWithShape="1">
          <a:blip r:embed="rId2">
            <a:alphaModFix/>
          </a:blip>
          <a:stretch/>
        </p:blipFill>
        <p:spPr bwMode="auto">
          <a:xfrm>
            <a:off x="8046554" y="246475"/>
            <a:ext cx="776246" cy="315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Gray / Grid + Logo" preserve="0" showMasterPhAnim="0" showMasterSp="1" type="blank" userDrawn="1">
  <p:cSld name="BLANK">
    <p:bg>
      <p:bgPr shadeToTitle="0">
        <a:solidFill>
          <a:srgbClr val="F4F4F4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26315199" name="Google Shape;10;p4"/>
          <p:cNvPicPr/>
          <p:nvPr/>
        </p:nvPicPr>
        <p:blipFill rotWithShape="1">
          <a:blip r:embed="rId2">
            <a:alphaModFix/>
          </a:blip>
          <a:stretch/>
        </p:blipFill>
        <p:spPr bwMode="auto">
          <a:xfrm>
            <a:off x="152400" y="0"/>
            <a:ext cx="8839199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3314334" name="Google Shape;11;p4"/>
          <p:cNvPicPr/>
          <p:nvPr/>
        </p:nvPicPr>
        <p:blipFill rotWithShape="1">
          <a:blip r:embed="rId3">
            <a:alphaModFix/>
          </a:blip>
          <a:stretch/>
        </p:blipFill>
        <p:spPr bwMode="auto">
          <a:xfrm>
            <a:off x="8046554" y="246475"/>
            <a:ext cx="776246" cy="315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Gray / Grid + Logo University" preserve="0" showMasterPhAnim="0" showMasterSp="1" userDrawn="1">
  <p:cSld name="BLANK_7">
    <p:bg>
      <p:bgPr shadeToTitle="0">
        <a:solidFill>
          <a:srgbClr val="F4F4F4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9542619" name="Google Shape;13;p5"/>
          <p:cNvPicPr/>
          <p:nvPr/>
        </p:nvPicPr>
        <p:blipFill rotWithShape="1">
          <a:blip r:embed="rId2">
            <a:alphaModFix/>
          </a:blip>
          <a:stretch/>
        </p:blipFill>
        <p:spPr bwMode="auto">
          <a:xfrm>
            <a:off x="8017078" y="246475"/>
            <a:ext cx="835195" cy="315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Gray / Clients" preserve="0" showMasterPhAnim="0" showMasterSp="1" userDrawn="1">
  <p:cSld name="BLANK_6">
    <p:bg>
      <p:bgPr shadeToTitle="0">
        <a:solidFill>
          <a:srgbClr val="F4F4F4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49636004" name="Google Shape;15;p6"/>
          <p:cNvPicPr/>
          <p:nvPr/>
        </p:nvPicPr>
        <p:blipFill rotWithShape="1">
          <a:blip r:embed="rId2">
            <a:alphaModFix/>
          </a:blip>
          <a:stretch/>
        </p:blipFill>
        <p:spPr bwMode="auto">
          <a:xfrm>
            <a:off x="152400" y="0"/>
            <a:ext cx="8839199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8701141" name="Google Shape;16;p6"/>
          <p:cNvPicPr/>
          <p:nvPr/>
        </p:nvPicPr>
        <p:blipFill rotWithShape="1">
          <a:blip r:embed="rId3">
            <a:alphaModFix/>
          </a:blip>
          <a:stretch/>
        </p:blipFill>
        <p:spPr bwMode="auto">
          <a:xfrm>
            <a:off x="8046554" y="246475"/>
            <a:ext cx="776246" cy="315675"/>
          </a:xfrm>
          <a:prstGeom prst="rect">
            <a:avLst/>
          </a:prstGeom>
          <a:noFill/>
          <a:ln>
            <a:noFill/>
          </a:ln>
        </p:spPr>
      </p:pic>
      <p:sp>
        <p:nvSpPr>
          <p:cNvPr id="402661270" name="Google Shape;17;p6"/>
          <p:cNvSpPr txBox="1"/>
          <p:nvPr/>
        </p:nvSpPr>
        <p:spPr bwMode="auto">
          <a:xfrm>
            <a:off x="650400" y="1009525"/>
            <a:ext cx="7843200" cy="8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1100">
                <a:solidFill>
                  <a:schemeClr val="dk2"/>
                </a:solidFill>
              </a:rPr>
              <a:t>Банки и финансовые организации   </a:t>
            </a:r>
            <a:r>
              <a:rPr lang="ru" sz="1100">
                <a:solidFill>
                  <a:srgbClr val="0AB8B6"/>
                </a:solidFill>
              </a:rPr>
              <a:t>•</a:t>
            </a:r>
            <a:r>
              <a:rPr lang="ru" sz="1100">
                <a:solidFill>
                  <a:schemeClr val="dk2"/>
                </a:solidFill>
              </a:rPr>
              <a:t>   Государственный сектор   </a:t>
            </a:r>
            <a:r>
              <a:rPr lang="ru" sz="1100">
                <a:solidFill>
                  <a:srgbClr val="0AB8B6"/>
                </a:solidFill>
              </a:rPr>
              <a:t>•</a:t>
            </a:r>
            <a:r>
              <a:rPr lang="ru" sz="1100">
                <a:solidFill>
                  <a:schemeClr val="dk2"/>
                </a:solidFill>
              </a:rPr>
              <a:t>   IT–компании   </a:t>
            </a:r>
            <a:r>
              <a:rPr lang="ru" sz="1100">
                <a:solidFill>
                  <a:srgbClr val="0AB8B6"/>
                </a:solidFill>
              </a:rPr>
              <a:t>•</a:t>
            </a:r>
            <a:r>
              <a:rPr lang="ru" sz="1100">
                <a:solidFill>
                  <a:schemeClr val="dk2"/>
                </a:solidFill>
              </a:rPr>
              <a:t>    Страховые компании</a:t>
            </a:r>
            <a:endParaRPr sz="1100">
              <a:solidFill>
                <a:schemeClr val="dk2"/>
              </a:solidFill>
            </a:endParaRPr>
          </a:p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1100">
                <a:solidFill>
                  <a:schemeClr val="dk2"/>
                </a:solidFill>
              </a:rPr>
              <a:t>E–commerce   </a:t>
            </a:r>
            <a:r>
              <a:rPr lang="ru" sz="1100">
                <a:solidFill>
                  <a:srgbClr val="0AB8B6"/>
                </a:solidFill>
              </a:rPr>
              <a:t>•</a:t>
            </a:r>
            <a:r>
              <a:rPr lang="ru" sz="1100">
                <a:solidFill>
                  <a:schemeClr val="dk2"/>
                </a:solidFill>
              </a:rPr>
              <a:t>   Промышленность и производство   </a:t>
            </a:r>
            <a:r>
              <a:rPr lang="ru" sz="1100">
                <a:solidFill>
                  <a:srgbClr val="0AB8B6"/>
                </a:solidFill>
              </a:rPr>
              <a:t>•</a:t>
            </a:r>
            <a:r>
              <a:rPr lang="ru" sz="1100">
                <a:solidFill>
                  <a:schemeClr val="dk2"/>
                </a:solidFill>
              </a:rPr>
              <a:t>   Гостинично–ресторанный бизнес   </a:t>
            </a:r>
            <a:r>
              <a:rPr lang="ru" sz="1100">
                <a:solidFill>
                  <a:srgbClr val="0AB8B6"/>
                </a:solidFill>
              </a:rPr>
              <a:t>•</a:t>
            </a:r>
            <a:r>
              <a:rPr lang="ru" sz="1100">
                <a:solidFill>
                  <a:schemeClr val="dk2"/>
                </a:solidFill>
              </a:rPr>
              <a:t>   Digital–агентства Транспорт и туризм   </a:t>
            </a:r>
            <a:r>
              <a:rPr lang="ru" sz="1100">
                <a:solidFill>
                  <a:srgbClr val="0AB8B6"/>
                </a:solidFill>
              </a:rPr>
              <a:t>•</a:t>
            </a:r>
            <a:r>
              <a:rPr lang="ru" sz="1100">
                <a:solidFill>
                  <a:schemeClr val="dk2"/>
                </a:solidFill>
              </a:rPr>
              <a:t>   Недвижимость и строительство   </a:t>
            </a:r>
            <a:r>
              <a:rPr lang="ru" sz="1100">
                <a:solidFill>
                  <a:srgbClr val="0AB8B6"/>
                </a:solidFill>
              </a:rPr>
              <a:t>•</a:t>
            </a:r>
            <a:r>
              <a:rPr lang="ru" sz="1100">
                <a:solidFill>
                  <a:schemeClr val="dk2"/>
                </a:solidFill>
              </a:rPr>
              <a:t>   Ритейл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1779017572" name="Google Shape;18;p6"/>
          <p:cNvSpPr txBox="1"/>
          <p:nvPr/>
        </p:nvSpPr>
        <p:spPr bwMode="auto">
          <a:xfrm>
            <a:off x="2658750" y="4372600"/>
            <a:ext cx="38265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1200">
                <a:solidFill>
                  <a:srgbClr val="1A2028"/>
                </a:solidFill>
                <a:latin typeface="Montserrat Alternates Medium"/>
                <a:ea typeface="Montserrat Alternates Medium"/>
                <a:cs typeface="Montserrat Alternates Medium"/>
              </a:rPr>
              <a:t>из разных отраслей</a:t>
            </a:r>
            <a:endParaRPr sz="1200">
              <a:solidFill>
                <a:srgbClr val="1A2028"/>
              </a:solidFill>
              <a:latin typeface="Montserrat Alternates Medium"/>
              <a:ea typeface="Montserrat Alternates Medium"/>
              <a:cs typeface="Montserrat Alternates Medium"/>
            </a:endParaRPr>
          </a:p>
        </p:txBody>
      </p:sp>
      <p:sp>
        <p:nvSpPr>
          <p:cNvPr id="522172162" name="Google Shape;19;p6"/>
          <p:cNvSpPr txBox="1"/>
          <p:nvPr/>
        </p:nvSpPr>
        <p:spPr bwMode="auto">
          <a:xfrm>
            <a:off x="2658750" y="3893300"/>
            <a:ext cx="38265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2200">
                <a:solidFill>
                  <a:srgbClr val="1A2028"/>
                </a:solidFill>
                <a:latin typeface="Montserrat Alternates SemiBold"/>
                <a:ea typeface="Montserrat Alternates SemiBold"/>
                <a:cs typeface="Montserrat Alternates SemiBold"/>
              </a:rPr>
              <a:t>и еще 80+ клиентов</a:t>
            </a:r>
            <a:endParaRPr sz="2200">
              <a:solidFill>
                <a:srgbClr val="1A2028"/>
              </a:solidFill>
              <a:latin typeface="Montserrat Alternates SemiBold"/>
              <a:ea typeface="Montserrat Alternates SemiBold"/>
              <a:cs typeface="Montserrat Alternates SemiBold"/>
            </a:endParaRPr>
          </a:p>
        </p:txBody>
      </p:sp>
      <p:sp>
        <p:nvSpPr>
          <p:cNvPr id="1901750137" name="Google Shape;20;p6"/>
          <p:cNvSpPr txBox="1"/>
          <p:nvPr/>
        </p:nvSpPr>
        <p:spPr bwMode="auto">
          <a:xfrm>
            <a:off x="225100" y="155020"/>
            <a:ext cx="54906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3000" b="1">
                <a:solidFill>
                  <a:srgbClr val="1A2028"/>
                </a:solidFill>
                <a:latin typeface="Montserrat Alternates"/>
                <a:ea typeface="Montserrat Alternates"/>
                <a:cs typeface="Montserrat Alternates"/>
              </a:rPr>
              <a:t>Наши клиенты</a:t>
            </a:r>
            <a:endParaRPr sz="3000" b="1">
              <a:solidFill>
                <a:srgbClr val="1A2028"/>
              </a:solidFill>
              <a:latin typeface="Montserrat Alternates"/>
              <a:ea typeface="Montserrat Alternates"/>
              <a:cs typeface="Montserrat Alternate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Gray / List 2" preserve="0" showMasterPhAnim="0" showMasterSp="1" userDrawn="1">
  <p:cSld name="BLANK_5">
    <p:bg>
      <p:bgPr shadeToTitle="0">
        <a:solidFill>
          <a:srgbClr val="F4F4F4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67779988" name="Google Shape;22;p7"/>
          <p:cNvPicPr/>
          <p:nvPr/>
        </p:nvPicPr>
        <p:blipFill rotWithShape="1">
          <a:blip r:embed="rId2">
            <a:alphaModFix/>
          </a:blip>
          <a:stretch/>
        </p:blipFill>
        <p:spPr bwMode="auto">
          <a:xfrm>
            <a:off x="152400" y="0"/>
            <a:ext cx="8839199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3251336" name="Google Shape;23;p7"/>
          <p:cNvPicPr/>
          <p:nvPr/>
        </p:nvPicPr>
        <p:blipFill rotWithShape="1">
          <a:blip r:embed="rId3">
            <a:alphaModFix/>
          </a:blip>
          <a:stretch/>
        </p:blipFill>
        <p:spPr bwMode="auto">
          <a:xfrm>
            <a:off x="8046554" y="246475"/>
            <a:ext cx="776246" cy="315675"/>
          </a:xfrm>
          <a:prstGeom prst="rect">
            <a:avLst/>
          </a:prstGeom>
          <a:noFill/>
          <a:ln>
            <a:noFill/>
          </a:ln>
        </p:spPr>
      </p:pic>
      <p:sp>
        <p:nvSpPr>
          <p:cNvPr id="63887519" name="Google Shape;24;p7"/>
          <p:cNvSpPr txBox="1"/>
          <p:nvPr/>
        </p:nvSpPr>
        <p:spPr bwMode="auto">
          <a:xfrm>
            <a:off x="225100" y="155020"/>
            <a:ext cx="54906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3000" b="1">
                <a:solidFill>
                  <a:srgbClr val="1A2028"/>
                </a:solidFill>
                <a:latin typeface="Montserrat Alternates"/>
                <a:ea typeface="Montserrat Alternates"/>
                <a:cs typeface="Montserrat Alternates"/>
              </a:rPr>
              <a:t>Компетенции</a:t>
            </a:r>
            <a:endParaRPr sz="3000" b="1">
              <a:solidFill>
                <a:srgbClr val="1A2028"/>
              </a:solidFill>
              <a:latin typeface="Montserrat Alternates"/>
              <a:ea typeface="Montserrat Alternates"/>
              <a:cs typeface="Montserrat Alternates"/>
            </a:endParaRPr>
          </a:p>
        </p:txBody>
      </p:sp>
      <p:grpSp>
        <p:nvGrpSpPr>
          <p:cNvPr id="1801502692" name="Google Shape;25;p7"/>
          <p:cNvGrpSpPr/>
          <p:nvPr/>
        </p:nvGrpSpPr>
        <p:grpSpPr bwMode="auto">
          <a:xfrm>
            <a:off x="4365149" y="919063"/>
            <a:ext cx="4868730" cy="3932997"/>
            <a:chOff x="4365149" y="919063"/>
            <a:chExt cx="4868730" cy="3932997"/>
          </a:xfrm>
        </p:grpSpPr>
        <p:sp>
          <p:nvSpPr>
            <p:cNvPr id="26" name="Google Shape;26;p7"/>
            <p:cNvSpPr txBox="1"/>
            <p:nvPr/>
          </p:nvSpPr>
          <p:spPr bwMode="auto">
            <a:xfrm>
              <a:off x="4800179" y="941600"/>
              <a:ext cx="4433700" cy="38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lnSpc>
                  <a:spcPct val="114999"/>
                </a:lnSpc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r>
                <a:rPr lang="ru" sz="1300" b="1">
                  <a:solidFill>
                    <a:srgbClr val="1A2028"/>
                  </a:solidFill>
                </a:rPr>
                <a:t>Опыт работы в индустриях </a:t>
              </a:r>
              <a:endParaRPr sz="1300" b="1">
                <a:solidFill>
                  <a:srgbClr val="1A2028"/>
                </a:solidFill>
              </a:endParaRPr>
            </a:p>
          </p:txBody>
        </p:sp>
        <p:sp>
          <p:nvSpPr>
            <p:cNvPr id="27" name="Google Shape;27;p7"/>
            <p:cNvSpPr txBox="1"/>
            <p:nvPr/>
          </p:nvSpPr>
          <p:spPr bwMode="auto">
            <a:xfrm>
              <a:off x="4365149" y="1399061"/>
              <a:ext cx="3885300" cy="345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457200" lvl="0" indent="-29845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1A2028"/>
                </a:buClr>
                <a:buSzPts val="1100"/>
                <a:buChar char="➔"/>
                <a:defRPr/>
              </a:pPr>
              <a:r>
                <a:rPr lang="ru" sz="1100">
                  <a:solidFill>
                    <a:srgbClr val="1A2028"/>
                  </a:solidFill>
                </a:rPr>
                <a:t>Цифровая трансформация ритейла</a:t>
              </a:r>
              <a:endParaRPr sz="1100">
                <a:solidFill>
                  <a:srgbClr val="1A2028"/>
                </a:solidFill>
              </a:endParaRPr>
            </a:p>
            <a:p>
              <a:pPr marL="457200" lvl="0" indent="-298450" algn="l" rtl="0">
                <a:lnSpc>
                  <a:spcPct val="10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1A2028"/>
                </a:buClr>
                <a:buSzPts val="1100"/>
                <a:buChar char="➔"/>
                <a:defRPr/>
              </a:pPr>
              <a:r>
                <a:rPr lang="ru" sz="1100">
                  <a:solidFill>
                    <a:srgbClr val="1A2028"/>
                  </a:solidFill>
                </a:rPr>
                <a:t>Платежные системы и банкинг. Финтек интеграции и управление цифровыми активами</a:t>
              </a:r>
              <a:endParaRPr sz="1100">
                <a:solidFill>
                  <a:srgbClr val="1A2028"/>
                </a:solidFill>
              </a:endParaRPr>
            </a:p>
            <a:p>
              <a:pPr marL="457200" lvl="0" indent="-298450" algn="l" rtl="0">
                <a:lnSpc>
                  <a:spcPct val="10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1A2028"/>
                </a:buClr>
                <a:buSzPts val="1100"/>
                <a:buChar char="➔"/>
                <a:defRPr/>
              </a:pPr>
              <a:r>
                <a:rPr lang="ru" sz="1100">
                  <a:solidFill>
                    <a:srgbClr val="1A2028"/>
                  </a:solidFill>
                </a:rPr>
                <a:t>Платформы для управления и сбором данных на производстве</a:t>
              </a:r>
              <a:endParaRPr sz="1100">
                <a:solidFill>
                  <a:srgbClr val="1A2028"/>
                </a:solidFill>
              </a:endParaRPr>
            </a:p>
            <a:p>
              <a:pPr marL="457200" lvl="0" indent="-298450" algn="l" rtl="0">
                <a:lnSpc>
                  <a:spcPct val="10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1A2028"/>
                </a:buClr>
                <a:buSzPts val="1100"/>
                <a:buChar char="➔"/>
                <a:defRPr/>
              </a:pPr>
              <a:r>
                <a:rPr lang="ru" sz="1100">
                  <a:solidFill>
                    <a:srgbClr val="1A2028"/>
                  </a:solidFill>
                </a:rPr>
                <a:t>Логистика. Системы планирования фрахта, дислокации, состоянием транспортных средств</a:t>
              </a:r>
              <a:endParaRPr sz="1100">
                <a:solidFill>
                  <a:srgbClr val="1A2028"/>
                </a:solidFill>
              </a:endParaRPr>
            </a:p>
            <a:p>
              <a:pPr marL="457200" lvl="0" indent="-298450" algn="l" rtl="0">
                <a:lnSpc>
                  <a:spcPct val="10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1A2028"/>
                </a:buClr>
                <a:buSzPts val="1100"/>
                <a:buChar char="➔"/>
                <a:defRPr/>
              </a:pPr>
              <a:r>
                <a:rPr lang="ru" sz="1100">
                  <a:solidFill>
                    <a:srgbClr val="1A2028"/>
                  </a:solidFill>
                </a:rPr>
                <a:t>ЭДО и EDI, создание высоконагруженных систем обмена документами</a:t>
              </a:r>
              <a:endParaRPr sz="1100">
                <a:solidFill>
                  <a:srgbClr val="1A2028"/>
                </a:solidFill>
              </a:endParaRPr>
            </a:p>
            <a:p>
              <a:pPr marL="457200" lvl="0" indent="-298450" algn="l" rtl="0">
                <a:spcBef>
                  <a:spcPts val="1000"/>
                </a:spcBef>
                <a:spcAft>
                  <a:spcPts val="0"/>
                </a:spcAft>
                <a:buClr>
                  <a:srgbClr val="1A2028"/>
                </a:buClr>
                <a:buSzPts val="1100"/>
                <a:buChar char="➔"/>
                <a:defRPr/>
              </a:pPr>
              <a:r>
                <a:rPr lang="ru" sz="1100">
                  <a:solidFill>
                    <a:srgbClr val="1A2028"/>
                  </a:solidFill>
                </a:rPr>
                <a:t>Инеграция с Гос. органами для предоставления и забора сведений</a:t>
              </a:r>
              <a:endParaRPr sz="1100">
                <a:solidFill>
                  <a:srgbClr val="1A2028"/>
                </a:solidFill>
              </a:endParaRPr>
            </a:p>
            <a:p>
              <a:pPr marL="457200" lvl="0" indent="-298450" algn="l" rtl="0">
                <a:spcBef>
                  <a:spcPts val="1000"/>
                </a:spcBef>
                <a:spcAft>
                  <a:spcPts val="0"/>
                </a:spcAft>
                <a:buClr>
                  <a:srgbClr val="1A2028"/>
                </a:buClr>
                <a:buSzPts val="1100"/>
                <a:buChar char="➔"/>
                <a:defRPr/>
              </a:pPr>
              <a:r>
                <a:rPr lang="ru" sz="1100">
                  <a:solidFill>
                    <a:srgbClr val="1A2028"/>
                  </a:solidFill>
                </a:rPr>
                <a:t>Системы управления персоналом и поиском кандидиатов</a:t>
              </a:r>
              <a:endParaRPr sz="1100">
                <a:solidFill>
                  <a:srgbClr val="1A2028"/>
                </a:solidFill>
              </a:endParaRPr>
            </a:p>
            <a:p>
              <a:pPr marL="457200" lvl="0" indent="-298450" algn="l" rtl="0">
                <a:spcBef>
                  <a:spcPts val="1000"/>
                </a:spcBef>
                <a:spcAft>
                  <a:spcPts val="1000"/>
                </a:spcAft>
                <a:buClr>
                  <a:srgbClr val="1A2028"/>
                </a:buClr>
                <a:buSzPts val="1100"/>
                <a:buChar char="➔"/>
                <a:defRPr/>
              </a:pPr>
              <a:r>
                <a:rPr lang="ru" sz="1100">
                  <a:solidFill>
                    <a:srgbClr val="1A2028"/>
                  </a:solidFill>
                </a:rPr>
                <a:t>Системы для онлайн образования LMS</a:t>
              </a:r>
              <a:endParaRPr sz="1100">
                <a:solidFill>
                  <a:srgbClr val="1A2028"/>
                </a:solidFill>
              </a:endParaRPr>
            </a:p>
          </p:txBody>
        </p:sp>
        <p:pic>
          <p:nvPicPr>
            <p:cNvPr id="28" name="Google Shape;28;p7"/>
            <p:cNvPicPr/>
            <p:nvPr/>
          </p:nvPicPr>
          <p:blipFill rotWithShape="1">
            <a:blip r:embed="rId4">
              <a:alphaModFix/>
            </a:blip>
            <a:stretch/>
          </p:blipFill>
          <p:spPr bwMode="auto">
            <a:xfrm>
              <a:off x="4438364" y="919063"/>
              <a:ext cx="420250" cy="420228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501536665" name="Google Shape;29;p7"/>
          <p:cNvGrpSpPr/>
          <p:nvPr/>
        </p:nvGrpSpPr>
        <p:grpSpPr bwMode="auto">
          <a:xfrm>
            <a:off x="225100" y="3123018"/>
            <a:ext cx="4433700" cy="1724288"/>
            <a:chOff x="225100" y="3123018"/>
            <a:chExt cx="4433700" cy="1724288"/>
          </a:xfrm>
        </p:grpSpPr>
        <p:sp>
          <p:nvSpPr>
            <p:cNvPr id="30" name="Google Shape;30;p7"/>
            <p:cNvSpPr txBox="1"/>
            <p:nvPr/>
          </p:nvSpPr>
          <p:spPr bwMode="auto">
            <a:xfrm>
              <a:off x="694881" y="3123018"/>
              <a:ext cx="2829900" cy="38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4999"/>
                </a:lnSpc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r>
                <a:rPr lang="ru" sz="1300" b="1">
                  <a:solidFill>
                    <a:srgbClr val="1A2028"/>
                  </a:solidFill>
                </a:rPr>
                <a:t>Дизайн и UX-проектирование</a:t>
              </a:r>
              <a:endParaRPr sz="1300" b="1">
                <a:solidFill>
                  <a:srgbClr val="1A2028"/>
                </a:solidFill>
              </a:endParaRPr>
            </a:p>
          </p:txBody>
        </p:sp>
        <p:sp>
          <p:nvSpPr>
            <p:cNvPr id="31" name="Google Shape;31;p7"/>
            <p:cNvSpPr txBox="1"/>
            <p:nvPr/>
          </p:nvSpPr>
          <p:spPr bwMode="auto">
            <a:xfrm>
              <a:off x="225100" y="3508106"/>
              <a:ext cx="4433700" cy="1339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457200" lvl="0" indent="-298450" algn="l" rtl="0">
                <a:spcBef>
                  <a:spcPts val="0"/>
                </a:spcBef>
                <a:spcAft>
                  <a:spcPts val="0"/>
                </a:spcAft>
                <a:buClr>
                  <a:srgbClr val="1A2028"/>
                </a:buClr>
                <a:buSzPts val="1100"/>
                <a:buChar char="➔"/>
                <a:defRPr/>
              </a:pPr>
              <a:r>
                <a:rPr lang="ru" sz="1100">
                  <a:solidFill>
                    <a:schemeClr val="dk1"/>
                  </a:solidFill>
                </a:rPr>
                <a:t>Разработка UX концепции для вашего продукта</a:t>
              </a:r>
              <a:endParaRPr sz="1100">
                <a:solidFill>
                  <a:schemeClr val="dk1"/>
                </a:solidFill>
              </a:endParaRPr>
            </a:p>
            <a:p>
              <a:pPr marL="457200" lvl="0" indent="-298450" algn="l" rtl="0">
                <a:spcBef>
                  <a:spcPts val="800"/>
                </a:spcBef>
                <a:spcAft>
                  <a:spcPts val="0"/>
                </a:spcAft>
                <a:buClr>
                  <a:srgbClr val="1A2028"/>
                </a:buClr>
                <a:buSzPts val="1100"/>
                <a:buChar char="➔"/>
                <a:defRPr/>
              </a:pPr>
              <a:r>
                <a:rPr lang="ru" sz="1100">
                  <a:solidFill>
                    <a:schemeClr val="dk1"/>
                  </a:solidFill>
                </a:rPr>
                <a:t>Создание кликабельных прототипов для отработки концепции решений</a:t>
              </a:r>
              <a:endParaRPr sz="1100">
                <a:solidFill>
                  <a:schemeClr val="dk1"/>
                </a:solidFill>
              </a:endParaRPr>
            </a:p>
            <a:p>
              <a:pPr marL="457200" lvl="0" indent="-298450" algn="l" rtl="0">
                <a:spcBef>
                  <a:spcPts val="800"/>
                </a:spcBef>
                <a:spcAft>
                  <a:spcPts val="0"/>
                </a:spcAft>
                <a:buClr>
                  <a:srgbClr val="1A2028"/>
                </a:buClr>
                <a:buSzPts val="1100"/>
                <a:buChar char="➔"/>
                <a:defRPr/>
              </a:pPr>
              <a:r>
                <a:rPr lang="ru" sz="1100">
                  <a:solidFill>
                    <a:schemeClr val="dk1"/>
                  </a:solidFill>
                </a:rPr>
                <a:t>Комплексная разработка дизайна ИТ-проекта</a:t>
              </a:r>
              <a:endParaRPr sz="1100">
                <a:solidFill>
                  <a:schemeClr val="dk1"/>
                </a:solidFill>
              </a:endParaRPr>
            </a:p>
            <a:p>
              <a:pPr marL="457200" lvl="0" indent="-298450" algn="l" rtl="0">
                <a:spcBef>
                  <a:spcPts val="800"/>
                </a:spcBef>
                <a:spcAft>
                  <a:spcPts val="800"/>
                </a:spcAft>
                <a:buClr>
                  <a:srgbClr val="1A2028"/>
                </a:buClr>
                <a:buSzPts val="1100"/>
                <a:buChar char="➔"/>
                <a:defRPr/>
              </a:pPr>
              <a:r>
                <a:rPr lang="ru" sz="1100">
                  <a:solidFill>
                    <a:schemeClr val="dk1"/>
                  </a:solidFill>
                </a:rPr>
                <a:t>Проектирование и подготовка дизайн-систем</a:t>
              </a:r>
              <a:endParaRPr sz="1100">
                <a:solidFill>
                  <a:srgbClr val="1A2028"/>
                </a:solidFill>
              </a:endParaRPr>
            </a:p>
          </p:txBody>
        </p:sp>
        <p:pic>
          <p:nvPicPr>
            <p:cNvPr id="32" name="Google Shape;32;p7"/>
            <p:cNvPicPr/>
            <p:nvPr/>
          </p:nvPicPr>
          <p:blipFill rotWithShape="1">
            <a:blip r:embed="rId5">
              <a:alphaModFix/>
            </a:blip>
            <a:stretch/>
          </p:blipFill>
          <p:spPr bwMode="auto">
            <a:xfrm>
              <a:off x="328225" y="3136056"/>
              <a:ext cx="358850" cy="3588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24409436" name="Google Shape;33;p7"/>
          <p:cNvGrpSpPr/>
          <p:nvPr/>
        </p:nvGrpSpPr>
        <p:grpSpPr bwMode="auto">
          <a:xfrm>
            <a:off x="225100" y="941611"/>
            <a:ext cx="4203567" cy="2046764"/>
            <a:chOff x="225100" y="941611"/>
            <a:chExt cx="4203567" cy="2046764"/>
          </a:xfrm>
        </p:grpSpPr>
        <p:sp>
          <p:nvSpPr>
            <p:cNvPr id="34" name="Google Shape;34;p7"/>
            <p:cNvSpPr txBox="1"/>
            <p:nvPr/>
          </p:nvSpPr>
          <p:spPr bwMode="auto">
            <a:xfrm>
              <a:off x="687067" y="941611"/>
              <a:ext cx="3741600" cy="38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4999"/>
                </a:lnSpc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r>
                <a:rPr lang="ru" sz="1300" b="1">
                  <a:solidFill>
                    <a:srgbClr val="1A2028"/>
                  </a:solidFill>
                </a:rPr>
                <a:t>Аутстафф ИТ-команд и специалистов</a:t>
              </a:r>
              <a:endParaRPr sz="1300" b="1">
                <a:solidFill>
                  <a:srgbClr val="1A2028"/>
                </a:solidFill>
              </a:endParaRPr>
            </a:p>
          </p:txBody>
        </p:sp>
        <p:sp>
          <p:nvSpPr>
            <p:cNvPr id="35" name="Google Shape;35;p7"/>
            <p:cNvSpPr txBox="1"/>
            <p:nvPr/>
          </p:nvSpPr>
          <p:spPr bwMode="auto">
            <a:xfrm>
              <a:off x="225100" y="1402875"/>
              <a:ext cx="3885300" cy="1585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457200" lvl="0" indent="-29845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1A2028"/>
                </a:buClr>
                <a:buSzPts val="1100"/>
                <a:buChar char="➔"/>
                <a:defRPr/>
              </a:pPr>
              <a:r>
                <a:rPr lang="ru" sz="1100">
                  <a:solidFill>
                    <a:srgbClr val="1A2028"/>
                  </a:solidFill>
                </a:rPr>
                <a:t>Оперативное масштабирование команды</a:t>
              </a:r>
              <a:endParaRPr sz="1100">
                <a:solidFill>
                  <a:srgbClr val="1A2028"/>
                </a:solidFill>
              </a:endParaRPr>
            </a:p>
            <a:p>
              <a:pPr marL="457200" lvl="0" indent="-298450" algn="l" rtl="0">
                <a:lnSpc>
                  <a:spcPct val="10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1A2028"/>
                </a:buClr>
                <a:buSzPts val="1100"/>
                <a:buChar char="➔"/>
                <a:defRPr/>
              </a:pPr>
              <a:r>
                <a:rPr lang="ru" sz="1100">
                  <a:solidFill>
                    <a:srgbClr val="1A2028"/>
                  </a:solidFill>
                </a:rPr>
                <a:t>Планирование проектной нагрузки и совместное планирование емкости команды</a:t>
              </a:r>
              <a:endParaRPr sz="1100">
                <a:solidFill>
                  <a:srgbClr val="1A2028"/>
                </a:solidFill>
              </a:endParaRPr>
            </a:p>
            <a:p>
              <a:pPr marL="457200" lvl="0" indent="-298450" algn="l" rtl="0">
                <a:lnSpc>
                  <a:spcPct val="10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1A2028"/>
                </a:buClr>
                <a:buSzPts val="1100"/>
                <a:buChar char="➔"/>
                <a:defRPr/>
              </a:pPr>
              <a:r>
                <a:rPr lang="ru" sz="1100">
                  <a:solidFill>
                    <a:srgbClr val="1A2028"/>
                  </a:solidFill>
                </a:rPr>
                <a:t>Управление компетенциями, своевременная аттестация и оценка уровня специалистов</a:t>
              </a:r>
              <a:endParaRPr sz="1100">
                <a:solidFill>
                  <a:srgbClr val="1A2028"/>
                </a:solidFill>
              </a:endParaRPr>
            </a:p>
            <a:p>
              <a:pPr marL="457200" lvl="0" indent="-298450" algn="l" rtl="0">
                <a:lnSpc>
                  <a:spcPct val="100000"/>
                </a:lnSpc>
                <a:spcBef>
                  <a:spcPts val="1000"/>
                </a:spcBef>
                <a:spcAft>
                  <a:spcPts val="1000"/>
                </a:spcAft>
                <a:buClr>
                  <a:srgbClr val="1A2028"/>
                </a:buClr>
                <a:buSzPts val="1100"/>
                <a:buChar char="➔"/>
                <a:defRPr/>
              </a:pPr>
              <a:r>
                <a:rPr lang="ru" sz="1100">
                  <a:solidFill>
                    <a:srgbClr val="1A2028"/>
                  </a:solidFill>
                </a:rPr>
                <a:t>Горячая замена специалиста </a:t>
              </a:r>
              <a:endParaRPr sz="1100">
                <a:solidFill>
                  <a:srgbClr val="1A2028"/>
                </a:solidFill>
              </a:endParaRPr>
            </a:p>
          </p:txBody>
        </p:sp>
        <p:pic>
          <p:nvPicPr>
            <p:cNvPr id="36" name="Google Shape;36;p7"/>
            <p:cNvPicPr/>
            <p:nvPr/>
          </p:nvPicPr>
          <p:blipFill rotWithShape="1">
            <a:blip r:embed="rId6">
              <a:alphaModFix/>
            </a:blip>
            <a:stretch/>
          </p:blipFill>
          <p:spPr bwMode="auto">
            <a:xfrm>
              <a:off x="318525" y="951665"/>
              <a:ext cx="358850" cy="35885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1250771139" name="Google Shape;37;p7"/>
          <p:cNvPicPr/>
          <p:nvPr/>
        </p:nvPicPr>
        <p:blipFill rotWithShape="1">
          <a:blip r:embed="rId7">
            <a:alphaModFix/>
          </a:blip>
          <a:srcRect l="-849" t="-51" r="9533" b="57488"/>
          <a:stretch/>
        </p:blipFill>
        <p:spPr bwMode="auto">
          <a:xfrm>
            <a:off x="5467425" y="3429900"/>
            <a:ext cx="3676575" cy="171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Gray / List 1" preserve="0" showMasterPhAnim="0" showMasterSp="1" userDrawn="1">
  <p:cSld name="BLANK_4">
    <p:bg>
      <p:bgPr shadeToTitle="0">
        <a:solidFill>
          <a:srgbClr val="F4F4F4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69618649" name="Google Shape;39;p8"/>
          <p:cNvPicPr/>
          <p:nvPr/>
        </p:nvPicPr>
        <p:blipFill rotWithShape="1">
          <a:blip r:embed="rId2">
            <a:alphaModFix/>
          </a:blip>
          <a:stretch/>
        </p:blipFill>
        <p:spPr bwMode="auto">
          <a:xfrm>
            <a:off x="152400" y="0"/>
            <a:ext cx="8839199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92026670" name="Google Shape;40;p8"/>
          <p:cNvPicPr/>
          <p:nvPr/>
        </p:nvPicPr>
        <p:blipFill rotWithShape="1">
          <a:blip r:embed="rId3">
            <a:alphaModFix/>
          </a:blip>
          <a:stretch/>
        </p:blipFill>
        <p:spPr bwMode="auto">
          <a:xfrm>
            <a:off x="8046554" y="246475"/>
            <a:ext cx="776246" cy="315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51796367" name="Google Shape;41;p8"/>
          <p:cNvPicPr/>
          <p:nvPr/>
        </p:nvPicPr>
        <p:blipFill rotWithShape="1">
          <a:blip r:embed="rId4">
            <a:alphaModFix/>
          </a:blip>
          <a:srcRect l="0" t="0" r="49210" b="20748"/>
          <a:stretch/>
        </p:blipFill>
        <p:spPr bwMode="auto">
          <a:xfrm>
            <a:off x="7292500" y="2254425"/>
            <a:ext cx="1851500" cy="2889075"/>
          </a:xfrm>
          <a:prstGeom prst="rect">
            <a:avLst/>
          </a:prstGeom>
          <a:noFill/>
          <a:ln>
            <a:noFill/>
          </a:ln>
        </p:spPr>
      </p:pic>
      <p:sp>
        <p:nvSpPr>
          <p:cNvPr id="299565270" name="Google Shape;42;p8"/>
          <p:cNvSpPr txBox="1"/>
          <p:nvPr/>
        </p:nvSpPr>
        <p:spPr bwMode="auto">
          <a:xfrm>
            <a:off x="225100" y="155020"/>
            <a:ext cx="54906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3000" b="1">
                <a:solidFill>
                  <a:srgbClr val="1A2028"/>
                </a:solidFill>
                <a:latin typeface="Montserrat Alternates"/>
                <a:ea typeface="Montserrat Alternates"/>
                <a:cs typeface="Montserrat Alternates"/>
              </a:rPr>
              <a:t>Компетенции</a:t>
            </a:r>
            <a:endParaRPr sz="3000" b="1">
              <a:solidFill>
                <a:srgbClr val="1A2028"/>
              </a:solidFill>
              <a:latin typeface="Montserrat Alternates"/>
              <a:ea typeface="Montserrat Alternates"/>
              <a:cs typeface="Montserrat Alternates"/>
            </a:endParaRPr>
          </a:p>
        </p:txBody>
      </p:sp>
      <p:grpSp>
        <p:nvGrpSpPr>
          <p:cNvPr id="1529074340" name="Google Shape;43;p8"/>
          <p:cNvGrpSpPr/>
          <p:nvPr/>
        </p:nvGrpSpPr>
        <p:grpSpPr bwMode="auto">
          <a:xfrm>
            <a:off x="4345225" y="941600"/>
            <a:ext cx="4529700" cy="1324075"/>
            <a:chOff x="4345225" y="941600"/>
            <a:chExt cx="4529700" cy="1324075"/>
          </a:xfrm>
        </p:grpSpPr>
        <p:sp>
          <p:nvSpPr>
            <p:cNvPr id="44" name="Google Shape;44;p8"/>
            <p:cNvSpPr txBox="1"/>
            <p:nvPr/>
          </p:nvSpPr>
          <p:spPr bwMode="auto">
            <a:xfrm>
              <a:off x="4825175" y="941600"/>
              <a:ext cx="3287700" cy="38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4999"/>
                </a:lnSpc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r>
                <a:rPr lang="ru" sz="1300" b="1">
                  <a:solidFill>
                    <a:srgbClr val="1A2028"/>
                  </a:solidFill>
                </a:rPr>
                <a:t>Готовые решения и наработки</a:t>
              </a:r>
              <a:endParaRPr sz="1300" b="1">
                <a:solidFill>
                  <a:srgbClr val="1A2028"/>
                </a:solidFill>
              </a:endParaRPr>
            </a:p>
          </p:txBody>
        </p:sp>
        <p:sp>
          <p:nvSpPr>
            <p:cNvPr id="45" name="Google Shape;45;p8"/>
            <p:cNvSpPr txBox="1"/>
            <p:nvPr/>
          </p:nvSpPr>
          <p:spPr bwMode="auto">
            <a:xfrm>
              <a:off x="4345225" y="1326675"/>
              <a:ext cx="4529700" cy="939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457200" lvl="0" indent="-29845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1A2028"/>
                </a:buClr>
                <a:buSzPts val="1100"/>
                <a:buChar char="➔"/>
                <a:defRPr/>
              </a:pPr>
              <a:r>
                <a:rPr lang="ru" sz="1100">
                  <a:solidFill>
                    <a:srgbClr val="1A2028"/>
                  </a:solidFill>
                </a:rPr>
                <a:t>10 лет работы в разных индустриях, понимание рабочих подходов в реализации проектов</a:t>
              </a:r>
              <a:endParaRPr sz="1100">
                <a:solidFill>
                  <a:srgbClr val="1A2028"/>
                </a:solidFill>
              </a:endParaRPr>
            </a:p>
            <a:p>
              <a:pPr marL="457200" lvl="0" indent="-298450" algn="l" rtl="0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rgbClr val="1A2028"/>
                </a:buClr>
                <a:buSzPts val="1100"/>
                <a:buChar char="➔"/>
                <a:defRPr/>
              </a:pPr>
              <a:r>
                <a:rPr lang="ru" sz="1100">
                  <a:solidFill>
                    <a:srgbClr val="1A2028"/>
                  </a:solidFill>
                </a:rPr>
                <a:t>Использование Адаптация текущих систем под новые бизнес-задачи</a:t>
              </a:r>
              <a:endParaRPr sz="1100">
                <a:solidFill>
                  <a:srgbClr val="1A2028"/>
                </a:solidFill>
              </a:endParaRPr>
            </a:p>
          </p:txBody>
        </p:sp>
        <p:pic>
          <p:nvPicPr>
            <p:cNvPr id="46" name="Google Shape;46;p8"/>
            <p:cNvPicPr/>
            <p:nvPr/>
          </p:nvPicPr>
          <p:blipFill rotWithShape="1">
            <a:blip r:embed="rId5">
              <a:alphaModFix/>
            </a:blip>
            <a:stretch/>
          </p:blipFill>
          <p:spPr bwMode="auto">
            <a:xfrm>
              <a:off x="4453245" y="941674"/>
              <a:ext cx="384900" cy="3849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851740434" name="Google Shape;47;p8"/>
          <p:cNvGrpSpPr/>
          <p:nvPr/>
        </p:nvGrpSpPr>
        <p:grpSpPr bwMode="auto">
          <a:xfrm>
            <a:off x="225100" y="941600"/>
            <a:ext cx="3885300" cy="3773680"/>
            <a:chOff x="225100" y="941600"/>
            <a:chExt cx="3885300" cy="3773680"/>
          </a:xfrm>
        </p:grpSpPr>
        <p:sp>
          <p:nvSpPr>
            <p:cNvPr id="48" name="Google Shape;48;p8"/>
            <p:cNvSpPr txBox="1"/>
            <p:nvPr/>
          </p:nvSpPr>
          <p:spPr bwMode="auto">
            <a:xfrm>
              <a:off x="669462" y="941600"/>
              <a:ext cx="3363000" cy="38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lnSpc>
                  <a:spcPct val="114999"/>
                </a:lnSpc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r>
                <a:rPr lang="ru" sz="1300" b="1">
                  <a:solidFill>
                    <a:srgbClr val="1A2028"/>
                  </a:solidFill>
                </a:rPr>
                <a:t>Разработка и внедрение</a:t>
              </a:r>
              <a:endParaRPr sz="1300" b="1">
                <a:solidFill>
                  <a:srgbClr val="1A2028"/>
                </a:solidFill>
              </a:endParaRPr>
            </a:p>
          </p:txBody>
        </p:sp>
        <p:sp>
          <p:nvSpPr>
            <p:cNvPr id="49" name="Google Shape;49;p8"/>
            <p:cNvSpPr txBox="1"/>
            <p:nvPr/>
          </p:nvSpPr>
          <p:spPr bwMode="auto">
            <a:xfrm>
              <a:off x="225100" y="1421280"/>
              <a:ext cx="3885300" cy="3294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457200" lvl="0" indent="-29845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1A2028"/>
                </a:buClr>
                <a:buSzPts val="1100"/>
                <a:buChar char="➔"/>
                <a:defRPr/>
              </a:pPr>
              <a:r>
                <a:rPr lang="ru" sz="1100">
                  <a:solidFill>
                    <a:srgbClr val="1A2028"/>
                  </a:solidFill>
                </a:rPr>
                <a:t>Разработка платформенных решений и микросервисов</a:t>
              </a:r>
              <a:endParaRPr sz="1100">
                <a:solidFill>
                  <a:srgbClr val="1A2028"/>
                </a:solidFill>
              </a:endParaRPr>
            </a:p>
            <a:p>
              <a:pPr marL="457200" lvl="0" indent="-298450" algn="l" rtl="0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>
                  <a:srgbClr val="1A2028"/>
                </a:buClr>
                <a:buSzPts val="1100"/>
                <a:buChar char="➔"/>
                <a:defRPr/>
              </a:pPr>
              <a:r>
                <a:rPr lang="ru" sz="1100">
                  <a:solidFill>
                    <a:srgbClr val="1A2028"/>
                  </a:solidFill>
                </a:rPr>
                <a:t>Создание ETL и интеграционных адаптеров</a:t>
              </a:r>
              <a:endParaRPr sz="1100">
                <a:solidFill>
                  <a:srgbClr val="1A2028"/>
                </a:solidFill>
              </a:endParaRPr>
            </a:p>
            <a:p>
              <a:pPr marL="457200" lvl="0" indent="-298450" algn="l" rtl="0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>
                  <a:srgbClr val="1A2028"/>
                </a:buClr>
                <a:buSzPts val="1100"/>
                <a:buChar char="➔"/>
                <a:defRPr/>
              </a:pPr>
              <a:r>
                <a:rPr lang="ru" sz="1100">
                  <a:solidFill>
                    <a:srgbClr val="1A2028"/>
                  </a:solidFill>
                </a:rPr>
                <a:t>Специфичная разработка для финтеха: платежные шлюзы, шифрование, перс. данные</a:t>
              </a:r>
              <a:endParaRPr sz="1100">
                <a:solidFill>
                  <a:srgbClr val="1A2028"/>
                </a:solidFill>
              </a:endParaRPr>
            </a:p>
            <a:p>
              <a:pPr marL="457200" lvl="0" indent="-298450" algn="l" rtl="0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>
                  <a:srgbClr val="1A2028"/>
                </a:buClr>
                <a:buSzPts val="1100"/>
                <a:buChar char="➔"/>
                <a:defRPr/>
              </a:pPr>
              <a:r>
                <a:rPr lang="ru" sz="1100">
                  <a:solidFill>
                    <a:srgbClr val="1A2028"/>
                  </a:solidFill>
                </a:rPr>
                <a:t>Разработка хранилищ данных и систем информационного обмена высокой нагрузки</a:t>
              </a:r>
              <a:endParaRPr sz="1100">
                <a:solidFill>
                  <a:srgbClr val="1A2028"/>
                </a:solidFill>
              </a:endParaRPr>
            </a:p>
            <a:p>
              <a:pPr marL="457200" lvl="0" indent="-298450" algn="l" rtl="0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>
                  <a:srgbClr val="1A2028"/>
                </a:buClr>
                <a:buSzPts val="1100"/>
                <a:buChar char="➔"/>
                <a:defRPr/>
              </a:pPr>
              <a:r>
                <a:rPr lang="ru" sz="1100">
                  <a:solidFill>
                    <a:srgbClr val="1A2028"/>
                  </a:solidFill>
                </a:rPr>
                <a:t>BPM системы и проектирование бизнес-процессов</a:t>
              </a:r>
              <a:endParaRPr sz="1100">
                <a:solidFill>
                  <a:srgbClr val="1A2028"/>
                </a:solidFill>
              </a:endParaRPr>
            </a:p>
            <a:p>
              <a:pPr marL="457200" lvl="0" indent="-298450" algn="l" rtl="0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>
                  <a:srgbClr val="1A2028"/>
                </a:buClr>
                <a:buSzPts val="1100"/>
                <a:buChar char="➔"/>
                <a:defRPr/>
              </a:pPr>
              <a:r>
                <a:rPr lang="ru" sz="1100">
                  <a:solidFill>
                    <a:srgbClr val="1A2028"/>
                  </a:solidFill>
                </a:rPr>
                <a:t>Разработка мобильных приложений</a:t>
              </a:r>
              <a:endParaRPr sz="1100">
                <a:solidFill>
                  <a:srgbClr val="1A2028"/>
                </a:solidFill>
              </a:endParaRPr>
            </a:p>
            <a:p>
              <a:pPr marL="457200" lvl="0" indent="-298450" algn="l" rtl="0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>
                  <a:srgbClr val="1A2028"/>
                </a:buClr>
                <a:buSzPts val="1100"/>
                <a:buChar char="➔"/>
                <a:defRPr/>
              </a:pPr>
              <a:r>
                <a:rPr lang="ru" sz="1100">
                  <a:solidFill>
                    <a:srgbClr val="1A2028"/>
                  </a:solidFill>
                </a:rPr>
                <a:t>Разработка 1С-Битрикс </a:t>
              </a:r>
              <a:endParaRPr sz="1100">
                <a:solidFill>
                  <a:srgbClr val="1A2028"/>
                </a:solidFill>
              </a:endParaRPr>
            </a:p>
            <a:p>
              <a:pPr marL="457200" lvl="0" indent="-298450" algn="l" rtl="0">
                <a:lnSpc>
                  <a:spcPct val="100000"/>
                </a:lnSpc>
                <a:spcBef>
                  <a:spcPts val="1200"/>
                </a:spcBef>
                <a:spcAft>
                  <a:spcPts val="1200"/>
                </a:spcAft>
                <a:buClr>
                  <a:srgbClr val="1A2028"/>
                </a:buClr>
                <a:buSzPts val="1100"/>
                <a:buChar char="➔"/>
                <a:defRPr/>
              </a:pPr>
              <a:r>
                <a:rPr lang="ru" sz="1100">
                  <a:solidFill>
                    <a:srgbClr val="1A2028"/>
                  </a:solidFill>
                </a:rPr>
                <a:t>Заказная front-end разработка</a:t>
              </a:r>
              <a:endParaRPr sz="1100">
                <a:solidFill>
                  <a:srgbClr val="1A2028"/>
                </a:solidFill>
              </a:endParaRPr>
            </a:p>
          </p:txBody>
        </p:sp>
        <p:pic>
          <p:nvPicPr>
            <p:cNvPr id="50" name="Google Shape;50;p8"/>
            <p:cNvPicPr/>
            <p:nvPr/>
          </p:nvPicPr>
          <p:blipFill rotWithShape="1">
            <a:blip r:embed="rId6">
              <a:alphaModFix/>
            </a:blip>
            <a:stretch/>
          </p:blipFill>
          <p:spPr bwMode="auto">
            <a:xfrm>
              <a:off x="284575" y="941683"/>
              <a:ext cx="384900" cy="3849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978272165" name="Google Shape;51;p8"/>
          <p:cNvGrpSpPr/>
          <p:nvPr/>
        </p:nvGrpSpPr>
        <p:grpSpPr bwMode="auto">
          <a:xfrm>
            <a:off x="4345225" y="3480347"/>
            <a:ext cx="4433700" cy="1231688"/>
            <a:chOff x="4345225" y="3480347"/>
            <a:chExt cx="4433700" cy="1231688"/>
          </a:xfrm>
        </p:grpSpPr>
        <p:sp>
          <p:nvSpPr>
            <p:cNvPr id="52" name="Google Shape;52;p8"/>
            <p:cNvSpPr txBox="1"/>
            <p:nvPr/>
          </p:nvSpPr>
          <p:spPr bwMode="auto">
            <a:xfrm>
              <a:off x="4825175" y="3480347"/>
              <a:ext cx="2829900" cy="38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4999"/>
                </a:lnSpc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r>
                <a:rPr lang="ru" sz="1300" b="1">
                  <a:solidFill>
                    <a:srgbClr val="1A2028"/>
                  </a:solidFill>
                </a:rPr>
                <a:t>Консалтинг</a:t>
              </a:r>
              <a:endParaRPr sz="1300" b="1">
                <a:solidFill>
                  <a:srgbClr val="1A2028"/>
                </a:solidFill>
              </a:endParaRPr>
            </a:p>
          </p:txBody>
        </p:sp>
        <p:sp>
          <p:nvSpPr>
            <p:cNvPr id="53" name="Google Shape;53;p8"/>
            <p:cNvSpPr txBox="1"/>
            <p:nvPr/>
          </p:nvSpPr>
          <p:spPr bwMode="auto">
            <a:xfrm>
              <a:off x="4345225" y="3865435"/>
              <a:ext cx="4433700" cy="84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457200" lvl="0" indent="-29845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1A2028"/>
                </a:buClr>
                <a:buSzPts val="1100"/>
                <a:buChar char="➔"/>
                <a:defRPr/>
              </a:pPr>
              <a:r>
                <a:rPr lang="ru" sz="1100">
                  <a:solidFill>
                    <a:srgbClr val="1A2028"/>
                  </a:solidFill>
                </a:rPr>
                <a:t>Разработка технического задания и сбор требований</a:t>
              </a:r>
              <a:endParaRPr sz="1100">
                <a:solidFill>
                  <a:srgbClr val="1A2028"/>
                </a:solidFill>
              </a:endParaRPr>
            </a:p>
            <a:p>
              <a:pPr marL="457200" lvl="0" indent="-298450" algn="l" rtl="0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1A2028"/>
                </a:buClr>
                <a:buSzPts val="1100"/>
                <a:buChar char="➔"/>
                <a:defRPr/>
              </a:pPr>
              <a:r>
                <a:rPr lang="ru" sz="1100">
                  <a:solidFill>
                    <a:srgbClr val="1A2028"/>
                  </a:solidFill>
                </a:rPr>
                <a:t>Аудит текущих систем и ИТ инфраструктуры</a:t>
              </a:r>
              <a:endParaRPr sz="1100">
                <a:solidFill>
                  <a:srgbClr val="1A2028"/>
                </a:solidFill>
              </a:endParaRPr>
            </a:p>
            <a:p>
              <a:pPr marL="457200" lvl="0" indent="-298450" algn="l" rtl="0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rgbClr val="1A2028"/>
                </a:buClr>
                <a:buSzPts val="1100"/>
                <a:buChar char="➔"/>
                <a:defRPr/>
              </a:pPr>
              <a:r>
                <a:rPr lang="ru" sz="1100">
                  <a:solidFill>
                    <a:srgbClr val="1A2028"/>
                  </a:solidFill>
                </a:rPr>
                <a:t>Сопровождение развития продукта</a:t>
              </a:r>
              <a:endParaRPr sz="1100">
                <a:solidFill>
                  <a:srgbClr val="1A2028"/>
                </a:solidFill>
              </a:endParaRPr>
            </a:p>
          </p:txBody>
        </p:sp>
        <p:pic>
          <p:nvPicPr>
            <p:cNvPr id="54" name="Google Shape;54;p8"/>
            <p:cNvPicPr/>
            <p:nvPr/>
          </p:nvPicPr>
          <p:blipFill rotWithShape="1">
            <a:blip r:embed="rId7">
              <a:alphaModFix/>
            </a:blip>
            <a:stretch/>
          </p:blipFill>
          <p:spPr bwMode="auto">
            <a:xfrm>
              <a:off x="4418566" y="3480360"/>
              <a:ext cx="384900" cy="3849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834423726" name="Google Shape;55;p8"/>
          <p:cNvGrpSpPr/>
          <p:nvPr/>
        </p:nvGrpSpPr>
        <p:grpSpPr bwMode="auto">
          <a:xfrm>
            <a:off x="4345225" y="2299986"/>
            <a:ext cx="4575000" cy="1113401"/>
            <a:chOff x="4345225" y="2299986"/>
            <a:chExt cx="4575000" cy="1113401"/>
          </a:xfrm>
        </p:grpSpPr>
        <p:sp>
          <p:nvSpPr>
            <p:cNvPr id="56" name="Google Shape;56;p8"/>
            <p:cNvSpPr txBox="1"/>
            <p:nvPr/>
          </p:nvSpPr>
          <p:spPr bwMode="auto">
            <a:xfrm>
              <a:off x="4825175" y="2299986"/>
              <a:ext cx="2829900" cy="38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4999"/>
                </a:lnSpc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r>
                <a:rPr lang="ru" sz="1300" b="1">
                  <a:solidFill>
                    <a:srgbClr val="1A2028"/>
                  </a:solidFill>
                </a:rPr>
                <a:t>Тестирование и сопровождение</a:t>
              </a:r>
              <a:endParaRPr sz="1300" b="1">
                <a:solidFill>
                  <a:srgbClr val="1A2028"/>
                </a:solidFill>
              </a:endParaRPr>
            </a:p>
          </p:txBody>
        </p:sp>
        <p:sp>
          <p:nvSpPr>
            <p:cNvPr id="57" name="Google Shape;57;p8"/>
            <p:cNvSpPr txBox="1"/>
            <p:nvPr/>
          </p:nvSpPr>
          <p:spPr bwMode="auto">
            <a:xfrm>
              <a:off x="4345225" y="2643887"/>
              <a:ext cx="4575000" cy="769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457200" lvl="0" indent="-29845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1A2028"/>
                </a:buClr>
                <a:buSzPts val="1100"/>
                <a:buChar char="➔"/>
                <a:defRPr/>
              </a:pPr>
              <a:r>
                <a:rPr lang="ru" sz="1100">
                  <a:solidFill>
                    <a:srgbClr val="1A2028"/>
                  </a:solidFill>
                </a:rPr>
                <a:t>Автоматизированное, нагрузочное, регрессионное и прочие виды тестирования</a:t>
              </a:r>
              <a:endParaRPr sz="1100">
                <a:solidFill>
                  <a:srgbClr val="1A2028"/>
                </a:solidFill>
              </a:endParaRPr>
            </a:p>
            <a:p>
              <a:pPr marL="457200" lvl="0" indent="-298450" algn="l" rtl="0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rgbClr val="1A2028"/>
                </a:buClr>
                <a:buSzPts val="1100"/>
                <a:buChar char="➔"/>
                <a:defRPr/>
              </a:pPr>
              <a:r>
                <a:rPr lang="ru" sz="1100">
                  <a:solidFill>
                    <a:srgbClr val="1A2028"/>
                  </a:solidFill>
                </a:rPr>
                <a:t>Участие в пилотах решений и техническая поддержка</a:t>
              </a:r>
              <a:endParaRPr sz="1100">
                <a:solidFill>
                  <a:srgbClr val="1A2028"/>
                </a:solidFill>
              </a:endParaRPr>
            </a:p>
          </p:txBody>
        </p:sp>
        <p:pic>
          <p:nvPicPr>
            <p:cNvPr id="58" name="Google Shape;58;p8"/>
            <p:cNvPicPr/>
            <p:nvPr/>
          </p:nvPicPr>
          <p:blipFill rotWithShape="1">
            <a:blip r:embed="rId8">
              <a:alphaModFix/>
            </a:blip>
            <a:stretch/>
          </p:blipFill>
          <p:spPr bwMode="auto">
            <a:xfrm>
              <a:off x="4418566" y="2299991"/>
              <a:ext cx="384900" cy="3849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Gray / Tech" preserve="0" showMasterPhAnim="0" showMasterSp="1" userDrawn="1">
  <p:cSld name="BLANK_3">
    <p:bg>
      <p:bgPr shadeToTitle="0">
        <a:solidFill>
          <a:srgbClr val="F4F4F4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38227058" name="Google Shape;60;p9"/>
          <p:cNvPicPr/>
          <p:nvPr/>
        </p:nvPicPr>
        <p:blipFill rotWithShape="1">
          <a:blip r:embed="rId2">
            <a:alphaModFix/>
          </a:blip>
          <a:stretch/>
        </p:blipFill>
        <p:spPr bwMode="auto">
          <a:xfrm>
            <a:off x="152400" y="0"/>
            <a:ext cx="8839199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6306909" name="Google Shape;61;p9"/>
          <p:cNvPicPr/>
          <p:nvPr/>
        </p:nvPicPr>
        <p:blipFill rotWithShape="1">
          <a:blip r:embed="rId3">
            <a:alphaModFix/>
          </a:blip>
          <a:stretch/>
        </p:blipFill>
        <p:spPr bwMode="auto">
          <a:xfrm>
            <a:off x="8046554" y="246475"/>
            <a:ext cx="776246" cy="315675"/>
          </a:xfrm>
          <a:prstGeom prst="rect">
            <a:avLst/>
          </a:prstGeom>
          <a:noFill/>
          <a:ln>
            <a:noFill/>
          </a:ln>
        </p:spPr>
      </p:pic>
      <p:sp>
        <p:nvSpPr>
          <p:cNvPr id="902141880" name="Google Shape;62;p9"/>
          <p:cNvSpPr txBox="1"/>
          <p:nvPr/>
        </p:nvSpPr>
        <p:spPr bwMode="auto">
          <a:xfrm>
            <a:off x="225100" y="155020"/>
            <a:ext cx="54906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3000" b="1">
                <a:solidFill>
                  <a:srgbClr val="1A2028"/>
                </a:solidFill>
                <a:latin typeface="Montserrat Alternates"/>
                <a:ea typeface="Montserrat Alternates"/>
                <a:cs typeface="Montserrat Alternates"/>
              </a:rPr>
              <a:t>Языки и технологии</a:t>
            </a:r>
            <a:endParaRPr sz="3000" b="1">
              <a:solidFill>
                <a:srgbClr val="1A2028"/>
              </a:solidFill>
              <a:latin typeface="Montserrat Alternates"/>
              <a:ea typeface="Montserrat Alternates"/>
              <a:cs typeface="Montserrat Alternates"/>
            </a:endParaRPr>
          </a:p>
        </p:txBody>
      </p:sp>
      <p:sp>
        <p:nvSpPr>
          <p:cNvPr id="1202442531" name="Google Shape;63;p9"/>
          <p:cNvSpPr txBox="1"/>
          <p:nvPr/>
        </p:nvSpPr>
        <p:spPr bwMode="auto">
          <a:xfrm>
            <a:off x="230524" y="728625"/>
            <a:ext cx="85254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1100">
                <a:solidFill>
                  <a:srgbClr val="1A2028"/>
                </a:solidFill>
              </a:rPr>
              <a:t>Используем в разработке любой нужный язык программирования или фреймворк.</a:t>
            </a:r>
            <a:endParaRPr sz="1100">
              <a:solidFill>
                <a:srgbClr val="1A2028"/>
              </a:solidFill>
            </a:endParaRPr>
          </a:p>
        </p:txBody>
      </p:sp>
      <p:sp>
        <p:nvSpPr>
          <p:cNvPr id="292518273" name="Google Shape;64;p9"/>
          <p:cNvSpPr txBox="1"/>
          <p:nvPr/>
        </p:nvSpPr>
        <p:spPr bwMode="auto">
          <a:xfrm>
            <a:off x="514519" y="2225274"/>
            <a:ext cx="11556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1200" b="1">
                <a:solidFill>
                  <a:schemeClr val="dk1"/>
                </a:solidFill>
              </a:rPr>
              <a:t>C++</a:t>
            </a:r>
            <a:endParaRPr sz="1200" b="1">
              <a:solidFill>
                <a:schemeClr val="dk1"/>
              </a:solidFill>
            </a:endParaRPr>
          </a:p>
        </p:txBody>
      </p:sp>
      <p:sp>
        <p:nvSpPr>
          <p:cNvPr id="1991290216" name="Google Shape;65;p9"/>
          <p:cNvSpPr txBox="1"/>
          <p:nvPr/>
        </p:nvSpPr>
        <p:spPr bwMode="auto">
          <a:xfrm>
            <a:off x="2035038" y="2225274"/>
            <a:ext cx="14805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1200" b="1">
                <a:solidFill>
                  <a:schemeClr val="dk1"/>
                </a:solidFill>
              </a:rPr>
              <a:t>Python</a:t>
            </a:r>
            <a:endParaRPr sz="1200" b="1">
              <a:solidFill>
                <a:schemeClr val="dk1"/>
              </a:solidFill>
            </a:endParaRPr>
          </a:p>
        </p:txBody>
      </p:sp>
      <p:sp>
        <p:nvSpPr>
          <p:cNvPr id="1036738167" name="Google Shape;66;p9"/>
          <p:cNvSpPr txBox="1"/>
          <p:nvPr/>
        </p:nvSpPr>
        <p:spPr bwMode="auto">
          <a:xfrm>
            <a:off x="3880450" y="2225274"/>
            <a:ext cx="11556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1200" b="1">
                <a:solidFill>
                  <a:schemeClr val="dk1"/>
                </a:solidFill>
              </a:rPr>
              <a:t>Java</a:t>
            </a:r>
            <a:endParaRPr sz="1200" b="1">
              <a:solidFill>
                <a:schemeClr val="dk1"/>
              </a:solidFill>
            </a:endParaRPr>
          </a:p>
        </p:txBody>
      </p:sp>
      <p:sp>
        <p:nvSpPr>
          <p:cNvPr id="1005689827" name="Google Shape;67;p9"/>
          <p:cNvSpPr txBox="1"/>
          <p:nvPr/>
        </p:nvSpPr>
        <p:spPr bwMode="auto">
          <a:xfrm>
            <a:off x="5414102" y="2225274"/>
            <a:ext cx="14805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1200" b="1">
                <a:solidFill>
                  <a:schemeClr val="dk1"/>
                </a:solidFill>
              </a:rPr>
              <a:t>JavaScript</a:t>
            </a:r>
            <a:endParaRPr sz="1200" b="1">
              <a:solidFill>
                <a:schemeClr val="dk1"/>
              </a:solidFill>
            </a:endParaRPr>
          </a:p>
        </p:txBody>
      </p:sp>
      <p:sp>
        <p:nvSpPr>
          <p:cNvPr id="1097798228" name="Google Shape;68;p9"/>
          <p:cNvSpPr txBox="1"/>
          <p:nvPr/>
        </p:nvSpPr>
        <p:spPr bwMode="auto">
          <a:xfrm>
            <a:off x="7148975" y="2225274"/>
            <a:ext cx="14805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1200" b="1">
                <a:solidFill>
                  <a:schemeClr val="dk1"/>
                </a:solidFill>
              </a:rPr>
              <a:t>PHP</a:t>
            </a:r>
            <a:endParaRPr sz="1200" b="1">
              <a:solidFill>
                <a:schemeClr val="dk1"/>
              </a:solidFill>
            </a:endParaRPr>
          </a:p>
        </p:txBody>
      </p:sp>
      <p:sp>
        <p:nvSpPr>
          <p:cNvPr id="1499491735" name="Google Shape;69;p9"/>
          <p:cNvSpPr txBox="1"/>
          <p:nvPr/>
        </p:nvSpPr>
        <p:spPr bwMode="auto">
          <a:xfrm>
            <a:off x="514519" y="3593574"/>
            <a:ext cx="11556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1200" b="1">
                <a:solidFill>
                  <a:schemeClr val="dk1"/>
                </a:solidFill>
              </a:rPr>
              <a:t>Oracle</a:t>
            </a:r>
            <a:endParaRPr sz="1200" b="1">
              <a:solidFill>
                <a:schemeClr val="dk1"/>
              </a:solidFill>
            </a:endParaRPr>
          </a:p>
        </p:txBody>
      </p:sp>
      <p:sp>
        <p:nvSpPr>
          <p:cNvPr id="1244136036" name="Google Shape;70;p9"/>
          <p:cNvSpPr txBox="1"/>
          <p:nvPr/>
        </p:nvSpPr>
        <p:spPr bwMode="auto">
          <a:xfrm>
            <a:off x="2035038" y="3593574"/>
            <a:ext cx="14805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1200" b="1">
                <a:solidFill>
                  <a:schemeClr val="dk1"/>
                </a:solidFill>
              </a:rPr>
              <a:t>1C-Bitrix</a:t>
            </a:r>
            <a:endParaRPr sz="1200" b="1">
              <a:solidFill>
                <a:schemeClr val="dk1"/>
              </a:solidFill>
            </a:endParaRPr>
          </a:p>
        </p:txBody>
      </p:sp>
      <p:sp>
        <p:nvSpPr>
          <p:cNvPr id="986642231" name="Google Shape;71;p9"/>
          <p:cNvSpPr txBox="1"/>
          <p:nvPr/>
        </p:nvSpPr>
        <p:spPr bwMode="auto">
          <a:xfrm>
            <a:off x="3775300" y="3593574"/>
            <a:ext cx="13659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1200" b="1">
                <a:solidFill>
                  <a:schemeClr val="dk1"/>
                </a:solidFill>
              </a:rPr>
              <a:t>HTML5 / CSS3</a:t>
            </a:r>
            <a:endParaRPr sz="1200" b="1">
              <a:solidFill>
                <a:schemeClr val="dk1"/>
              </a:solidFill>
            </a:endParaRPr>
          </a:p>
        </p:txBody>
      </p:sp>
      <p:sp>
        <p:nvSpPr>
          <p:cNvPr id="337908068" name="Google Shape;72;p9"/>
          <p:cNvSpPr txBox="1"/>
          <p:nvPr/>
        </p:nvSpPr>
        <p:spPr bwMode="auto">
          <a:xfrm>
            <a:off x="5414102" y="3593574"/>
            <a:ext cx="14805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1200" b="1">
                <a:solidFill>
                  <a:schemeClr val="dk1"/>
                </a:solidFill>
              </a:rPr>
              <a:t>JS React</a:t>
            </a:r>
            <a:endParaRPr sz="1200" b="1">
              <a:solidFill>
                <a:schemeClr val="dk1"/>
              </a:solidFill>
            </a:endParaRPr>
          </a:p>
        </p:txBody>
      </p:sp>
      <p:sp>
        <p:nvSpPr>
          <p:cNvPr id="1948590762" name="Google Shape;73;p9"/>
          <p:cNvSpPr txBox="1"/>
          <p:nvPr/>
        </p:nvSpPr>
        <p:spPr bwMode="auto">
          <a:xfrm>
            <a:off x="7148975" y="3593574"/>
            <a:ext cx="14805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1200" b="1">
                <a:solidFill>
                  <a:schemeClr val="dk1"/>
                </a:solidFill>
              </a:rPr>
              <a:t>Golang/Go</a:t>
            </a:r>
            <a:endParaRPr sz="1200" b="1">
              <a:solidFill>
                <a:schemeClr val="dk1"/>
              </a:solidFill>
            </a:endParaRPr>
          </a:p>
        </p:txBody>
      </p:sp>
      <p:grpSp>
        <p:nvGrpSpPr>
          <p:cNvPr id="789298501" name="Google Shape;74;p9"/>
          <p:cNvGrpSpPr/>
          <p:nvPr/>
        </p:nvGrpSpPr>
        <p:grpSpPr bwMode="auto">
          <a:xfrm>
            <a:off x="-15275" y="4384125"/>
            <a:ext cx="9159300" cy="807600"/>
            <a:chOff x="-15275" y="4384125"/>
            <a:chExt cx="9159300" cy="807600"/>
          </a:xfrm>
        </p:grpSpPr>
        <p:sp>
          <p:nvSpPr>
            <p:cNvPr id="75" name="Google Shape;75;p9"/>
            <p:cNvSpPr/>
            <p:nvPr/>
          </p:nvSpPr>
          <p:spPr bwMode="auto">
            <a:xfrm>
              <a:off x="-15275" y="4384125"/>
              <a:ext cx="9159300" cy="807600"/>
            </a:xfrm>
            <a:prstGeom prst="rect">
              <a:avLst/>
            </a:prstGeom>
            <a:solidFill>
              <a:srgbClr val="1A202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76" name="Google Shape;76;p9"/>
            <p:cNvSpPr txBox="1"/>
            <p:nvPr/>
          </p:nvSpPr>
          <p:spPr bwMode="auto">
            <a:xfrm>
              <a:off x="766500" y="4510875"/>
              <a:ext cx="7675200" cy="523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r>
                <a:rPr lang="ru" sz="1100">
                  <a:solidFill>
                    <a:schemeClr val="lt1"/>
                  </a:solidFill>
                </a:rPr>
                <a:t>Наши разработчики соблюдают стандарты написания кода, что позволяет гарантировать </a:t>
              </a:r>
              <a:r>
                <a:rPr lang="ru" sz="1100" b="1">
                  <a:solidFill>
                    <a:srgbClr val="0AB8B6"/>
                  </a:solidFill>
                </a:rPr>
                <a:t>читаемость</a:t>
              </a:r>
              <a:r>
                <a:rPr lang="ru" sz="1100">
                  <a:solidFill>
                    <a:schemeClr val="lt1"/>
                  </a:solidFill>
                </a:rPr>
                <a:t>,</a:t>
              </a:r>
              <a:r>
                <a:rPr lang="ru" sz="1100">
                  <a:solidFill>
                    <a:srgbClr val="1A2028"/>
                  </a:solidFill>
                </a:rPr>
                <a:t> </a:t>
              </a:r>
              <a:r>
                <a:rPr lang="ru" sz="1100" b="1">
                  <a:solidFill>
                    <a:srgbClr val="0AB8B6"/>
                  </a:solidFill>
                </a:rPr>
                <a:t>корректность работы</a:t>
              </a:r>
              <a:r>
                <a:rPr lang="ru" sz="1100">
                  <a:solidFill>
                    <a:schemeClr val="lt1"/>
                  </a:solidFill>
                </a:rPr>
                <a:t> проекта и </a:t>
              </a:r>
              <a:r>
                <a:rPr lang="ru" sz="1100" b="1">
                  <a:solidFill>
                    <a:srgbClr val="0AB8B6"/>
                  </a:solidFill>
                </a:rPr>
                <a:t>легкость передачи</a:t>
              </a:r>
              <a:r>
                <a:rPr lang="ru" sz="1100">
                  <a:solidFill>
                    <a:schemeClr val="lt1"/>
                  </a:solidFill>
                </a:rPr>
                <a:t> кода другим разработчикам.</a:t>
              </a:r>
              <a:endParaRPr sz="1100">
                <a:solidFill>
                  <a:schemeClr val="lt1"/>
                </a:solidFill>
              </a:endParaRPr>
            </a:p>
          </p:txBody>
        </p:sp>
        <p:pic>
          <p:nvPicPr>
            <p:cNvPr id="77" name="Google Shape;77;p9"/>
            <p:cNvPicPr/>
            <p:nvPr/>
          </p:nvPicPr>
          <p:blipFill rotWithShape="1">
            <a:blip r:embed="rId4">
              <a:alphaModFix/>
            </a:blip>
            <a:stretch/>
          </p:blipFill>
          <p:spPr bwMode="auto">
            <a:xfrm>
              <a:off x="334600" y="4610922"/>
              <a:ext cx="354000" cy="35400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130202616" name="Google Shape;78;p9"/>
          <p:cNvPicPr/>
          <p:nvPr/>
        </p:nvPicPr>
        <p:blipFill rotWithShape="1">
          <a:blip r:embed="rId5">
            <a:alphaModFix/>
          </a:blip>
          <a:stretch/>
        </p:blipFill>
        <p:spPr bwMode="auto">
          <a:xfrm>
            <a:off x="642319" y="1349760"/>
            <a:ext cx="900000" cy="90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0526413" name="Google Shape;79;p9"/>
          <p:cNvPicPr/>
          <p:nvPr/>
        </p:nvPicPr>
        <p:blipFill rotWithShape="1">
          <a:blip r:embed="rId6">
            <a:alphaModFix/>
          </a:blip>
          <a:stretch/>
        </p:blipFill>
        <p:spPr bwMode="auto">
          <a:xfrm>
            <a:off x="2325288" y="1349760"/>
            <a:ext cx="900000" cy="90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5249504" name="Google Shape;80;p9"/>
          <p:cNvPicPr/>
          <p:nvPr/>
        </p:nvPicPr>
        <p:blipFill rotWithShape="1">
          <a:blip r:embed="rId7">
            <a:alphaModFix/>
          </a:blip>
          <a:stretch/>
        </p:blipFill>
        <p:spPr bwMode="auto">
          <a:xfrm>
            <a:off x="7439225" y="1349760"/>
            <a:ext cx="900000" cy="90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33750109" name="Google Shape;81;p9"/>
          <p:cNvPicPr/>
          <p:nvPr/>
        </p:nvPicPr>
        <p:blipFill rotWithShape="1">
          <a:blip r:embed="rId8">
            <a:alphaModFix/>
          </a:blip>
          <a:stretch/>
        </p:blipFill>
        <p:spPr bwMode="auto">
          <a:xfrm>
            <a:off x="5704352" y="2706313"/>
            <a:ext cx="900000" cy="90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6280075" name="Google Shape;82;p9"/>
          <p:cNvPicPr/>
          <p:nvPr/>
        </p:nvPicPr>
        <p:blipFill rotWithShape="1">
          <a:blip r:embed="rId9">
            <a:alphaModFix/>
          </a:blip>
          <a:stretch/>
        </p:blipFill>
        <p:spPr bwMode="auto">
          <a:xfrm>
            <a:off x="642319" y="2706313"/>
            <a:ext cx="900000" cy="90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41082324" name="Google Shape;83;p9"/>
          <p:cNvPicPr/>
          <p:nvPr/>
        </p:nvPicPr>
        <p:blipFill rotWithShape="1">
          <a:blip r:embed="rId10">
            <a:alphaModFix/>
          </a:blip>
          <a:stretch/>
        </p:blipFill>
        <p:spPr bwMode="auto">
          <a:xfrm>
            <a:off x="7439225" y="2708204"/>
            <a:ext cx="900000" cy="896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91859717" name="Google Shape;84;p9"/>
          <p:cNvPicPr/>
          <p:nvPr/>
        </p:nvPicPr>
        <p:blipFill rotWithShape="1">
          <a:blip r:embed="rId11">
            <a:alphaModFix/>
          </a:blip>
          <a:stretch/>
        </p:blipFill>
        <p:spPr bwMode="auto">
          <a:xfrm>
            <a:off x="5704352" y="1349760"/>
            <a:ext cx="900000" cy="90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85185917" name="Google Shape;85;p9"/>
          <p:cNvPicPr/>
          <p:nvPr/>
        </p:nvPicPr>
        <p:blipFill rotWithShape="1">
          <a:blip r:embed="rId12">
            <a:alphaModFix/>
          </a:blip>
          <a:stretch/>
        </p:blipFill>
        <p:spPr bwMode="auto">
          <a:xfrm>
            <a:off x="4008250" y="1349760"/>
            <a:ext cx="900000" cy="90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95952504" name="Google Shape;86;p9"/>
          <p:cNvPicPr/>
          <p:nvPr/>
        </p:nvPicPr>
        <p:blipFill rotWithShape="1">
          <a:blip r:embed="rId13">
            <a:alphaModFix/>
          </a:blip>
          <a:stretch/>
        </p:blipFill>
        <p:spPr bwMode="auto">
          <a:xfrm>
            <a:off x="4008250" y="2706313"/>
            <a:ext cx="900000" cy="90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1741064" name="Google Shape;87;p9"/>
          <p:cNvPicPr/>
          <p:nvPr/>
        </p:nvPicPr>
        <p:blipFill rotWithShape="1">
          <a:blip r:embed="rId14">
            <a:alphaModFix/>
          </a:blip>
          <a:stretch/>
        </p:blipFill>
        <p:spPr bwMode="auto">
          <a:xfrm>
            <a:off x="2325275" y="2706313"/>
            <a:ext cx="900000" cy="90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Gray / About" preserve="0" showMasterPhAnim="0" showMasterSp="1" userDrawn="1">
  <p:cSld name="BLANK_2">
    <p:bg>
      <p:bgPr shadeToTitle="0">
        <a:solidFill>
          <a:srgbClr val="F4F4F4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10628199" name="Google Shape;89;p10"/>
          <p:cNvPicPr/>
          <p:nvPr/>
        </p:nvPicPr>
        <p:blipFill rotWithShape="1">
          <a:blip r:embed="rId2">
            <a:alphaModFix/>
          </a:blip>
          <a:stretch/>
        </p:blipFill>
        <p:spPr bwMode="auto">
          <a:xfrm>
            <a:off x="152400" y="0"/>
            <a:ext cx="8839199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59557353" name="Google Shape;90;p10"/>
          <p:cNvPicPr/>
          <p:nvPr/>
        </p:nvPicPr>
        <p:blipFill rotWithShape="1">
          <a:blip r:embed="rId3">
            <a:alphaModFix/>
          </a:blip>
          <a:stretch/>
        </p:blipFill>
        <p:spPr bwMode="auto">
          <a:xfrm>
            <a:off x="8046554" y="246475"/>
            <a:ext cx="776246" cy="315675"/>
          </a:xfrm>
          <a:prstGeom prst="rect">
            <a:avLst/>
          </a:prstGeom>
          <a:noFill/>
          <a:ln>
            <a:noFill/>
          </a:ln>
        </p:spPr>
      </p:pic>
      <p:sp>
        <p:nvSpPr>
          <p:cNvPr id="1989330451" name="Google Shape;91;p10"/>
          <p:cNvSpPr/>
          <p:nvPr/>
        </p:nvSpPr>
        <p:spPr bwMode="auto">
          <a:xfrm>
            <a:off x="6041990" y="800"/>
            <a:ext cx="3102000" cy="5143500"/>
          </a:xfrm>
          <a:prstGeom prst="rect">
            <a:avLst/>
          </a:prstGeom>
          <a:solidFill>
            <a:srgbClr val="1A202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pic>
        <p:nvPicPr>
          <p:cNvPr id="1667154685" name="Google Shape;92;p10"/>
          <p:cNvPicPr/>
          <p:nvPr/>
        </p:nvPicPr>
        <p:blipFill rotWithShape="1">
          <a:blip r:embed="rId4">
            <a:alphaModFix/>
          </a:blip>
          <a:srcRect l="57184" t="0" r="0" b="0"/>
          <a:stretch/>
        </p:blipFill>
        <p:spPr bwMode="auto">
          <a:xfrm flipH="1">
            <a:off x="7784550" y="1045613"/>
            <a:ext cx="1359450" cy="317517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3237957" name="Google Shape;93;p10"/>
          <p:cNvGrpSpPr/>
          <p:nvPr/>
        </p:nvGrpSpPr>
        <p:grpSpPr bwMode="auto">
          <a:xfrm>
            <a:off x="4052825" y="607275"/>
            <a:ext cx="5410709" cy="4051880"/>
            <a:chOff x="4052825" y="607275"/>
            <a:chExt cx="5410709" cy="4051880"/>
          </a:xfrm>
        </p:grpSpPr>
        <p:grpSp>
          <p:nvGrpSpPr>
            <p:cNvPr id="94" name="Google Shape;94;p10"/>
            <p:cNvGrpSpPr/>
            <p:nvPr/>
          </p:nvGrpSpPr>
          <p:grpSpPr bwMode="auto">
            <a:xfrm>
              <a:off x="7405833" y="1258375"/>
              <a:ext cx="2057700" cy="2906418"/>
              <a:chOff x="7405833" y="1258375"/>
              <a:chExt cx="2057700" cy="2906418"/>
            </a:xfrm>
          </p:grpSpPr>
          <p:sp>
            <p:nvSpPr>
              <p:cNvPr id="95" name="Google Shape;95;p10"/>
              <p:cNvSpPr txBox="1"/>
              <p:nvPr/>
            </p:nvSpPr>
            <p:spPr bwMode="auto">
              <a:xfrm>
                <a:off x="7405833" y="3392438"/>
                <a:ext cx="1957500" cy="615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r>
                  <a:rPr lang="ru" sz="2800" b="1">
                    <a:solidFill>
                      <a:schemeClr val="lt1"/>
                    </a:solidFill>
                  </a:rPr>
                  <a:t>9+ лет</a:t>
                </a:r>
                <a:endParaRPr sz="2800" b="1">
                  <a:solidFill>
                    <a:schemeClr val="lt1"/>
                  </a:solidFill>
                </a:endParaRPr>
              </a:p>
            </p:txBody>
          </p:sp>
          <p:sp>
            <p:nvSpPr>
              <p:cNvPr id="96" name="Google Shape;96;p10"/>
              <p:cNvSpPr txBox="1"/>
              <p:nvPr/>
            </p:nvSpPr>
            <p:spPr bwMode="auto">
              <a:xfrm>
                <a:off x="7405833" y="3810793"/>
                <a:ext cx="2057700" cy="35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r>
                  <a:rPr lang="ru" sz="1100">
                    <a:solidFill>
                      <a:schemeClr val="lt1"/>
                    </a:solidFill>
                  </a:rPr>
                  <a:t>разработки</a:t>
                </a:r>
                <a:endParaRPr sz="1100">
                  <a:solidFill>
                    <a:schemeClr val="lt1"/>
                  </a:solidFill>
                </a:endParaRPr>
              </a:p>
            </p:txBody>
          </p:sp>
          <p:sp>
            <p:nvSpPr>
              <p:cNvPr id="97" name="Google Shape;97;p10"/>
              <p:cNvSpPr txBox="1"/>
              <p:nvPr/>
            </p:nvSpPr>
            <p:spPr bwMode="auto">
              <a:xfrm>
                <a:off x="7405833" y="1258375"/>
                <a:ext cx="1497900" cy="615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r>
                  <a:rPr lang="ru" sz="2800" b="1">
                    <a:solidFill>
                      <a:schemeClr val="lt1"/>
                    </a:solidFill>
                  </a:rPr>
                  <a:t>250+</a:t>
                </a:r>
                <a:endParaRPr sz="2800" b="1">
                  <a:solidFill>
                    <a:schemeClr val="lt1"/>
                  </a:solidFill>
                </a:endParaRPr>
              </a:p>
            </p:txBody>
          </p:sp>
          <p:sp>
            <p:nvSpPr>
              <p:cNvPr id="98" name="Google Shape;98;p10"/>
              <p:cNvSpPr txBox="1"/>
              <p:nvPr/>
            </p:nvSpPr>
            <p:spPr bwMode="auto">
              <a:xfrm>
                <a:off x="7405833" y="1676731"/>
                <a:ext cx="1878900" cy="35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r>
                  <a:rPr lang="ru" sz="1100">
                    <a:solidFill>
                      <a:schemeClr val="lt1"/>
                    </a:solidFill>
                  </a:rPr>
                  <a:t>проектов</a:t>
                </a:r>
                <a:endParaRPr sz="1100">
                  <a:solidFill>
                    <a:schemeClr val="lt1"/>
                  </a:solidFill>
                </a:endParaRPr>
              </a:p>
            </p:txBody>
          </p:sp>
          <p:sp>
            <p:nvSpPr>
              <p:cNvPr id="99" name="Google Shape;99;p10"/>
              <p:cNvSpPr txBox="1"/>
              <p:nvPr/>
            </p:nvSpPr>
            <p:spPr bwMode="auto">
              <a:xfrm>
                <a:off x="7405833" y="2325401"/>
                <a:ext cx="1497900" cy="615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r>
                  <a:rPr lang="ru" sz="2800" b="1">
                    <a:solidFill>
                      <a:schemeClr val="lt1"/>
                    </a:solidFill>
                  </a:rPr>
                  <a:t>120+</a:t>
                </a:r>
                <a:endParaRPr sz="2800" b="1">
                  <a:solidFill>
                    <a:schemeClr val="lt1"/>
                  </a:solidFill>
                </a:endParaRPr>
              </a:p>
            </p:txBody>
          </p:sp>
          <p:sp>
            <p:nvSpPr>
              <p:cNvPr id="100" name="Google Shape;100;p10"/>
              <p:cNvSpPr txBox="1"/>
              <p:nvPr/>
            </p:nvSpPr>
            <p:spPr bwMode="auto">
              <a:xfrm>
                <a:off x="7405833" y="2743766"/>
                <a:ext cx="1497900" cy="35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r>
                  <a:rPr lang="ru" sz="1100">
                    <a:solidFill>
                      <a:schemeClr val="lt1"/>
                    </a:solidFill>
                  </a:rPr>
                  <a:t>сотрудников</a:t>
                </a:r>
                <a:endParaRPr sz="1100">
                  <a:solidFill>
                    <a:schemeClr val="lt1"/>
                  </a:solidFill>
                </a:endParaRPr>
              </a:p>
            </p:txBody>
          </p:sp>
        </p:grpSp>
        <p:pic>
          <p:nvPicPr>
            <p:cNvPr id="101" name="Google Shape;101;p10"/>
            <p:cNvPicPr/>
            <p:nvPr/>
          </p:nvPicPr>
          <p:blipFill rotWithShape="1">
            <a:blip r:embed="rId5">
              <a:alphaModFix/>
            </a:blip>
            <a:stretch/>
          </p:blipFill>
          <p:spPr bwMode="auto">
            <a:xfrm>
              <a:off x="4052825" y="607275"/>
              <a:ext cx="3353000" cy="405188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1973486969" name="Google Shape;102;p10"/>
          <p:cNvPicPr/>
          <p:nvPr/>
        </p:nvPicPr>
        <p:blipFill rotWithShape="1">
          <a:blip r:embed="rId6">
            <a:alphaModFix/>
          </a:blip>
          <a:srcRect l="0" t="0" r="0" b="0"/>
          <a:stretch/>
        </p:blipFill>
        <p:spPr bwMode="auto">
          <a:xfrm>
            <a:off x="8046554" y="246475"/>
            <a:ext cx="776246" cy="315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Black / Grid " preserve="0" showMasterPhAnim="0" showMasterSp="1" userDrawn="1">
  <p:cSld name="BLANK_1">
    <p:bg>
      <p:bgPr shadeToTitle="0">
        <a:solidFill>
          <a:srgbClr val="1A2028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17675419" name="Google Shape;104;p11"/>
          <p:cNvPicPr/>
          <p:nvPr/>
        </p:nvPicPr>
        <p:blipFill rotWithShape="1">
          <a:blip r:embed="rId2">
            <a:alphaModFix amt="6000"/>
          </a:blip>
          <a:stretch/>
        </p:blipFill>
        <p:spPr bwMode="auto">
          <a:xfrm>
            <a:off x="152400" y="0"/>
            <a:ext cx="8839199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Black " preserve="0" showMasterPhAnim="0" showMasterSp="1" userDrawn="1">
  <p:cSld name="BLANK_1_3">
    <p:bg>
      <p:bgPr shadeToTitle="0">
        <a:solidFill>
          <a:srgbClr val="1A2028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Black / Cover" preserve="0" showMasterPhAnim="0" showMasterSp="1" userDrawn="1">
  <p:cSld name="BLANK_1_2">
    <p:bg>
      <p:bgPr shadeToTitle="0">
        <a:solidFill>
          <a:srgbClr val="1A2028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18415272" name="Google Shape;107;p13"/>
          <p:cNvPicPr/>
          <p:nvPr/>
        </p:nvPicPr>
        <p:blipFill rotWithShape="1">
          <a:blip r:embed="rId2">
            <a:alphaModFix amt="6000"/>
          </a:blip>
          <a:stretch/>
        </p:blipFill>
        <p:spPr bwMode="auto">
          <a:xfrm>
            <a:off x="152400" y="0"/>
            <a:ext cx="8839199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353256" name="Google Shape;108;p13"/>
          <p:cNvPicPr/>
          <p:nvPr/>
        </p:nvPicPr>
        <p:blipFill rotWithShape="1">
          <a:blip r:embed="rId3">
            <a:alphaModFix/>
          </a:blip>
          <a:srcRect l="0" t="6608" r="25595" b="8233"/>
          <a:stretch/>
        </p:blipFill>
        <p:spPr bwMode="auto">
          <a:xfrm>
            <a:off x="3097000" y="0"/>
            <a:ext cx="6047001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374431685" name="Google Shape;109;p13"/>
          <p:cNvPicPr/>
          <p:nvPr/>
        </p:nvPicPr>
        <p:blipFill rotWithShape="1">
          <a:blip r:embed="rId4">
            <a:alphaModFix/>
          </a:blip>
          <a:stretch/>
        </p:blipFill>
        <p:spPr bwMode="auto">
          <a:xfrm>
            <a:off x="535925" y="628925"/>
            <a:ext cx="2081275" cy="846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Black / Grid + Logo" preserve="0" showMasterPhAnim="0" showMasterSp="1" userDrawn="1">
  <p:cSld name="BLANK_1_1">
    <p:bg>
      <p:bgPr shadeToTitle="0">
        <a:solidFill>
          <a:srgbClr val="1A2028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4507682" name="Google Shape;111;p14"/>
          <p:cNvPicPr/>
          <p:nvPr/>
        </p:nvPicPr>
        <p:blipFill rotWithShape="1">
          <a:blip r:embed="rId2">
            <a:alphaModFix amt="6000"/>
          </a:blip>
          <a:stretch/>
        </p:blipFill>
        <p:spPr bwMode="auto">
          <a:xfrm>
            <a:off x="152400" y="0"/>
            <a:ext cx="8839199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0997096" name="Google Shape;112;p14"/>
          <p:cNvPicPr/>
          <p:nvPr/>
        </p:nvPicPr>
        <p:blipFill rotWithShape="1">
          <a:blip r:embed="rId3">
            <a:alphaModFix/>
          </a:blip>
          <a:srcRect l="0" t="0" r="0" b="0"/>
          <a:stretch/>
        </p:blipFill>
        <p:spPr bwMode="auto">
          <a:xfrm>
            <a:off x="8046554" y="246475"/>
            <a:ext cx="776246" cy="315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Black / Chapter" preserve="0" showMasterPhAnim="0" showMasterSp="1" userDrawn="1">
  <p:cSld name="BLANK_1_1_2">
    <p:bg>
      <p:bgPr shadeToTitle="0">
        <a:solidFill>
          <a:srgbClr val="1A2028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05007464" name="Google Shape;114;p15"/>
          <p:cNvPicPr/>
          <p:nvPr/>
        </p:nvPicPr>
        <p:blipFill rotWithShape="1">
          <a:blip r:embed="rId2">
            <a:alphaModFix amt="6000"/>
          </a:blip>
          <a:stretch/>
        </p:blipFill>
        <p:spPr bwMode="auto">
          <a:xfrm>
            <a:off x="152400" y="0"/>
            <a:ext cx="8839199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0700136" name="Google Shape;115;p15"/>
          <p:cNvPicPr/>
          <p:nvPr/>
        </p:nvPicPr>
        <p:blipFill rotWithShape="1">
          <a:blip r:embed="rId3">
            <a:alphaModFix/>
          </a:blip>
          <a:srcRect l="0" t="0" r="0" b="0"/>
          <a:stretch/>
        </p:blipFill>
        <p:spPr bwMode="auto">
          <a:xfrm>
            <a:off x="8046554" y="246475"/>
            <a:ext cx="776246" cy="315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95373008" name="Google Shape;116;p15"/>
          <p:cNvPicPr/>
          <p:nvPr/>
        </p:nvPicPr>
        <p:blipFill rotWithShape="1">
          <a:blip r:embed="rId4">
            <a:alphaModFix/>
          </a:blip>
          <a:srcRect l="57184" t="0" r="0" b="0"/>
          <a:stretch/>
        </p:blipFill>
        <p:spPr bwMode="auto">
          <a:xfrm>
            <a:off x="-5" y="177649"/>
            <a:ext cx="2050050" cy="47881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Black / Services" preserve="0" showMasterPhAnim="0" showMasterSp="1" userDrawn="1">
  <p:cSld name="BLANK_1_1_1">
    <p:bg>
      <p:bgPr shadeToTitle="0">
        <a:solidFill>
          <a:srgbClr val="1A2028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63551759" name="Google Shape;118;p16"/>
          <p:cNvPicPr/>
          <p:nvPr/>
        </p:nvPicPr>
        <p:blipFill rotWithShape="1">
          <a:blip r:embed="rId2">
            <a:alphaModFix amt="6000"/>
          </a:blip>
          <a:stretch/>
        </p:blipFill>
        <p:spPr bwMode="auto">
          <a:xfrm>
            <a:off x="152400" y="0"/>
            <a:ext cx="8839199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3422725" name="Google Shape;119;p16"/>
          <p:cNvPicPr/>
          <p:nvPr/>
        </p:nvPicPr>
        <p:blipFill rotWithShape="1">
          <a:blip r:embed="rId3">
            <a:alphaModFix/>
          </a:blip>
          <a:srcRect l="0" t="0" r="0" b="0"/>
          <a:stretch/>
        </p:blipFill>
        <p:spPr bwMode="auto">
          <a:xfrm>
            <a:off x="8046554" y="246475"/>
            <a:ext cx="776246" cy="31567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08642696" name="Google Shape;120;p16"/>
          <p:cNvGrpSpPr/>
          <p:nvPr/>
        </p:nvGrpSpPr>
        <p:grpSpPr bwMode="auto">
          <a:xfrm>
            <a:off x="195075" y="827145"/>
            <a:ext cx="8753850" cy="3762261"/>
            <a:chOff x="195075" y="827145"/>
            <a:chExt cx="8753850" cy="3762261"/>
          </a:xfrm>
        </p:grpSpPr>
        <p:pic>
          <p:nvPicPr>
            <p:cNvPr id="121" name="Google Shape;121;p16"/>
            <p:cNvPicPr/>
            <p:nvPr/>
          </p:nvPicPr>
          <p:blipFill rotWithShape="1">
            <a:blip r:embed="rId4">
              <a:alphaModFix/>
            </a:blip>
            <a:srcRect l="0" t="0" r="0" b="0"/>
            <a:stretch/>
          </p:blipFill>
          <p:spPr bwMode="auto">
            <a:xfrm>
              <a:off x="6471863" y="1926842"/>
              <a:ext cx="2400877" cy="240087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2" name="Google Shape;122;p16"/>
            <p:cNvPicPr/>
            <p:nvPr/>
          </p:nvPicPr>
          <p:blipFill rotWithShape="1">
            <a:blip r:embed="rId4">
              <a:alphaModFix/>
            </a:blip>
            <a:srcRect l="0" t="0" r="0" b="0"/>
            <a:stretch/>
          </p:blipFill>
          <p:spPr bwMode="auto">
            <a:xfrm>
              <a:off x="315675" y="1926842"/>
              <a:ext cx="2400878" cy="240087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3" name="Google Shape;123;p16"/>
            <p:cNvPicPr/>
            <p:nvPr/>
          </p:nvPicPr>
          <p:blipFill rotWithShape="1">
            <a:blip r:embed="rId5">
              <a:alphaModFix/>
            </a:blip>
            <a:srcRect l="0" t="0" r="0" b="0"/>
            <a:stretch/>
          </p:blipFill>
          <p:spPr bwMode="auto">
            <a:xfrm>
              <a:off x="3244600" y="1926853"/>
              <a:ext cx="2400878" cy="240085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4" name="Google Shape;124;p16"/>
            <p:cNvSpPr txBox="1"/>
            <p:nvPr/>
          </p:nvSpPr>
          <p:spPr bwMode="auto">
            <a:xfrm>
              <a:off x="195075" y="3321906"/>
              <a:ext cx="2686500" cy="1267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r>
                <a:rPr lang="ru" b="1">
                  <a:solidFill>
                    <a:schemeClr val="lt1"/>
                  </a:solidFill>
                  <a:latin typeface="Montserrat Alternates"/>
                  <a:ea typeface="Montserrat Alternates"/>
                  <a:cs typeface="Montserrat Alternates"/>
                </a:rPr>
                <a:t>Аутсорсинг</a:t>
              </a:r>
              <a:endParaRPr b="1">
                <a:solidFill>
                  <a:schemeClr val="lt1"/>
                </a:solidFill>
                <a:latin typeface="Montserrat Alternates"/>
                <a:ea typeface="Montserrat Alternates"/>
                <a:cs typeface="Montserrat Alternates"/>
              </a:endParaRPr>
            </a:p>
          </p:txBody>
        </p:sp>
        <p:sp>
          <p:nvSpPr>
            <p:cNvPr id="125" name="Google Shape;125;p16"/>
            <p:cNvSpPr txBox="1"/>
            <p:nvPr/>
          </p:nvSpPr>
          <p:spPr bwMode="auto">
            <a:xfrm>
              <a:off x="3122564" y="3321900"/>
              <a:ext cx="2943300" cy="1267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r>
                <a:rPr lang="ru" b="1">
                  <a:solidFill>
                    <a:schemeClr val="lt1"/>
                  </a:solidFill>
                  <a:latin typeface="Montserrat Alternates"/>
                  <a:ea typeface="Montserrat Alternates"/>
                  <a:cs typeface="Montserrat Alternates"/>
                </a:rPr>
                <a:t>Проектное управление</a:t>
              </a:r>
              <a:endParaRPr b="1">
                <a:solidFill>
                  <a:schemeClr val="lt1"/>
                </a:solidFill>
                <a:latin typeface="Montserrat Alternates"/>
                <a:ea typeface="Montserrat Alternates"/>
                <a:cs typeface="Montserrat Alternates"/>
              </a:endParaRPr>
            </a:p>
          </p:txBody>
        </p:sp>
        <p:sp>
          <p:nvSpPr>
            <p:cNvPr id="126" name="Google Shape;126;p16"/>
            <p:cNvSpPr txBox="1"/>
            <p:nvPr/>
          </p:nvSpPr>
          <p:spPr bwMode="auto">
            <a:xfrm>
              <a:off x="6262425" y="3321906"/>
              <a:ext cx="2686500" cy="1267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r>
                <a:rPr lang="ru" b="1">
                  <a:solidFill>
                    <a:schemeClr val="lt1"/>
                  </a:solidFill>
                  <a:latin typeface="Montserrat Alternates"/>
                  <a:ea typeface="Montserrat Alternates"/>
                  <a:cs typeface="Montserrat Alternates"/>
                </a:rPr>
                <a:t>Аутстафф</a:t>
              </a:r>
              <a:endParaRPr b="1">
                <a:solidFill>
                  <a:schemeClr val="lt1"/>
                </a:solidFill>
                <a:latin typeface="Montserrat Alternates"/>
                <a:ea typeface="Montserrat Alternates"/>
                <a:cs typeface="Montserrat Alternates"/>
              </a:endParaRPr>
            </a:p>
          </p:txBody>
        </p:sp>
        <p:sp>
          <p:nvSpPr>
            <p:cNvPr id="127" name="Google Shape;127;p16"/>
            <p:cNvSpPr txBox="1"/>
            <p:nvPr/>
          </p:nvSpPr>
          <p:spPr bwMode="auto">
            <a:xfrm>
              <a:off x="1826687" y="827145"/>
              <a:ext cx="5490600" cy="615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r>
                <a:rPr lang="ru" sz="3400" b="1">
                  <a:solidFill>
                    <a:schemeClr val="lt1"/>
                  </a:solidFill>
                  <a:latin typeface="Montserrat Alternates"/>
                  <a:ea typeface="Montserrat Alternates"/>
                  <a:cs typeface="Montserrat Alternates"/>
                </a:rPr>
                <a:t>Мы предлагаем</a:t>
              </a:r>
              <a:endParaRPr sz="3400" b="1">
                <a:solidFill>
                  <a:schemeClr val="lt1"/>
                </a:solidFill>
                <a:latin typeface="Montserrat Alternates"/>
                <a:ea typeface="Montserrat Alternates"/>
                <a:cs typeface="Montserrat Alternates"/>
              </a:endParaRPr>
            </a:p>
          </p:txBody>
        </p:sp>
        <p:pic>
          <p:nvPicPr>
            <p:cNvPr id="128" name="Google Shape;128;p16"/>
            <p:cNvPicPr/>
            <p:nvPr/>
          </p:nvPicPr>
          <p:blipFill rotWithShape="1">
            <a:blip r:embed="rId6">
              <a:alphaModFix/>
            </a:blip>
            <a:srcRect l="29" t="0" r="19" b="0"/>
            <a:stretch/>
          </p:blipFill>
          <p:spPr bwMode="auto">
            <a:xfrm>
              <a:off x="636262" y="1838267"/>
              <a:ext cx="1804145" cy="180506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9" name="Google Shape;129;p16"/>
            <p:cNvPicPr/>
            <p:nvPr/>
          </p:nvPicPr>
          <p:blipFill rotWithShape="1">
            <a:blip r:embed="rId7">
              <a:alphaModFix/>
            </a:blip>
            <a:srcRect l="19" t="0" r="28" b="0"/>
            <a:stretch/>
          </p:blipFill>
          <p:spPr bwMode="auto">
            <a:xfrm>
              <a:off x="6636947" y="1771604"/>
              <a:ext cx="1937465" cy="19383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0" name="Google Shape;130;p16"/>
            <p:cNvPicPr/>
            <p:nvPr/>
          </p:nvPicPr>
          <p:blipFill rotWithShape="1">
            <a:blip r:embed="rId8">
              <a:alphaModFix/>
            </a:blip>
            <a:srcRect l="19" t="0" r="28" b="0"/>
            <a:stretch/>
          </p:blipFill>
          <p:spPr bwMode="auto">
            <a:xfrm>
              <a:off x="3669936" y="1838297"/>
              <a:ext cx="1804145" cy="1805006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simple-light-2">
    <p:bg>
      <p:bgPr shadeToTitle="0">
        <a:solidFill>
          <a:schemeClr val="l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</p:sldLayoutIdLst>
  <p:hf dt="0" ftr="0" hdr="0" sldNum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.png"/><Relationship Id="rId4" Type="http://schemas.openxmlformats.org/officeDocument/2006/relationships/image" Target="../media/image31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git-scm.com/download/win" TargetMode="External"/><Relationship Id="rId4" Type="http://schemas.openxmlformats.org/officeDocument/2006/relationships/image" Target="../media/image32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3.png"/><Relationship Id="rId4" Type="http://schemas.openxmlformats.org/officeDocument/2006/relationships/image" Target="../media/image34.jp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png"/><Relationship Id="rId4" Type="http://schemas.openxmlformats.org/officeDocument/2006/relationships/image" Target="../media/image35.jp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3.png"/><Relationship Id="rId4" Type="http://schemas.openxmlformats.org/officeDocument/2006/relationships/image" Target="../media/image36.jp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Relationship Id="rId4" Type="http://schemas.openxmlformats.org/officeDocument/2006/relationships/image" Target="../media/image37.jp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8.jpg"/><Relationship Id="rId4" Type="http://schemas.openxmlformats.org/officeDocument/2006/relationships/image" Target="../media/image33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hyperlink" Target="https://docs.github.com/ru/authentication/connecting-to-github-with-ssh/generating-a-new-ssh-key-and-adding-it-to-the-ssh-agent" TargetMode="External"/><Relationship Id="rId5" Type="http://schemas.openxmlformats.org/officeDocument/2006/relationships/image" Target="../media/image39.jpg"/><Relationship Id="rId6" Type="http://schemas.openxmlformats.org/officeDocument/2006/relationships/image" Target="../media/image40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1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Relationship Id="rId4" Type="http://schemas.openxmlformats.org/officeDocument/2006/relationships/image" Target="../media/image42.jp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3.png"/><Relationship Id="rId4" Type="http://schemas.openxmlformats.org/officeDocument/2006/relationships/image" Target="../media/image43.jp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4.jpg"/><Relationship Id="rId4" Type="http://schemas.openxmlformats.org/officeDocument/2006/relationships/image" Target="../media/image45.jpg"/><Relationship Id="rId5" Type="http://schemas.openxmlformats.org/officeDocument/2006/relationships/image" Target="../media/image7.pn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Relationship Id="rId4" Type="http://schemas.openxmlformats.org/officeDocument/2006/relationships/image" Target="../media/image46.png"/><Relationship Id="rId5" Type="http://schemas.openxmlformats.org/officeDocument/2006/relationships/image" Target="../media/image47.pn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Relationship Id="rId4" Type="http://schemas.openxmlformats.org/officeDocument/2006/relationships/image" Target="../media/image48.png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3.png"/><Relationship Id="rId4" Type="http://schemas.openxmlformats.org/officeDocument/2006/relationships/image" Target="../media/image49.png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0.jpg"/><Relationship Id="rId4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7979305" name="Google Shape;135;p17"/>
          <p:cNvSpPr txBox="1"/>
          <p:nvPr/>
        </p:nvSpPr>
        <p:spPr bwMode="auto">
          <a:xfrm>
            <a:off x="2017200" y="2191350"/>
            <a:ext cx="5109600" cy="73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3200" b="1">
                <a:solidFill>
                  <a:srgbClr val="FFFFFF"/>
                </a:solidFill>
                <a:latin typeface="Montserrat Alternates"/>
                <a:ea typeface="Montserrat Alternates"/>
                <a:cs typeface="Montserrat Alternates"/>
              </a:rPr>
              <a:t>GitHub</a:t>
            </a:r>
            <a:endParaRPr sz="3200" b="1">
              <a:solidFill>
                <a:srgbClr val="FFFFFF"/>
              </a:solidFill>
              <a:latin typeface="Montserrat Alternates"/>
              <a:ea typeface="Montserrat Alternates"/>
              <a:cs typeface="Montserrat Alternates"/>
            </a:endParaRPr>
          </a:p>
        </p:txBody>
      </p:sp>
      <p:pic>
        <p:nvPicPr>
          <p:cNvPr id="1069048963" name="Google Shape;136;p17"/>
          <p:cNvPicPr/>
          <p:nvPr/>
        </p:nvPicPr>
        <p:blipFill rotWithShape="1">
          <a:blip r:embed="rId3">
            <a:alphaModFix/>
          </a:blip>
          <a:srcRect l="-849" t="-51" r="9533" b="57488"/>
          <a:stretch/>
        </p:blipFill>
        <p:spPr bwMode="auto">
          <a:xfrm rot="5400000">
            <a:off x="-1001886" y="1740839"/>
            <a:ext cx="3752950" cy="1749175"/>
          </a:xfrm>
          <a:prstGeom prst="rect">
            <a:avLst/>
          </a:prstGeom>
          <a:noFill/>
          <a:ln>
            <a:noFill/>
          </a:ln>
        </p:spPr>
      </p:pic>
      <p:sp>
        <p:nvSpPr>
          <p:cNvPr id="729395160" name="Google Shape;137;p17"/>
          <p:cNvSpPr txBox="1"/>
          <p:nvPr/>
        </p:nvSpPr>
        <p:spPr bwMode="auto">
          <a:xfrm>
            <a:off x="2077499" y="2926949"/>
            <a:ext cx="4989359" cy="761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r>
              <a:rPr lang="ru" sz="1100">
                <a:solidFill>
                  <a:schemeClr val="lt1"/>
                </a:solidFill>
              </a:rPr>
              <a:t>Git – это система управления версиями с открытым исходным кодом.</a:t>
            </a:r>
            <a:endParaRPr sz="1100">
              <a:solidFill>
                <a:schemeClr val="lt1"/>
              </a:solidFill>
            </a:endParaRPr>
          </a:p>
          <a:p>
            <a:pPr marL="0" lvl="0" indent="0" algn="ctr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r>
              <a:rPr lang="ru" sz="1100">
                <a:solidFill>
                  <a:srgbClr val="F4F4F4"/>
                </a:solidFill>
              </a:rPr>
              <a:t>GitHub – это веб-служба размещения для репозиториев Git.</a:t>
            </a:r>
            <a:endParaRPr sz="1100">
              <a:solidFill>
                <a:srgbClr val="F4F4F4"/>
              </a:solidFill>
            </a:endParaRPr>
          </a:p>
          <a:p>
            <a:pPr marL="0" lvl="0" indent="0" algn="ctr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endParaRPr sz="1100">
              <a:solidFill>
                <a:srgbClr val="F4F4F4"/>
              </a:solidFill>
            </a:endParaRPr>
          </a:p>
        </p:txBody>
      </p:sp>
      <p:pic>
        <p:nvPicPr>
          <p:cNvPr id="772928442" name="Google Shape;138;p17"/>
          <p:cNvPicPr/>
          <p:nvPr/>
        </p:nvPicPr>
        <p:blipFill rotWithShape="1">
          <a:blip r:embed="rId4">
            <a:alphaModFix/>
          </a:blip>
          <a:stretch/>
        </p:blipFill>
        <p:spPr bwMode="auto">
          <a:xfrm>
            <a:off x="3900625" y="626265"/>
            <a:ext cx="1342750" cy="1342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6302734" name="Прямоугольник 3"/>
          <p:cNvSpPr/>
          <p:nvPr/>
        </p:nvSpPr>
        <p:spPr bwMode="auto">
          <a:xfrm>
            <a:off x="4265589" y="866467"/>
            <a:ext cx="904863" cy="30515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US">
                <a:latin typeface="Arial"/>
                <a:cs typeface="Arial"/>
              </a:rPr>
              <a:t>Windows</a:t>
            </a:r>
            <a:endParaRPr lang="ru-RU">
              <a:latin typeface="Arial"/>
              <a:cs typeface="Arial"/>
            </a:endParaRPr>
          </a:p>
        </p:txBody>
      </p:sp>
      <p:sp>
        <p:nvSpPr>
          <p:cNvPr id="1082106177" name="TextBox 4"/>
          <p:cNvSpPr txBox="1"/>
          <p:nvPr/>
        </p:nvSpPr>
        <p:spPr bwMode="auto">
          <a:xfrm>
            <a:off x="2948499" y="1235799"/>
            <a:ext cx="2802206" cy="3051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u="sng">
                <a:hlinkClick r:id="rId3" tooltip=""/>
              </a:rPr>
              <a:t>https://</a:t>
            </a:r>
            <a:r>
              <a:rPr lang="en-US" u="sng">
                <a:hlinkClick r:id="rId3" tooltip=""/>
              </a:rPr>
              <a:t>git-scm.com/download/win</a:t>
            </a:r>
            <a:endParaRPr lang="ru-RU"/>
          </a:p>
        </p:txBody>
      </p:sp>
      <p:pic>
        <p:nvPicPr>
          <p:cNvPr id="1465986301" name="Рисунок 5"/>
          <p:cNvPicPr>
            <a:picLocks noChangeAspect="1"/>
          </p:cNvPicPr>
          <p:nvPr/>
        </p:nvPicPr>
        <p:blipFill rotWithShape="1">
          <a:blip r:embed="rId4"/>
          <a:srcRect l="33667" t="16441" r="18866" b="34340"/>
          <a:stretch/>
        </p:blipFill>
        <p:spPr bwMode="auto">
          <a:xfrm>
            <a:off x="1932486" y="1817277"/>
            <a:ext cx="5787024" cy="2993719"/>
          </a:xfrm>
          <a:prstGeom prst="rect">
            <a:avLst/>
          </a:prstGeom>
        </p:spPr>
      </p:pic>
      <p:sp>
        <p:nvSpPr>
          <p:cNvPr id="1920129832" name="Заголовок 1"/>
          <p:cNvSpPr txBox="1"/>
          <p:nvPr/>
        </p:nvSpPr>
        <p:spPr bwMode="auto">
          <a:xfrm flipH="0" flipV="0">
            <a:off x="-908197" y="190499"/>
            <a:ext cx="10515600" cy="1080293"/>
          </a:xfrm>
          <a:prstGeom prst="rect">
            <a:avLst/>
          </a:prstGeom>
        </p:spPr>
        <p:txBody>
          <a:bodyPr/>
          <a:lstStyle>
            <a:lvl1pPr algn="ctr" defTabSz="914400" rtl="0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ru-RU" b="1"/>
              <a:t>Установка </a:t>
            </a:r>
            <a:r>
              <a:rPr lang="en-US" b="1"/>
              <a:t>Git</a:t>
            </a:r>
            <a:endParaRPr lang="ru-RU" b="1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3908918" name="Заголовок 1"/>
          <p:cNvSpPr txBox="1"/>
          <p:nvPr/>
        </p:nvSpPr>
        <p:spPr bwMode="auto">
          <a:xfrm>
            <a:off x="-463549" y="364714"/>
            <a:ext cx="10515600" cy="1325562"/>
          </a:xfrm>
          <a:prstGeom prst="rect">
            <a:avLst/>
          </a:prstGeom>
        </p:spPr>
        <p:txBody>
          <a:bodyPr/>
          <a:lstStyle>
            <a:lvl1pPr algn="ctr" defTabSz="914400" rtl="0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ru-RU" b="1"/>
              <a:t>Установка </a:t>
            </a:r>
            <a:r>
              <a:rPr lang="en-US" b="1"/>
              <a:t>Git</a:t>
            </a:r>
            <a:endParaRPr lang="ru-RU" b="1"/>
          </a:p>
        </p:txBody>
      </p:sp>
      <p:sp>
        <p:nvSpPr>
          <p:cNvPr id="1401725264" name="Прямоугольник 2"/>
          <p:cNvSpPr/>
          <p:nvPr/>
        </p:nvSpPr>
        <p:spPr bwMode="auto">
          <a:xfrm>
            <a:off x="4384301" y="1512117"/>
            <a:ext cx="776378" cy="30515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US">
                <a:latin typeface="Arial"/>
                <a:cs typeface="Arial"/>
              </a:rPr>
              <a:t>MacOS</a:t>
            </a:r>
            <a:endParaRPr lang="ru-RU">
              <a:latin typeface="Arial"/>
              <a:cs typeface="Arial"/>
            </a:endParaRPr>
          </a:p>
        </p:txBody>
      </p:sp>
      <p:sp>
        <p:nvSpPr>
          <p:cNvPr id="849340816" name="TextBox 3"/>
          <p:cNvSpPr txBox="1"/>
          <p:nvPr/>
        </p:nvSpPr>
        <p:spPr bwMode="auto">
          <a:xfrm flipH="0" flipV="0">
            <a:off x="690016" y="2047874"/>
            <a:ext cx="8208467" cy="26521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ru-RU">
                <a:latin typeface="Arial"/>
                <a:cs typeface="Arial"/>
              </a:rPr>
              <a:t>Открываем терминал и пишем</a:t>
            </a:r>
            <a:r>
              <a:rPr lang="en-US">
                <a:latin typeface="Arial"/>
                <a:cs typeface="Arial"/>
              </a:rPr>
              <a:t>:</a:t>
            </a:r>
            <a:endParaRPr/>
          </a:p>
          <a:p>
            <a:pPr algn="ctr">
              <a:defRPr/>
            </a:pPr>
            <a:endParaRPr lang="ru-RU">
              <a:latin typeface="Arial"/>
              <a:cs typeface="Arial"/>
            </a:endParaRPr>
          </a:p>
          <a:p>
            <a:pPr algn="ctr">
              <a:defRPr/>
            </a:pPr>
            <a:r>
              <a:rPr lang="ru-RU">
                <a:latin typeface="Arial"/>
                <a:cs typeface="Arial"/>
              </a:rPr>
              <a:t>Если установлен </a:t>
            </a:r>
            <a:r>
              <a:rPr lang="en-US">
                <a:latin typeface="Arial"/>
                <a:cs typeface="Arial"/>
              </a:rPr>
              <a:t>Homebrew</a:t>
            </a:r>
            <a:endParaRPr/>
          </a:p>
          <a:p>
            <a:pPr algn="ctr">
              <a:defRPr/>
            </a:pPr>
            <a:endParaRPr lang="en-US">
              <a:latin typeface="Arial"/>
              <a:cs typeface="Arial"/>
            </a:endParaRPr>
          </a:p>
          <a:p>
            <a:pPr algn="ctr">
              <a:defRPr/>
            </a:pPr>
            <a:endParaRPr lang="en-US">
              <a:latin typeface="Arial"/>
              <a:cs typeface="Arial"/>
            </a:endParaRPr>
          </a:p>
          <a:p>
            <a:pPr algn="ctr">
              <a:defRPr/>
            </a:pPr>
            <a:endParaRPr lang="ru-RU">
              <a:latin typeface="Arial"/>
              <a:cs typeface="Arial"/>
            </a:endParaRPr>
          </a:p>
          <a:p>
            <a:pPr algn="ctr">
              <a:defRPr/>
            </a:pPr>
            <a:r>
              <a:rPr lang="ru-RU">
                <a:latin typeface="Arial"/>
                <a:cs typeface="Arial"/>
              </a:rPr>
              <a:t>Если нет, </a:t>
            </a:r>
            <a:r>
              <a:rPr lang="ru-RU">
                <a:latin typeface="Arial"/>
                <a:cs typeface="Arial"/>
              </a:rPr>
              <a:t>то</a:t>
            </a:r>
            <a:endParaRPr lang="en-US">
              <a:latin typeface="Arial"/>
              <a:cs typeface="Arial"/>
            </a:endParaRPr>
          </a:p>
          <a:p>
            <a:pPr algn="ctr">
              <a:defRPr/>
            </a:pPr>
            <a:endParaRPr lang="en-US">
              <a:latin typeface="Arial"/>
              <a:cs typeface="Arial"/>
            </a:endParaRPr>
          </a:p>
          <a:p>
            <a:pPr algn="ctr">
              <a:defRPr/>
            </a:pPr>
            <a:endParaRPr lang="en-US">
              <a:latin typeface="Arial"/>
              <a:cs typeface="Arial"/>
            </a:endParaRPr>
          </a:p>
          <a:p>
            <a:pPr algn="ctr">
              <a:defRPr/>
            </a:pPr>
            <a:endParaRPr lang="ru-RU">
              <a:latin typeface="Arial"/>
              <a:cs typeface="Arial"/>
            </a:endParaRPr>
          </a:p>
          <a:p>
            <a:pPr algn="ctr">
              <a:defRPr/>
            </a:pPr>
            <a:r>
              <a:rPr lang="ru-RU">
                <a:latin typeface="Arial"/>
                <a:cs typeface="Arial"/>
              </a:rPr>
              <a:t>Появится окно, где предложат установить </a:t>
            </a:r>
            <a:r>
              <a:rPr lang="en-US">
                <a:latin typeface="Arial"/>
                <a:cs typeface="Arial"/>
              </a:rPr>
              <a:t>Command Line Tools (</a:t>
            </a:r>
            <a:r>
              <a:rPr lang="en-US">
                <a:latin typeface="Arial"/>
                <a:cs typeface="Arial"/>
              </a:rPr>
              <a:t>CLT). </a:t>
            </a:r>
            <a:r>
              <a:rPr lang="ru-RU">
                <a:latin typeface="Arial"/>
                <a:cs typeface="Arial"/>
              </a:rPr>
              <a:t>Соглашаемся </a:t>
            </a:r>
            <a:r>
              <a:rPr lang="ru-RU">
                <a:latin typeface="Arial"/>
                <a:cs typeface="Arial"/>
              </a:rPr>
              <a:t>и ждём установки. Вместе с </a:t>
            </a:r>
            <a:r>
              <a:rPr lang="en-US">
                <a:latin typeface="Arial"/>
                <a:cs typeface="Arial"/>
              </a:rPr>
              <a:t>CLT </a:t>
            </a:r>
            <a:r>
              <a:rPr lang="ru-RU">
                <a:latin typeface="Arial"/>
                <a:cs typeface="Arial"/>
              </a:rPr>
              <a:t>установится и </a:t>
            </a:r>
            <a:r>
              <a:rPr lang="en-US">
                <a:latin typeface="Arial"/>
                <a:cs typeface="Arial"/>
              </a:rPr>
              <a:t>git</a:t>
            </a:r>
            <a:endParaRPr lang="ru-RU">
              <a:latin typeface="Arial"/>
              <a:cs typeface="Arial"/>
            </a:endParaRPr>
          </a:p>
        </p:txBody>
      </p:sp>
      <p:sp>
        <p:nvSpPr>
          <p:cNvPr id="1643032500" name="Прямоугольник 4"/>
          <p:cNvSpPr/>
          <p:nvPr/>
        </p:nvSpPr>
        <p:spPr bwMode="auto">
          <a:xfrm>
            <a:off x="4179463" y="2800096"/>
            <a:ext cx="1310111" cy="30515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 wrap="none">
            <a:spAutoFit/>
          </a:bodyPr>
          <a:lstStyle/>
          <a:p>
            <a:pPr>
              <a:defRPr/>
            </a:pPr>
            <a:r>
              <a:rPr lang="en-US"/>
              <a:t>brew install </a:t>
            </a:r>
            <a:r>
              <a:rPr lang="en-US"/>
              <a:t>git</a:t>
            </a:r>
            <a:endParaRPr lang="ru-RU"/>
          </a:p>
        </p:txBody>
      </p:sp>
      <p:sp>
        <p:nvSpPr>
          <p:cNvPr id="357076386" name="Прямоугольник 5"/>
          <p:cNvSpPr/>
          <p:nvPr/>
        </p:nvSpPr>
        <p:spPr bwMode="auto">
          <a:xfrm>
            <a:off x="4216316" y="3667494"/>
            <a:ext cx="1112348" cy="30515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pPr>
              <a:defRPr/>
            </a:pPr>
            <a:r>
              <a:rPr lang="en-US"/>
              <a:t>git</a:t>
            </a:r>
            <a:r>
              <a:rPr lang="en-US"/>
              <a:t> --version</a:t>
            </a: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2952862" name="Прямоугольник 2"/>
          <p:cNvSpPr/>
          <p:nvPr/>
        </p:nvSpPr>
        <p:spPr bwMode="auto">
          <a:xfrm>
            <a:off x="4491532" y="1067617"/>
            <a:ext cx="608649" cy="30515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US">
                <a:latin typeface="Arial"/>
                <a:cs typeface="Arial"/>
              </a:rPr>
              <a:t>Linux</a:t>
            </a:r>
            <a:endParaRPr lang="en-US">
              <a:latin typeface="Arial"/>
              <a:cs typeface="Arial"/>
            </a:endParaRPr>
          </a:p>
        </p:txBody>
      </p:sp>
      <p:sp>
        <p:nvSpPr>
          <p:cNvPr id="1600788326" name="Прямоугольник 4"/>
          <p:cNvSpPr/>
          <p:nvPr/>
        </p:nvSpPr>
        <p:spPr bwMode="auto">
          <a:xfrm>
            <a:off x="3992433" y="1809536"/>
            <a:ext cx="1606847" cy="30515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 wrap="none">
            <a:spAutoFit/>
          </a:bodyPr>
          <a:lstStyle/>
          <a:p>
            <a:pPr>
              <a:defRPr/>
            </a:pPr>
            <a:r>
              <a:rPr lang="en-US"/>
              <a:t>sudo</a:t>
            </a:r>
            <a:r>
              <a:rPr lang="en-US"/>
              <a:t> apt install </a:t>
            </a:r>
            <a:r>
              <a:rPr lang="en-US"/>
              <a:t>git</a:t>
            </a:r>
            <a:endParaRPr lang="ru-RU"/>
          </a:p>
        </p:txBody>
      </p:sp>
      <p:sp>
        <p:nvSpPr>
          <p:cNvPr id="1750639929" name="Прямоугольник 5"/>
          <p:cNvSpPr/>
          <p:nvPr/>
        </p:nvSpPr>
        <p:spPr bwMode="auto">
          <a:xfrm>
            <a:off x="3933121" y="2800676"/>
            <a:ext cx="1695573" cy="30515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pPr>
              <a:defRPr/>
            </a:pPr>
            <a:r>
              <a:rPr lang="en-US"/>
              <a:t>sudo</a:t>
            </a:r>
            <a:r>
              <a:rPr lang="en-US"/>
              <a:t> yum install </a:t>
            </a:r>
            <a:r>
              <a:rPr lang="en-US"/>
              <a:t>git</a:t>
            </a:r>
            <a:endParaRPr lang="ru-RU"/>
          </a:p>
        </p:txBody>
      </p:sp>
      <p:sp>
        <p:nvSpPr>
          <p:cNvPr id="914164490" name="Заголовок 1"/>
          <p:cNvSpPr txBox="1"/>
          <p:nvPr/>
        </p:nvSpPr>
        <p:spPr bwMode="auto">
          <a:xfrm>
            <a:off x="-320674" y="47214"/>
            <a:ext cx="10515600" cy="1325562"/>
          </a:xfrm>
          <a:prstGeom prst="rect">
            <a:avLst/>
          </a:prstGeom>
        </p:spPr>
        <p:txBody>
          <a:bodyPr/>
          <a:lstStyle>
            <a:lvl1pPr algn="ctr" defTabSz="914400" rtl="0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ru-RU" b="1"/>
              <a:t>Установка </a:t>
            </a:r>
            <a:r>
              <a:rPr lang="en-US" b="1"/>
              <a:t>Git</a:t>
            </a:r>
            <a:endParaRPr lang="ru-RU" b="1"/>
          </a:p>
        </p:txBody>
      </p:sp>
      <p:sp>
        <p:nvSpPr>
          <p:cNvPr id="1883128239" name="TextBox 3"/>
          <p:cNvSpPr txBox="1"/>
          <p:nvPr/>
        </p:nvSpPr>
        <p:spPr bwMode="auto">
          <a:xfrm>
            <a:off x="-462121" y="1428716"/>
            <a:ext cx="10519198" cy="24387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US">
                <a:latin typeface="Arial"/>
                <a:cs typeface="Arial"/>
              </a:rPr>
              <a:t>Debian</a:t>
            </a:r>
            <a:r>
              <a:rPr lang="en-US">
                <a:latin typeface="Arial"/>
                <a:cs typeface="Arial"/>
              </a:rPr>
              <a:t> </a:t>
            </a:r>
            <a:r>
              <a:rPr lang="ru-RU">
                <a:latin typeface="Arial"/>
                <a:cs typeface="Arial"/>
              </a:rPr>
              <a:t>или </a:t>
            </a:r>
            <a:r>
              <a:rPr lang="en-US">
                <a:latin typeface="Arial"/>
                <a:cs typeface="Arial"/>
              </a:rPr>
              <a:t>Ubuntu</a:t>
            </a:r>
            <a:br>
              <a:rPr lang="en-US">
                <a:latin typeface="Arial"/>
                <a:cs typeface="Arial"/>
              </a:rPr>
            </a:br>
            <a:br>
              <a:rPr lang="en-US">
                <a:latin typeface="Arial"/>
                <a:cs typeface="Arial"/>
              </a:rPr>
            </a:br>
            <a:br>
              <a:rPr lang="en-US">
                <a:latin typeface="Arial"/>
                <a:cs typeface="Arial"/>
              </a:rPr>
            </a:br>
            <a:br>
              <a:rPr lang="en-US">
                <a:latin typeface="Arial"/>
                <a:cs typeface="Arial"/>
              </a:rPr>
            </a:br>
            <a:r>
              <a:rPr lang="en-US">
                <a:latin typeface="Arial"/>
                <a:cs typeface="Arial"/>
              </a:rPr>
              <a:t>CentOS</a:t>
            </a:r>
            <a:endParaRPr lang="ru-RU">
              <a:latin typeface="Arial"/>
              <a:cs typeface="Arial"/>
            </a:endParaRPr>
          </a:p>
          <a:p>
            <a:pPr algn="ctr">
              <a:defRPr/>
            </a:pPr>
            <a:endParaRPr lang="ru-RU">
              <a:latin typeface="Arial"/>
              <a:cs typeface="Arial"/>
            </a:endParaRPr>
          </a:p>
          <a:p>
            <a:pPr algn="ctr">
              <a:defRPr/>
            </a:pPr>
            <a:endParaRPr lang="ru-RU">
              <a:latin typeface="Arial"/>
              <a:cs typeface="Arial"/>
            </a:endParaRPr>
          </a:p>
          <a:p>
            <a:pPr algn="ctr">
              <a:defRPr/>
            </a:pPr>
            <a:endParaRPr lang="ru-RU">
              <a:latin typeface="Arial"/>
              <a:cs typeface="Arial"/>
            </a:endParaRPr>
          </a:p>
          <a:p>
            <a:pPr algn="ctr">
              <a:defRPr/>
            </a:pPr>
            <a:endParaRPr lang="ru-RU">
              <a:latin typeface="Arial"/>
              <a:cs typeface="Arial"/>
            </a:endParaRPr>
          </a:p>
          <a:p>
            <a:pPr algn="ctr">
              <a:defRPr/>
            </a:pPr>
            <a:r>
              <a:rPr lang="en-US">
                <a:latin typeface="Arial"/>
                <a:cs typeface="Arial"/>
              </a:rPr>
              <a:t>Arch</a:t>
            </a:r>
            <a:endParaRPr lang="ru-RU">
              <a:latin typeface="Arial"/>
              <a:cs typeface="Arial"/>
            </a:endParaRPr>
          </a:p>
          <a:p>
            <a:pPr algn="ctr"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64634182" name="Прямоугольник 5"/>
          <p:cNvSpPr/>
          <p:nvPr/>
        </p:nvSpPr>
        <p:spPr bwMode="auto">
          <a:xfrm>
            <a:off x="3933121" y="3905575"/>
            <a:ext cx="1715458" cy="30515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pPr>
              <a:defRPr/>
            </a:pPr>
            <a:r>
              <a:rPr lang="en-US"/>
              <a:t>sudo pacman -S git</a:t>
            </a: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9695316" name="Google Shape;144;p18"/>
          <p:cNvSpPr txBox="1"/>
          <p:nvPr/>
        </p:nvSpPr>
        <p:spPr bwMode="auto">
          <a:xfrm>
            <a:off x="352600" y="608750"/>
            <a:ext cx="76818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3000" b="1">
                <a:solidFill>
                  <a:srgbClr val="1A2028"/>
                </a:solidFill>
                <a:latin typeface="Montserrat Alternates"/>
                <a:ea typeface="Montserrat Alternates"/>
                <a:cs typeface="Montserrat Alternates"/>
              </a:rPr>
              <a:t>Регистрация и вход в аккаунт</a:t>
            </a:r>
            <a:endParaRPr sz="3000" b="1">
              <a:solidFill>
                <a:srgbClr val="1A2028"/>
              </a:solidFill>
              <a:latin typeface="Montserrat Alternates"/>
              <a:ea typeface="Montserrat Alternates"/>
              <a:cs typeface="Montserrat Alternates"/>
            </a:endParaRPr>
          </a:p>
        </p:txBody>
      </p:sp>
      <p:sp>
        <p:nvSpPr>
          <p:cNvPr id="698747363" name="Google Shape;145;p18"/>
          <p:cNvSpPr txBox="1"/>
          <p:nvPr/>
        </p:nvSpPr>
        <p:spPr bwMode="auto">
          <a:xfrm>
            <a:off x="352600" y="1406050"/>
            <a:ext cx="8627100" cy="8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11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➔"/>
              <a:defRPr/>
            </a:pPr>
            <a:r>
              <a:rPr lang="ru" sz="1300">
                <a:solidFill>
                  <a:schemeClr val="dk1"/>
                </a:solidFill>
              </a:rPr>
              <a:t>Для регистрации нажмите Sign up и следуйте пошаговой инструкции.</a:t>
            </a:r>
            <a:endParaRPr sz="1300">
              <a:solidFill>
                <a:schemeClr val="dk1"/>
              </a:solidFill>
            </a:endParaRPr>
          </a:p>
          <a:p>
            <a:pPr marL="457200" lvl="0" indent="-31115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300"/>
              <a:buChar char="➔"/>
              <a:defRPr/>
            </a:pPr>
            <a:r>
              <a:rPr lang="ru" sz="1300">
                <a:solidFill>
                  <a:schemeClr val="dk1"/>
                </a:solidFill>
              </a:rPr>
              <a:t>Для входа используйте Sign in и введите свои логин и пароль.</a:t>
            </a:r>
            <a:endParaRPr sz="1300">
              <a:solidFill>
                <a:schemeClr val="dk1"/>
              </a:solidFill>
            </a:endParaRPr>
          </a:p>
        </p:txBody>
      </p:sp>
      <p:pic>
        <p:nvPicPr>
          <p:cNvPr id="1844377674" name="Google Shape;146;p18"/>
          <p:cNvPicPr/>
          <p:nvPr/>
        </p:nvPicPr>
        <p:blipFill rotWithShape="1">
          <a:blip r:embed="rId3">
            <a:alphaModFix/>
          </a:blip>
          <a:srcRect l="22197" t="0" r="0" b="52498"/>
          <a:stretch/>
        </p:blipFill>
        <p:spPr bwMode="auto">
          <a:xfrm rot="-5400000">
            <a:off x="6472950" y="2472451"/>
            <a:ext cx="3316900" cy="2025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20759" name="Google Shape;147;p18"/>
          <p:cNvPicPr/>
          <p:nvPr/>
        </p:nvPicPr>
        <p:blipFill rotWithShape="1">
          <a:blip r:embed="rId4">
            <a:alphaModFix/>
          </a:blip>
          <a:srcRect l="0" t="69" r="0" b="69"/>
          <a:stretch/>
        </p:blipFill>
        <p:spPr bwMode="auto">
          <a:xfrm>
            <a:off x="1339837" y="2754625"/>
            <a:ext cx="6464325" cy="1460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3341388" name="Google Shape;152;p19"/>
          <p:cNvSpPr txBox="1"/>
          <p:nvPr/>
        </p:nvSpPr>
        <p:spPr bwMode="auto">
          <a:xfrm>
            <a:off x="336500" y="1306747"/>
            <a:ext cx="5490600" cy="11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3000" b="1">
                <a:solidFill>
                  <a:srgbClr val="1A2028"/>
                </a:solidFill>
                <a:latin typeface="Montserrat Alternates"/>
                <a:ea typeface="Montserrat Alternates"/>
                <a:cs typeface="Montserrat Alternates"/>
              </a:rPr>
              <a:t>Создание </a:t>
            </a:r>
            <a:br>
              <a:rPr lang="ru" sz="3000" b="1">
                <a:solidFill>
                  <a:srgbClr val="1A2028"/>
                </a:solidFill>
                <a:latin typeface="Montserrat Alternates"/>
                <a:ea typeface="Montserrat Alternates"/>
                <a:cs typeface="Montserrat Alternates"/>
              </a:rPr>
            </a:br>
            <a:r>
              <a:rPr lang="ru" sz="3000" b="1">
                <a:solidFill>
                  <a:srgbClr val="1A2028"/>
                </a:solidFill>
                <a:latin typeface="Montserrat Alternates"/>
                <a:ea typeface="Montserrat Alternates"/>
                <a:cs typeface="Montserrat Alternates"/>
              </a:rPr>
              <a:t>репозитория</a:t>
            </a:r>
            <a:endParaRPr sz="3000" b="1">
              <a:solidFill>
                <a:srgbClr val="1A2028"/>
              </a:solidFill>
              <a:latin typeface="Montserrat Alternates"/>
              <a:ea typeface="Montserrat Alternates"/>
              <a:cs typeface="Montserrat Alternates"/>
            </a:endParaRPr>
          </a:p>
        </p:txBody>
      </p:sp>
      <p:sp>
        <p:nvSpPr>
          <p:cNvPr id="1254896505" name="Google Shape;153;p19"/>
          <p:cNvSpPr txBox="1"/>
          <p:nvPr/>
        </p:nvSpPr>
        <p:spPr bwMode="auto">
          <a:xfrm>
            <a:off x="336500" y="2551569"/>
            <a:ext cx="4169700" cy="128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11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➔"/>
              <a:defRPr/>
            </a:pPr>
            <a:r>
              <a:rPr lang="ru" sz="1300">
                <a:solidFill>
                  <a:schemeClr val="dk1"/>
                </a:solidFill>
              </a:rPr>
              <a:t>Для создания репозитория нажмите на «+» </a:t>
            </a:r>
            <a:br>
              <a:rPr lang="ru" sz="1300">
                <a:solidFill>
                  <a:schemeClr val="dk1"/>
                </a:solidFill>
              </a:rPr>
            </a:br>
            <a:r>
              <a:rPr lang="ru" sz="1300">
                <a:solidFill>
                  <a:schemeClr val="dk1"/>
                </a:solidFill>
              </a:rPr>
              <a:t>в правом верхнем углу и выберете </a:t>
            </a:r>
            <a:br>
              <a:rPr lang="ru" sz="1300">
                <a:solidFill>
                  <a:schemeClr val="dk1"/>
                </a:solidFill>
              </a:rPr>
            </a:br>
            <a:r>
              <a:rPr lang="ru" sz="1300">
                <a:solidFill>
                  <a:schemeClr val="dk1"/>
                </a:solidFill>
              </a:rPr>
              <a:t>«New repository».</a:t>
            </a:r>
            <a:endParaRPr sz="130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300">
              <a:solidFill>
                <a:schemeClr val="dk1"/>
              </a:solidFill>
            </a:endParaRPr>
          </a:p>
        </p:txBody>
      </p:sp>
      <p:pic>
        <p:nvPicPr>
          <p:cNvPr id="1861957378" name="Google Shape;154;p19"/>
          <p:cNvPicPr/>
          <p:nvPr/>
        </p:nvPicPr>
        <p:blipFill rotWithShape="1">
          <a:blip r:embed="rId3">
            <a:alphaModFix/>
          </a:blip>
          <a:srcRect l="-849" t="-51" r="9533" b="57488"/>
          <a:stretch/>
        </p:blipFill>
        <p:spPr bwMode="auto">
          <a:xfrm rot="10800000" flipH="1">
            <a:off x="5391039" y="-11"/>
            <a:ext cx="3752950" cy="1749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3127293" name="Google Shape;155;p19"/>
          <p:cNvPicPr/>
          <p:nvPr/>
        </p:nvPicPr>
        <p:blipFill rotWithShape="1">
          <a:blip r:embed="rId4">
            <a:alphaModFix/>
          </a:blip>
          <a:srcRect l="0" t="39" r="0" b="39"/>
          <a:stretch/>
        </p:blipFill>
        <p:spPr bwMode="auto">
          <a:xfrm>
            <a:off x="5668400" y="1271175"/>
            <a:ext cx="2992900" cy="2601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73522008" name="Google Shape;160;p20"/>
          <p:cNvPicPr/>
          <p:nvPr/>
        </p:nvPicPr>
        <p:blipFill rotWithShape="1">
          <a:blip r:embed="rId3">
            <a:alphaModFix/>
          </a:blip>
          <a:srcRect l="22197" t="0" r="0" b="52498"/>
          <a:stretch/>
        </p:blipFill>
        <p:spPr bwMode="auto">
          <a:xfrm flipH="1">
            <a:off x="5827100" y="3118301"/>
            <a:ext cx="3316900" cy="2025200"/>
          </a:xfrm>
          <a:prstGeom prst="rect">
            <a:avLst/>
          </a:prstGeom>
          <a:noFill/>
          <a:ln>
            <a:noFill/>
          </a:ln>
        </p:spPr>
      </p:pic>
      <p:sp>
        <p:nvSpPr>
          <p:cNvPr id="2135051" name="Google Shape;161;p20"/>
          <p:cNvSpPr txBox="1"/>
          <p:nvPr/>
        </p:nvSpPr>
        <p:spPr bwMode="auto">
          <a:xfrm>
            <a:off x="354450" y="2191425"/>
            <a:ext cx="4160400" cy="203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11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➔"/>
              <a:defRPr/>
            </a:pPr>
            <a:r>
              <a:rPr lang="ru" sz="1300">
                <a:solidFill>
                  <a:schemeClr val="dk1"/>
                </a:solidFill>
              </a:rPr>
              <a:t>Репозиторий может быть открытым и тогда доступ к нему может получить любой имеющий на него ссылку.</a:t>
            </a:r>
            <a:endParaRPr sz="1300">
              <a:solidFill>
                <a:schemeClr val="dk1"/>
              </a:solidFill>
            </a:endParaRPr>
          </a:p>
          <a:p>
            <a:pPr marL="457200" lvl="0" indent="-311150" algn="l" rtl="0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300"/>
              <a:buChar char="➔"/>
              <a:defRPr/>
            </a:pPr>
            <a:r>
              <a:rPr lang="ru" sz="1300">
                <a:solidFill>
                  <a:schemeClr val="dk1"/>
                </a:solidFill>
              </a:rPr>
              <a:t>Репозиторий может быть закрытым и в этом случае вы определяете кто может получить </a:t>
            </a:r>
            <a:br>
              <a:rPr lang="ru" sz="1300">
                <a:solidFill>
                  <a:schemeClr val="dk1"/>
                </a:solidFill>
              </a:rPr>
            </a:br>
            <a:r>
              <a:rPr lang="ru" sz="1300">
                <a:solidFill>
                  <a:schemeClr val="dk1"/>
                </a:solidFill>
              </a:rPr>
              <a:t>к нему доступ.</a:t>
            </a:r>
            <a:endParaRPr sz="1300">
              <a:solidFill>
                <a:schemeClr val="dk1"/>
              </a:solidFill>
            </a:endParaRPr>
          </a:p>
        </p:txBody>
      </p:sp>
      <p:pic>
        <p:nvPicPr>
          <p:cNvPr id="1250515657" name="Google Shape;162;p20"/>
          <p:cNvPicPr/>
          <p:nvPr/>
        </p:nvPicPr>
        <p:blipFill rotWithShape="1">
          <a:blip r:embed="rId4">
            <a:alphaModFix/>
          </a:blip>
          <a:srcRect l="0" t="0" r="0" b="0"/>
          <a:stretch/>
        </p:blipFill>
        <p:spPr bwMode="auto">
          <a:xfrm>
            <a:off x="5730175" y="1026393"/>
            <a:ext cx="2904725" cy="3090714"/>
          </a:xfrm>
          <a:prstGeom prst="rect">
            <a:avLst/>
          </a:prstGeom>
          <a:noFill/>
          <a:ln>
            <a:noFill/>
          </a:ln>
        </p:spPr>
      </p:pic>
      <p:sp>
        <p:nvSpPr>
          <p:cNvPr id="71847165" name="Google Shape;163;p20"/>
          <p:cNvSpPr txBox="1"/>
          <p:nvPr/>
        </p:nvSpPr>
        <p:spPr bwMode="auto">
          <a:xfrm>
            <a:off x="311450" y="912661"/>
            <a:ext cx="5490600" cy="11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3000" b="1">
                <a:solidFill>
                  <a:srgbClr val="1A2028"/>
                </a:solidFill>
                <a:latin typeface="Montserrat Alternates"/>
                <a:ea typeface="Montserrat Alternates"/>
                <a:cs typeface="Montserrat Alternates"/>
              </a:rPr>
              <a:t>Создание </a:t>
            </a:r>
            <a:br>
              <a:rPr lang="ru" sz="3000" b="1">
                <a:solidFill>
                  <a:srgbClr val="1A2028"/>
                </a:solidFill>
                <a:latin typeface="Montserrat Alternates"/>
                <a:ea typeface="Montserrat Alternates"/>
                <a:cs typeface="Montserrat Alternates"/>
              </a:rPr>
            </a:br>
            <a:r>
              <a:rPr lang="ru" sz="3000" b="1">
                <a:solidFill>
                  <a:srgbClr val="1A2028"/>
                </a:solidFill>
                <a:latin typeface="Montserrat Alternates"/>
                <a:ea typeface="Montserrat Alternates"/>
                <a:cs typeface="Montserrat Alternates"/>
              </a:rPr>
              <a:t>репозитория</a:t>
            </a:r>
            <a:endParaRPr sz="3000" b="1">
              <a:solidFill>
                <a:srgbClr val="1A2028"/>
              </a:solidFill>
              <a:latin typeface="Montserrat Alternates"/>
              <a:ea typeface="Montserrat Alternates"/>
              <a:cs typeface="Montserrat Alternate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93172400" name="Google Shape;168;p21"/>
          <p:cNvPicPr/>
          <p:nvPr/>
        </p:nvPicPr>
        <p:blipFill rotWithShape="1">
          <a:blip r:embed="rId3">
            <a:alphaModFix/>
          </a:blip>
          <a:srcRect l="-849" t="-51" r="9533" b="57488"/>
          <a:stretch/>
        </p:blipFill>
        <p:spPr bwMode="auto">
          <a:xfrm rot="5400000">
            <a:off x="-1001886" y="1740839"/>
            <a:ext cx="3752950" cy="1749175"/>
          </a:xfrm>
          <a:prstGeom prst="rect">
            <a:avLst/>
          </a:prstGeom>
          <a:noFill/>
          <a:ln>
            <a:noFill/>
          </a:ln>
        </p:spPr>
      </p:pic>
      <p:sp>
        <p:nvSpPr>
          <p:cNvPr id="1752401214" name="Google Shape;169;p21"/>
          <p:cNvSpPr txBox="1"/>
          <p:nvPr/>
        </p:nvSpPr>
        <p:spPr bwMode="auto">
          <a:xfrm>
            <a:off x="343550" y="1430725"/>
            <a:ext cx="6762899" cy="11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3000" b="1">
                <a:solidFill>
                  <a:srgbClr val="1A2028"/>
                </a:solidFill>
                <a:latin typeface="Montserrat Alternates"/>
                <a:ea typeface="Montserrat Alternates"/>
                <a:cs typeface="Montserrat Alternates"/>
              </a:rPr>
              <a:t>Клонирование </a:t>
            </a:r>
            <a:br>
              <a:rPr lang="ru" sz="3000" b="1">
                <a:solidFill>
                  <a:srgbClr val="1A2028"/>
                </a:solidFill>
                <a:latin typeface="Montserrat Alternates"/>
                <a:ea typeface="Montserrat Alternates"/>
                <a:cs typeface="Montserrat Alternates"/>
              </a:rPr>
            </a:br>
            <a:r>
              <a:rPr lang="ru" sz="3000" b="1">
                <a:solidFill>
                  <a:srgbClr val="1A2028"/>
                </a:solidFill>
                <a:latin typeface="Montserrat Alternates"/>
                <a:ea typeface="Montserrat Alternates"/>
                <a:cs typeface="Montserrat Alternates"/>
              </a:rPr>
              <a:t>репозитория</a:t>
            </a:r>
            <a:endParaRPr sz="3000" b="1">
              <a:solidFill>
                <a:srgbClr val="1A2028"/>
              </a:solidFill>
              <a:latin typeface="Montserrat Alternates"/>
              <a:ea typeface="Montserrat Alternates"/>
              <a:cs typeface="Montserrat Alternates"/>
            </a:endParaRPr>
          </a:p>
        </p:txBody>
      </p:sp>
      <p:sp>
        <p:nvSpPr>
          <p:cNvPr id="924747222" name="Google Shape;170;p21"/>
          <p:cNvSpPr txBox="1"/>
          <p:nvPr/>
        </p:nvSpPr>
        <p:spPr bwMode="auto">
          <a:xfrm>
            <a:off x="343550" y="2727575"/>
            <a:ext cx="4228500" cy="98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11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➔"/>
              <a:defRPr/>
            </a:pPr>
            <a:r>
              <a:rPr lang="ru" sz="1300">
                <a:solidFill>
                  <a:schemeClr val="dk1"/>
                </a:solidFill>
              </a:rPr>
              <a:t>Репозиторий можно клонировать на свой компьютер. Для этого выберите способ (HTTPS или SSH) и скопируйте ссылку. </a:t>
            </a:r>
            <a:endParaRPr sz="1300">
              <a:solidFill>
                <a:srgbClr val="24292E"/>
              </a:solidFill>
            </a:endParaRPr>
          </a:p>
        </p:txBody>
      </p:sp>
      <p:pic>
        <p:nvPicPr>
          <p:cNvPr id="259833329" name="Google Shape;171;p21"/>
          <p:cNvPicPr/>
          <p:nvPr/>
        </p:nvPicPr>
        <p:blipFill rotWithShape="1">
          <a:blip r:embed="rId4">
            <a:alphaModFix/>
          </a:blip>
          <a:srcRect l="0" t="69" r="0" b="78"/>
          <a:stretch/>
        </p:blipFill>
        <p:spPr bwMode="auto">
          <a:xfrm>
            <a:off x="5625875" y="1118850"/>
            <a:ext cx="3029850" cy="2905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3374116" name="Google Shape;198;p24"/>
          <p:cNvSpPr txBox="1"/>
          <p:nvPr/>
        </p:nvSpPr>
        <p:spPr bwMode="auto">
          <a:xfrm>
            <a:off x="352600" y="608750"/>
            <a:ext cx="8143200" cy="7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3000" b="1">
                <a:solidFill>
                  <a:srgbClr val="1A2028"/>
                </a:solidFill>
                <a:latin typeface="Montserrat Alternates"/>
                <a:ea typeface="Montserrat Alternates"/>
                <a:cs typeface="Montserrat Alternates"/>
              </a:rPr>
              <a:t>SSH-ключи</a:t>
            </a:r>
            <a:endParaRPr sz="3000" b="1">
              <a:solidFill>
                <a:srgbClr val="1A2028"/>
              </a:solidFill>
              <a:latin typeface="Montserrat Alternates"/>
              <a:ea typeface="Montserrat Alternates"/>
              <a:cs typeface="Montserrat Alternates"/>
            </a:endParaRPr>
          </a:p>
        </p:txBody>
      </p:sp>
      <p:sp>
        <p:nvSpPr>
          <p:cNvPr id="1813943669" name="Google Shape;199;p24"/>
          <p:cNvSpPr txBox="1"/>
          <p:nvPr/>
        </p:nvSpPr>
        <p:spPr bwMode="auto">
          <a:xfrm>
            <a:off x="352600" y="1350000"/>
            <a:ext cx="8640900" cy="98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11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➔"/>
              <a:defRPr/>
            </a:pPr>
            <a:r>
              <a:rPr lang="ru" sz="1300">
                <a:solidFill>
                  <a:schemeClr val="dk1"/>
                </a:solidFill>
              </a:rPr>
              <a:t>Для работы с репозиторием иногда требуется создать ssh-ключ. Для этого нажмите на иконку своего профиля в правом верхнем углу и выберите пункт настройки (Settings). Затем в меню слева выберите пункт «SSH and GPG keys» и нажмите «New ssh key». </a:t>
            </a:r>
            <a:endParaRPr sz="1300">
              <a:solidFill>
                <a:schemeClr val="dk1"/>
              </a:solidFill>
            </a:endParaRPr>
          </a:p>
        </p:txBody>
      </p:sp>
      <p:pic>
        <p:nvPicPr>
          <p:cNvPr id="974931253" name="Google Shape;200;p24"/>
          <p:cNvPicPr/>
          <p:nvPr/>
        </p:nvPicPr>
        <p:blipFill rotWithShape="1">
          <a:blip r:embed="rId3">
            <a:alphaModFix/>
          </a:blip>
          <a:srcRect l="0" t="129" r="0" b="138"/>
          <a:stretch/>
        </p:blipFill>
        <p:spPr bwMode="auto">
          <a:xfrm>
            <a:off x="450000" y="2745425"/>
            <a:ext cx="5191152" cy="1889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1798312" name="Google Shape;201;p24"/>
          <p:cNvPicPr/>
          <p:nvPr/>
        </p:nvPicPr>
        <p:blipFill rotWithShape="1">
          <a:blip r:embed="rId4">
            <a:alphaModFix/>
          </a:blip>
          <a:srcRect l="22197" t="0" r="0" b="52498"/>
          <a:stretch/>
        </p:blipFill>
        <p:spPr bwMode="auto">
          <a:xfrm rot="-5400000">
            <a:off x="6472950" y="2472451"/>
            <a:ext cx="3316900" cy="2025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75304047" name="Google Shape;206;p25"/>
          <p:cNvPicPr/>
          <p:nvPr/>
        </p:nvPicPr>
        <p:blipFill rotWithShape="1">
          <a:blip r:embed="rId3">
            <a:alphaModFix/>
          </a:blip>
          <a:srcRect l="-849" t="-51" r="9533" b="57488"/>
          <a:stretch/>
        </p:blipFill>
        <p:spPr bwMode="auto">
          <a:xfrm rot="5400000">
            <a:off x="-1001886" y="1740839"/>
            <a:ext cx="3752950" cy="1749175"/>
          </a:xfrm>
          <a:prstGeom prst="rect">
            <a:avLst/>
          </a:prstGeom>
          <a:noFill/>
          <a:ln>
            <a:noFill/>
          </a:ln>
        </p:spPr>
      </p:pic>
      <p:sp>
        <p:nvSpPr>
          <p:cNvPr id="491994424" name="Google Shape;207;p25"/>
          <p:cNvSpPr txBox="1"/>
          <p:nvPr/>
        </p:nvSpPr>
        <p:spPr bwMode="auto">
          <a:xfrm>
            <a:off x="352600" y="1734188"/>
            <a:ext cx="8143200" cy="7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3000" b="1">
                <a:solidFill>
                  <a:srgbClr val="1A2028"/>
                </a:solidFill>
                <a:latin typeface="Montserrat Alternates"/>
                <a:ea typeface="Montserrat Alternates"/>
                <a:cs typeface="Montserrat Alternates"/>
              </a:rPr>
              <a:t>SSH-ключи</a:t>
            </a:r>
            <a:endParaRPr sz="3000" b="1">
              <a:solidFill>
                <a:srgbClr val="1A2028"/>
              </a:solidFill>
              <a:latin typeface="Montserrat Alternates"/>
              <a:ea typeface="Montserrat Alternates"/>
              <a:cs typeface="Montserrat Alternates"/>
            </a:endParaRPr>
          </a:p>
        </p:txBody>
      </p:sp>
      <p:sp>
        <p:nvSpPr>
          <p:cNvPr id="1611922606" name="Google Shape;208;p25"/>
          <p:cNvSpPr txBox="1"/>
          <p:nvPr/>
        </p:nvSpPr>
        <p:spPr bwMode="auto">
          <a:xfrm>
            <a:off x="352599" y="2619162"/>
            <a:ext cx="4153860" cy="7775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11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➔"/>
              <a:defRPr/>
            </a:pPr>
            <a:r>
              <a:rPr lang="ru" sz="1300">
                <a:solidFill>
                  <a:schemeClr val="dk1"/>
                </a:solidFill>
              </a:rPr>
              <a:t>Подробная инструкция по генерации ключей находится по </a:t>
            </a:r>
            <a:r>
              <a:rPr lang="ru" sz="1300" u="sng">
                <a:solidFill>
                  <a:schemeClr val="hlink"/>
                </a:solidFill>
                <a:hlinkClick r:id="rId4" tooltip=""/>
              </a:rPr>
              <a:t>ссылке</a:t>
            </a:r>
            <a:endParaRPr sz="1300">
              <a:solidFill>
                <a:srgbClr val="0AB8B6"/>
              </a:solidFill>
            </a:endParaRPr>
          </a:p>
        </p:txBody>
      </p:sp>
      <p:pic>
        <p:nvPicPr>
          <p:cNvPr id="1245900072" name="Google Shape;209;p25"/>
          <p:cNvPicPr/>
          <p:nvPr/>
        </p:nvPicPr>
        <p:blipFill rotWithShape="1">
          <a:blip r:embed="rId5">
            <a:alphaModFix/>
          </a:blip>
          <a:srcRect l="0" t="0" r="0" b="0"/>
          <a:stretch/>
        </p:blipFill>
        <p:spPr bwMode="auto">
          <a:xfrm>
            <a:off x="5490000" y="1497810"/>
            <a:ext cx="3330001" cy="214788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2146016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flipH="0" flipV="0">
            <a:off x="2571750" y="2920999"/>
            <a:ext cx="2049499" cy="207347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54152998" name="Рисунок 2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392485" y="1450974"/>
            <a:ext cx="6054513" cy="3152006"/>
          </a:xfrm>
          <a:prstGeom prst="rect">
            <a:avLst/>
          </a:prstGeom>
        </p:spPr>
      </p:pic>
      <p:sp>
        <p:nvSpPr>
          <p:cNvPr id="1581415238" name="Заголовок 1"/>
          <p:cNvSpPr txBox="1"/>
          <p:nvPr/>
        </p:nvSpPr>
        <p:spPr bwMode="auto">
          <a:xfrm>
            <a:off x="-463549" y="608012"/>
            <a:ext cx="10515600" cy="1325562"/>
          </a:xfrm>
          <a:prstGeom prst="rect">
            <a:avLst/>
          </a:prstGeom>
        </p:spPr>
        <p:txBody>
          <a:bodyPr/>
          <a:lstStyle>
            <a:lvl1pPr algn="ctr" defTabSz="914400" rtl="0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ru-RU" sz="2800" b="1"/>
              <a:t>Скачивание существующих </a:t>
            </a:r>
            <a:r>
              <a:rPr lang="ru-RU" sz="2800" b="1"/>
              <a:t>репозиториев</a:t>
            </a:r>
            <a:endParaRPr lang="ru-RU" b="1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0529677" name="Прямоугольник 1"/>
          <p:cNvSpPr/>
          <p:nvPr/>
        </p:nvSpPr>
        <p:spPr bwMode="auto">
          <a:xfrm>
            <a:off x="3212832" y="1341564"/>
            <a:ext cx="2927663" cy="30515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pPr>
              <a:defRPr/>
            </a:pPr>
            <a:r>
              <a:rPr lang="en-US"/>
              <a:t>git</a:t>
            </a:r>
            <a:r>
              <a:rPr lang="en-US"/>
              <a:t> clone </a:t>
            </a:r>
            <a:r>
              <a:rPr lang="ru-RU"/>
              <a:t>ссылка_на_репозиторий</a:t>
            </a:r>
            <a:endParaRPr lang="ru-RU"/>
          </a:p>
        </p:txBody>
      </p:sp>
      <p:sp>
        <p:nvSpPr>
          <p:cNvPr id="609773699" name="Прямоугольник 2"/>
          <p:cNvSpPr/>
          <p:nvPr/>
        </p:nvSpPr>
        <p:spPr bwMode="auto">
          <a:xfrm>
            <a:off x="1650999" y="2152469"/>
            <a:ext cx="6731359" cy="179867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/>
              <a:t>D:\&gt;git clone https://github.com/skr1pmen/minecraft.git</a:t>
            </a:r>
            <a:endParaRPr/>
          </a:p>
          <a:p>
            <a:pPr>
              <a:defRPr/>
            </a:pPr>
            <a:r>
              <a:rPr lang="en-US"/>
              <a:t>Cloning into '</a:t>
            </a:r>
            <a:r>
              <a:rPr lang="en-US"/>
              <a:t>minecraft</a:t>
            </a:r>
            <a:r>
              <a:rPr lang="en-US"/>
              <a:t>'...</a:t>
            </a:r>
            <a:endParaRPr/>
          </a:p>
          <a:p>
            <a:pPr>
              <a:defRPr/>
            </a:pPr>
            <a:r>
              <a:rPr lang="en-US"/>
              <a:t>remote: Enumerating objects: 143, done.</a:t>
            </a:r>
            <a:endParaRPr/>
          </a:p>
          <a:p>
            <a:pPr>
              <a:defRPr/>
            </a:pPr>
            <a:r>
              <a:rPr lang="en-US"/>
              <a:t>remote: Counting objects: 100% (143/143), done.</a:t>
            </a:r>
            <a:endParaRPr/>
          </a:p>
          <a:p>
            <a:pPr>
              <a:defRPr/>
            </a:pPr>
            <a:r>
              <a:rPr lang="en-US"/>
              <a:t>remote: Compressing objects: 100% (95/95), done.</a:t>
            </a:r>
            <a:endParaRPr/>
          </a:p>
          <a:p>
            <a:pPr>
              <a:defRPr/>
            </a:pPr>
            <a:r>
              <a:rPr lang="en-US"/>
              <a:t>remote: Total 143 (delta 52), reused 84 (delta 26), pack-reused 0</a:t>
            </a:r>
            <a:endParaRPr/>
          </a:p>
          <a:p>
            <a:pPr>
              <a:defRPr/>
            </a:pPr>
            <a:r>
              <a:rPr lang="en-US"/>
              <a:t>Receiving objects: 100% (143/143), 9.30 </a:t>
            </a:r>
            <a:r>
              <a:rPr lang="en-US"/>
              <a:t>MiB</a:t>
            </a:r>
            <a:r>
              <a:rPr lang="en-US"/>
              <a:t> | 9.05 </a:t>
            </a:r>
            <a:r>
              <a:rPr lang="en-US"/>
              <a:t>MiB</a:t>
            </a:r>
            <a:r>
              <a:rPr lang="en-US"/>
              <a:t>/s, done.</a:t>
            </a:r>
            <a:endParaRPr/>
          </a:p>
          <a:p>
            <a:pPr>
              <a:defRPr/>
            </a:pPr>
            <a:r>
              <a:rPr lang="en-US"/>
              <a:t>Resolving deltas: 100% (52/52), done.</a:t>
            </a: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80525572" name="Google Shape;226;p27"/>
          <p:cNvPicPr/>
          <p:nvPr/>
        </p:nvPicPr>
        <p:blipFill rotWithShape="1">
          <a:blip r:embed="rId3">
            <a:alphaModFix/>
          </a:blip>
          <a:srcRect l="-849" t="-51" r="9533" b="57488"/>
          <a:stretch/>
        </p:blipFill>
        <p:spPr bwMode="auto">
          <a:xfrm rot="-5400000">
            <a:off x="6392938" y="2392439"/>
            <a:ext cx="3752950" cy="1749175"/>
          </a:xfrm>
          <a:prstGeom prst="rect">
            <a:avLst/>
          </a:prstGeom>
          <a:noFill/>
          <a:ln>
            <a:noFill/>
          </a:ln>
        </p:spPr>
      </p:pic>
      <p:sp>
        <p:nvSpPr>
          <p:cNvPr id="2098261744" name="Google Shape;227;p27"/>
          <p:cNvSpPr txBox="1"/>
          <p:nvPr/>
        </p:nvSpPr>
        <p:spPr bwMode="auto">
          <a:xfrm>
            <a:off x="352600" y="608750"/>
            <a:ext cx="8143200" cy="7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3000" b="1">
                <a:solidFill>
                  <a:srgbClr val="1A2028"/>
                </a:solidFill>
                <a:latin typeface="Montserrat Alternates"/>
                <a:ea typeface="Montserrat Alternates"/>
                <a:cs typeface="Montserrat Alternates"/>
              </a:rPr>
              <a:t>Создание Pull request</a:t>
            </a:r>
            <a:endParaRPr sz="3000" b="1">
              <a:solidFill>
                <a:srgbClr val="1A2028"/>
              </a:solidFill>
              <a:latin typeface="Montserrat Alternates"/>
              <a:ea typeface="Montserrat Alternates"/>
              <a:cs typeface="Montserrat Alternates"/>
            </a:endParaRPr>
          </a:p>
        </p:txBody>
      </p:sp>
      <p:sp>
        <p:nvSpPr>
          <p:cNvPr id="232216282" name="Google Shape;228;p27"/>
          <p:cNvSpPr txBox="1"/>
          <p:nvPr/>
        </p:nvSpPr>
        <p:spPr bwMode="auto">
          <a:xfrm>
            <a:off x="352600" y="1350000"/>
            <a:ext cx="8640900" cy="113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11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➔"/>
              <a:defRPr/>
            </a:pPr>
            <a:r>
              <a:rPr lang="ru" sz="1300">
                <a:solidFill>
                  <a:schemeClr val="dk1"/>
                </a:solidFill>
              </a:rPr>
              <a:t>Когда вы добавляете изменения в ка</a:t>
            </a:r>
            <a:r>
              <a:rPr lang="ru" sz="1300">
                <a:solidFill>
                  <a:schemeClr val="dk1"/>
                </a:solidFill>
              </a:rPr>
              <a:t>к</a:t>
            </a:r>
            <a:r>
              <a:rPr lang="ru" sz="1300">
                <a:solidFill>
                  <a:schemeClr val="dk1"/>
                </a:solidFill>
              </a:rPr>
              <a:t>ую-то ветку чаще всего появляется всплывающее окно с предложением сравнить ветки создать Pull request.</a:t>
            </a:r>
            <a:endParaRPr sz="1300">
              <a:solidFill>
                <a:schemeClr val="dk1"/>
              </a:solidFill>
            </a:endParaRPr>
          </a:p>
          <a:p>
            <a:pPr marL="457200" lvl="0" indent="-311150" algn="l" rtl="0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300"/>
              <a:buChar char="➔"/>
              <a:defRPr/>
            </a:pPr>
            <a:r>
              <a:rPr lang="ru" sz="1300">
                <a:solidFill>
                  <a:schemeClr val="dk1"/>
                </a:solidFill>
              </a:rPr>
              <a:t>Другой способ создать Pull request — на вкладке Pull requests нажать на кнопку «New pull request». </a:t>
            </a:r>
            <a:endParaRPr sz="1300">
              <a:solidFill>
                <a:schemeClr val="dk1"/>
              </a:solidFill>
            </a:endParaRPr>
          </a:p>
        </p:txBody>
      </p:sp>
      <p:pic>
        <p:nvPicPr>
          <p:cNvPr id="273135640" name="Google Shape;229;p27"/>
          <p:cNvPicPr/>
          <p:nvPr/>
        </p:nvPicPr>
        <p:blipFill rotWithShape="1">
          <a:blip r:embed="rId4">
            <a:alphaModFix/>
          </a:blip>
          <a:srcRect l="0" t="0" r="0" b="0"/>
          <a:stretch/>
        </p:blipFill>
        <p:spPr bwMode="auto">
          <a:xfrm>
            <a:off x="434600" y="3089962"/>
            <a:ext cx="8143200" cy="13656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60339925" name="Google Shape;234;p28"/>
          <p:cNvPicPr/>
          <p:nvPr/>
        </p:nvPicPr>
        <p:blipFill rotWithShape="1">
          <a:blip r:embed="rId3">
            <a:alphaModFix/>
          </a:blip>
          <a:srcRect l="22197" t="0" r="0" b="52498"/>
          <a:stretch/>
        </p:blipFill>
        <p:spPr bwMode="auto">
          <a:xfrm flipH="1">
            <a:off x="5827100" y="3118301"/>
            <a:ext cx="3316900" cy="2025200"/>
          </a:xfrm>
          <a:prstGeom prst="rect">
            <a:avLst/>
          </a:prstGeom>
          <a:noFill/>
          <a:ln>
            <a:noFill/>
          </a:ln>
        </p:spPr>
      </p:pic>
      <p:sp>
        <p:nvSpPr>
          <p:cNvPr id="2079973290" name="Google Shape;235;p28"/>
          <p:cNvSpPr txBox="1"/>
          <p:nvPr/>
        </p:nvSpPr>
        <p:spPr bwMode="auto">
          <a:xfrm>
            <a:off x="352600" y="608750"/>
            <a:ext cx="8143200" cy="7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3000" b="1">
                <a:solidFill>
                  <a:srgbClr val="1A2028"/>
                </a:solidFill>
                <a:latin typeface="Montserrat Alternates"/>
                <a:ea typeface="Montserrat Alternates"/>
                <a:cs typeface="Montserrat Alternates"/>
              </a:rPr>
              <a:t>Создание Pull request</a:t>
            </a:r>
            <a:endParaRPr sz="3000" b="1">
              <a:solidFill>
                <a:srgbClr val="1A2028"/>
              </a:solidFill>
              <a:latin typeface="Montserrat Alternates"/>
              <a:ea typeface="Montserrat Alternates"/>
              <a:cs typeface="Montserrat Alternates"/>
            </a:endParaRPr>
          </a:p>
        </p:txBody>
      </p:sp>
      <p:sp>
        <p:nvSpPr>
          <p:cNvPr id="462135195" name="Google Shape;236;p28"/>
          <p:cNvSpPr txBox="1"/>
          <p:nvPr/>
        </p:nvSpPr>
        <p:spPr bwMode="auto">
          <a:xfrm>
            <a:off x="352600" y="1350000"/>
            <a:ext cx="86409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11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➔"/>
              <a:defRPr/>
            </a:pPr>
            <a:r>
              <a:rPr lang="ru" sz="1300">
                <a:solidFill>
                  <a:schemeClr val="dk1"/>
                </a:solidFill>
              </a:rPr>
              <a:t>При создании Pull request важно правильно выбрать ветки источника и цели.</a:t>
            </a:r>
            <a:endParaRPr sz="1300">
              <a:solidFill>
                <a:schemeClr val="dk1"/>
              </a:solidFill>
            </a:endParaRPr>
          </a:p>
        </p:txBody>
      </p:sp>
      <p:pic>
        <p:nvPicPr>
          <p:cNvPr id="1270308565" name="Google Shape;237;p28"/>
          <p:cNvPicPr/>
          <p:nvPr/>
        </p:nvPicPr>
        <p:blipFill rotWithShape="1">
          <a:blip r:embed="rId4">
            <a:alphaModFix/>
          </a:blip>
          <a:srcRect l="0" t="0" r="0" b="0"/>
          <a:stretch/>
        </p:blipFill>
        <p:spPr bwMode="auto">
          <a:xfrm>
            <a:off x="471700" y="2305175"/>
            <a:ext cx="8200599" cy="2103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5175497" name="Google Shape;242;p29"/>
          <p:cNvSpPr txBox="1"/>
          <p:nvPr/>
        </p:nvSpPr>
        <p:spPr bwMode="auto">
          <a:xfrm>
            <a:off x="352600" y="608750"/>
            <a:ext cx="8143200" cy="7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3000" b="1">
                <a:solidFill>
                  <a:srgbClr val="1A2028"/>
                </a:solidFill>
                <a:latin typeface="Montserrat Alternates"/>
                <a:ea typeface="Montserrat Alternates"/>
                <a:cs typeface="Montserrat Alternates"/>
              </a:rPr>
              <a:t>Создание Pull request</a:t>
            </a:r>
            <a:endParaRPr sz="3000" b="1">
              <a:solidFill>
                <a:srgbClr val="1A2028"/>
              </a:solidFill>
              <a:latin typeface="Montserrat Alternates"/>
              <a:ea typeface="Montserrat Alternates"/>
              <a:cs typeface="Montserrat Alternates"/>
            </a:endParaRPr>
          </a:p>
        </p:txBody>
      </p:sp>
      <p:sp>
        <p:nvSpPr>
          <p:cNvPr id="1366357695" name="Google Shape;243;p29"/>
          <p:cNvSpPr txBox="1"/>
          <p:nvPr/>
        </p:nvSpPr>
        <p:spPr bwMode="auto">
          <a:xfrm>
            <a:off x="352600" y="1350000"/>
            <a:ext cx="8640900" cy="6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11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➔"/>
              <a:defRPr/>
            </a:pPr>
            <a:r>
              <a:rPr lang="ru" sz="1300">
                <a:solidFill>
                  <a:schemeClr val="dk1"/>
                </a:solidFill>
              </a:rPr>
              <a:t>В меню справа не забываем подписаться под своим ПР(Pull request) и выбрать того, </a:t>
            </a:r>
            <a:br>
              <a:rPr lang="ru" sz="1300">
                <a:solidFill>
                  <a:schemeClr val="dk1"/>
                </a:solidFill>
              </a:rPr>
            </a:br>
            <a:r>
              <a:rPr lang="ru" sz="1300">
                <a:solidFill>
                  <a:schemeClr val="dk1"/>
                </a:solidFill>
              </a:rPr>
              <a:t>кто будеть делать ревью ваших изменений.</a:t>
            </a:r>
            <a:endParaRPr sz="1300">
              <a:solidFill>
                <a:schemeClr val="dk1"/>
              </a:solidFill>
            </a:endParaRPr>
          </a:p>
        </p:txBody>
      </p:sp>
      <p:pic>
        <p:nvPicPr>
          <p:cNvPr id="112363416" name="Google Shape;244;p29"/>
          <p:cNvPicPr/>
          <p:nvPr/>
        </p:nvPicPr>
        <p:blipFill rotWithShape="1">
          <a:blip r:embed="rId3">
            <a:alphaModFix/>
          </a:blip>
          <a:srcRect l="0" t="39" r="0" b="28"/>
          <a:stretch/>
        </p:blipFill>
        <p:spPr bwMode="auto">
          <a:xfrm>
            <a:off x="450000" y="2318637"/>
            <a:ext cx="3148275" cy="2123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89061990" name="Google Shape;245;p29"/>
          <p:cNvPicPr/>
          <p:nvPr/>
        </p:nvPicPr>
        <p:blipFill rotWithShape="1">
          <a:blip r:embed="rId4">
            <a:alphaModFix/>
          </a:blip>
          <a:srcRect l="139" t="0" r="138" b="0"/>
          <a:stretch/>
        </p:blipFill>
        <p:spPr bwMode="auto">
          <a:xfrm>
            <a:off x="4032275" y="2305163"/>
            <a:ext cx="3362552" cy="2150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3306415" name="Google Shape;246;p29"/>
          <p:cNvPicPr/>
          <p:nvPr/>
        </p:nvPicPr>
        <p:blipFill rotWithShape="1">
          <a:blip r:embed="rId5">
            <a:alphaModFix/>
          </a:blip>
          <a:srcRect l="-849" t="-51" r="9533" b="57488"/>
          <a:stretch/>
        </p:blipFill>
        <p:spPr bwMode="auto">
          <a:xfrm rot="-5400000">
            <a:off x="6392938" y="2392439"/>
            <a:ext cx="3752950" cy="1749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0475433" name="Google Shape;251;p30"/>
          <p:cNvSpPr txBox="1"/>
          <p:nvPr/>
        </p:nvSpPr>
        <p:spPr bwMode="auto">
          <a:xfrm>
            <a:off x="352600" y="608750"/>
            <a:ext cx="8143200" cy="7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3000" b="1">
                <a:solidFill>
                  <a:srgbClr val="1A2028"/>
                </a:solidFill>
                <a:latin typeface="Montserrat Alternates"/>
                <a:ea typeface="Montserrat Alternates"/>
                <a:cs typeface="Montserrat Alternates"/>
              </a:rPr>
              <a:t>Добавление ревьюеров</a:t>
            </a:r>
            <a:endParaRPr sz="3000" b="1">
              <a:solidFill>
                <a:srgbClr val="1A2028"/>
              </a:solidFill>
              <a:latin typeface="Montserrat Alternates"/>
              <a:ea typeface="Montserrat Alternates"/>
              <a:cs typeface="Montserrat Alternates"/>
            </a:endParaRPr>
          </a:p>
        </p:txBody>
      </p:sp>
      <p:sp>
        <p:nvSpPr>
          <p:cNvPr id="1981695263" name="Google Shape;252;p30"/>
          <p:cNvSpPr txBox="1"/>
          <p:nvPr/>
        </p:nvSpPr>
        <p:spPr bwMode="auto">
          <a:xfrm>
            <a:off x="352600" y="1350000"/>
            <a:ext cx="8467500" cy="98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11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➔"/>
              <a:defRPr/>
            </a:pPr>
            <a:r>
              <a:rPr lang="ru" sz="1300">
                <a:solidFill>
                  <a:schemeClr val="dk1"/>
                </a:solidFill>
              </a:rPr>
              <a:t>Чтобы получить возможность добавления ревьюеров из списка необходимо добавить в ваш репозиторий участников. Сделать это можно через вкладку Settings — Collaborators — Add people. В качестве приглашённого участника необходимо выбрать аккаунт нашей платформы: course@ylab.io</a:t>
            </a:r>
            <a:endParaRPr sz="1300">
              <a:solidFill>
                <a:schemeClr val="dk1"/>
              </a:solidFill>
            </a:endParaRPr>
          </a:p>
        </p:txBody>
      </p:sp>
      <p:pic>
        <p:nvPicPr>
          <p:cNvPr id="1082455333" name="Google Shape;253;p30"/>
          <p:cNvPicPr/>
          <p:nvPr/>
        </p:nvPicPr>
        <p:blipFill rotWithShape="1">
          <a:blip r:embed="rId3">
            <a:alphaModFix/>
          </a:blip>
          <a:srcRect l="-849" t="-51" r="9533" b="57488"/>
          <a:stretch/>
        </p:blipFill>
        <p:spPr bwMode="auto">
          <a:xfrm rot="-5400000">
            <a:off x="6392938" y="2392439"/>
            <a:ext cx="3752950" cy="1749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6026911" name="Google Shape;254;p30"/>
          <p:cNvPicPr/>
          <p:nvPr/>
        </p:nvPicPr>
        <p:blipFill rotWithShape="1">
          <a:blip r:embed="rId4">
            <a:alphaModFix/>
          </a:blip>
          <a:stretch/>
        </p:blipFill>
        <p:spPr bwMode="auto">
          <a:xfrm>
            <a:off x="450000" y="2669225"/>
            <a:ext cx="3329999" cy="2086642"/>
          </a:xfrm>
          <a:prstGeom prst="rect">
            <a:avLst/>
          </a:prstGeom>
          <a:noFill/>
          <a:ln>
            <a:noFill/>
          </a:ln>
        </p:spPr>
      </p:pic>
      <p:pic>
        <p:nvPicPr>
          <p:cNvPr id="829729044" name="Google Shape;255;p30"/>
          <p:cNvPicPr/>
          <p:nvPr/>
        </p:nvPicPr>
        <p:blipFill rotWithShape="1">
          <a:blip r:embed="rId5">
            <a:alphaModFix/>
          </a:blip>
          <a:stretch/>
        </p:blipFill>
        <p:spPr bwMode="auto">
          <a:xfrm>
            <a:off x="4225550" y="2669225"/>
            <a:ext cx="4388648" cy="2086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8156200" name="Google Shape;260;p31"/>
          <p:cNvSpPr txBox="1"/>
          <p:nvPr/>
        </p:nvSpPr>
        <p:spPr bwMode="auto">
          <a:xfrm>
            <a:off x="352600" y="608750"/>
            <a:ext cx="8143200" cy="7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3000" b="1">
                <a:solidFill>
                  <a:srgbClr val="1A2028"/>
                </a:solidFill>
                <a:latin typeface="Montserrat Alternates"/>
                <a:ea typeface="Montserrat Alternates"/>
                <a:cs typeface="Montserrat Alternates"/>
              </a:rPr>
              <a:t>Добавление ревьюеров</a:t>
            </a:r>
            <a:endParaRPr sz="3000" b="1">
              <a:solidFill>
                <a:srgbClr val="1A2028"/>
              </a:solidFill>
              <a:latin typeface="Montserrat Alternates"/>
              <a:ea typeface="Montserrat Alternates"/>
              <a:cs typeface="Montserrat Alternates"/>
            </a:endParaRPr>
          </a:p>
        </p:txBody>
      </p:sp>
      <p:sp>
        <p:nvSpPr>
          <p:cNvPr id="1454097999" name="Google Shape;261;p31"/>
          <p:cNvSpPr txBox="1"/>
          <p:nvPr/>
        </p:nvSpPr>
        <p:spPr bwMode="auto">
          <a:xfrm>
            <a:off x="352600" y="1350000"/>
            <a:ext cx="8467500" cy="6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11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➔"/>
              <a:defRPr/>
            </a:pPr>
            <a:r>
              <a:rPr lang="ru" sz="1300">
                <a:solidFill>
                  <a:schemeClr val="dk1"/>
                </a:solidFill>
              </a:rPr>
              <a:t>Теперь мы можем выбрать нашего ревьюера из списка. Выбранный вами ревьюер получит</a:t>
            </a:r>
            <a:br>
              <a:rPr lang="ru" sz="1300">
                <a:solidFill>
                  <a:schemeClr val="dk1"/>
                </a:solidFill>
              </a:rPr>
            </a:br>
            <a:r>
              <a:rPr lang="ru" sz="1300">
                <a:solidFill>
                  <a:schemeClr val="dk1"/>
                </a:solidFill>
              </a:rPr>
              <a:t>на почту письмо с приглашением. </a:t>
            </a:r>
            <a:endParaRPr sz="1300">
              <a:solidFill>
                <a:schemeClr val="dk1"/>
              </a:solidFill>
            </a:endParaRPr>
          </a:p>
        </p:txBody>
      </p:sp>
      <p:pic>
        <p:nvPicPr>
          <p:cNvPr id="1110760701" name="Google Shape;262;p31"/>
          <p:cNvPicPr/>
          <p:nvPr/>
        </p:nvPicPr>
        <p:blipFill rotWithShape="1">
          <a:blip r:embed="rId3">
            <a:alphaModFix/>
          </a:blip>
          <a:srcRect l="-849" t="-51" r="9533" b="57488"/>
          <a:stretch/>
        </p:blipFill>
        <p:spPr bwMode="auto">
          <a:xfrm rot="-5400000">
            <a:off x="6392938" y="2392439"/>
            <a:ext cx="3752950" cy="1749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5096163" name="Google Shape;263;p31"/>
          <p:cNvPicPr/>
          <p:nvPr/>
        </p:nvPicPr>
        <p:blipFill rotWithShape="1">
          <a:blip r:embed="rId4">
            <a:alphaModFix/>
          </a:blip>
          <a:stretch/>
        </p:blipFill>
        <p:spPr bwMode="auto">
          <a:xfrm>
            <a:off x="450000" y="2305175"/>
            <a:ext cx="3742938" cy="2150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1239935" name="Google Shape;268;p32"/>
          <p:cNvSpPr txBox="1"/>
          <p:nvPr/>
        </p:nvSpPr>
        <p:spPr bwMode="auto">
          <a:xfrm>
            <a:off x="352600" y="608750"/>
            <a:ext cx="8143200" cy="7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3000" b="1">
                <a:solidFill>
                  <a:srgbClr val="1A2028"/>
                </a:solidFill>
                <a:latin typeface="Montserrat Alternates"/>
                <a:ea typeface="Montserrat Alternates"/>
                <a:cs typeface="Montserrat Alternates"/>
              </a:rPr>
              <a:t>Создание Pull request</a:t>
            </a:r>
            <a:endParaRPr sz="3000" b="1">
              <a:solidFill>
                <a:srgbClr val="1A2028"/>
              </a:solidFill>
              <a:latin typeface="Montserrat Alternates"/>
              <a:ea typeface="Montserrat Alternates"/>
              <a:cs typeface="Montserrat Alternates"/>
            </a:endParaRPr>
          </a:p>
        </p:txBody>
      </p:sp>
      <p:sp>
        <p:nvSpPr>
          <p:cNvPr id="2131180474" name="Google Shape;269;p32"/>
          <p:cNvSpPr txBox="1"/>
          <p:nvPr/>
        </p:nvSpPr>
        <p:spPr bwMode="auto">
          <a:xfrm>
            <a:off x="352600" y="1350000"/>
            <a:ext cx="86409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11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➔"/>
              <a:defRPr/>
            </a:pPr>
            <a:r>
              <a:rPr lang="ru" sz="1300">
                <a:solidFill>
                  <a:schemeClr val="dk1"/>
                </a:solidFill>
              </a:rPr>
              <a:t>Во вкладке Conversation открытого ПР видна вся переписка по замечаниям, оставленным ревьюером.</a:t>
            </a:r>
            <a:endParaRPr sz="1300">
              <a:solidFill>
                <a:schemeClr val="dk1"/>
              </a:solidFill>
            </a:endParaRPr>
          </a:p>
        </p:txBody>
      </p:sp>
      <p:pic>
        <p:nvPicPr>
          <p:cNvPr id="1344670203" name="Google Shape;270;p32"/>
          <p:cNvPicPr/>
          <p:nvPr/>
        </p:nvPicPr>
        <p:blipFill rotWithShape="1">
          <a:blip r:embed="rId3">
            <a:alphaModFix/>
          </a:blip>
          <a:srcRect l="22197" t="0" r="0" b="52498"/>
          <a:stretch/>
        </p:blipFill>
        <p:spPr bwMode="auto">
          <a:xfrm flipH="1">
            <a:off x="5827100" y="3118301"/>
            <a:ext cx="3316900" cy="2025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31137838" name="Google Shape;271;p32"/>
          <p:cNvPicPr/>
          <p:nvPr/>
        </p:nvPicPr>
        <p:blipFill rotWithShape="1">
          <a:blip r:embed="rId4">
            <a:alphaModFix/>
          </a:blip>
          <a:stretch/>
        </p:blipFill>
        <p:spPr bwMode="auto">
          <a:xfrm>
            <a:off x="450000" y="2305175"/>
            <a:ext cx="3664120" cy="2150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9973511" name="Google Shape;276;p33"/>
          <p:cNvSpPr txBox="1"/>
          <p:nvPr/>
        </p:nvSpPr>
        <p:spPr bwMode="auto">
          <a:xfrm>
            <a:off x="352600" y="608750"/>
            <a:ext cx="8143200" cy="7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3000" b="1">
                <a:solidFill>
                  <a:srgbClr val="1A2028"/>
                </a:solidFill>
                <a:latin typeface="Montserrat Alternates"/>
                <a:ea typeface="Montserrat Alternates"/>
                <a:cs typeface="Montserrat Alternates"/>
              </a:rPr>
              <a:t>Создание Pull request</a:t>
            </a:r>
            <a:endParaRPr sz="3000" b="1">
              <a:solidFill>
                <a:srgbClr val="1A2028"/>
              </a:solidFill>
              <a:latin typeface="Montserrat Alternates"/>
              <a:ea typeface="Montserrat Alternates"/>
              <a:cs typeface="Montserrat Alternates"/>
            </a:endParaRPr>
          </a:p>
        </p:txBody>
      </p:sp>
      <p:sp>
        <p:nvSpPr>
          <p:cNvPr id="1045453260" name="Google Shape;277;p33"/>
          <p:cNvSpPr txBox="1"/>
          <p:nvPr/>
        </p:nvSpPr>
        <p:spPr bwMode="auto">
          <a:xfrm>
            <a:off x="352600" y="1350000"/>
            <a:ext cx="8640900" cy="6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11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➔"/>
              <a:defRPr/>
            </a:pPr>
            <a:r>
              <a:rPr lang="ru" sz="1300">
                <a:solidFill>
                  <a:schemeClr val="dk1"/>
                </a:solidFill>
              </a:rPr>
              <a:t>Во вкладке Files Changed — все изменения, которые вы сделали в новой ветке относительно целевой. Здесь же производится ревью и оставляются замечания.</a:t>
            </a:r>
            <a:endParaRPr sz="1300">
              <a:solidFill>
                <a:schemeClr val="dk1"/>
              </a:solidFill>
            </a:endParaRPr>
          </a:p>
        </p:txBody>
      </p:sp>
      <p:pic>
        <p:nvPicPr>
          <p:cNvPr id="378438996" name="Google Shape;278;p33"/>
          <p:cNvPicPr/>
          <p:nvPr/>
        </p:nvPicPr>
        <p:blipFill rotWithShape="1">
          <a:blip r:embed="rId3">
            <a:alphaModFix/>
          </a:blip>
          <a:srcRect l="238" t="0" r="248" b="0"/>
          <a:stretch/>
        </p:blipFill>
        <p:spPr bwMode="auto">
          <a:xfrm>
            <a:off x="450000" y="2305175"/>
            <a:ext cx="3616316" cy="2150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0093084" name="Google Shape;279;p33"/>
          <p:cNvPicPr/>
          <p:nvPr/>
        </p:nvPicPr>
        <p:blipFill rotWithShape="1">
          <a:blip r:embed="rId4">
            <a:alphaModFix/>
          </a:blip>
          <a:srcRect l="22197" t="0" r="0" b="52498"/>
          <a:stretch/>
        </p:blipFill>
        <p:spPr bwMode="auto">
          <a:xfrm flipH="1">
            <a:off x="5827100" y="3118301"/>
            <a:ext cx="3316900" cy="2025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ONLYOFFICE/9.1.0.173</Application>
  <PresentationFormat>On-screen Show (4:3)</PresentationFormat>
  <Paragraphs>0</Paragraphs>
  <Slides>19</Slides>
  <Notes>19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0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/>
</cp:coreProperties>
</file>